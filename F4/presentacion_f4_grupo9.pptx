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b806df151f14884" /><Relationship Type="http://schemas.openxmlformats.org/officeDocument/2006/relationships/extended-properties" Target="/docProps/app.xml" Id="R45234c7df07640d8" /><Relationship Type="http://schemas.openxmlformats.org/officeDocument/2006/relationships/officeDocument" Target="/ppt/presentation.xml" Id="R43c6a88949a945c0" /></Relationships>
</file>

<file path=ppt/presentation.xml><?xml version="1.0" encoding="utf-8"?>
<p:presentation xmlns:p="http://schemas.openxmlformats.org/presentationml/2006/main">
  <p:sldMasterIdLst>
    <p:sldMasterId xmlns:r="http://schemas.openxmlformats.org/officeDocument/2006/relationships" id="2147483648" r:id="Rd752defd37b24b70"/>
  </p:sldMasterIdLst>
  <p:notesMasterIdLst>
    <p:notesMasterId xmlns:r="http://schemas.openxmlformats.org/officeDocument/2006/relationships" r:id="R312393077bf4417d"/>
  </p:notesMasterIdLst>
  <p:sldIdLst>
    <p:sldId xmlns:r="http://schemas.openxmlformats.org/officeDocument/2006/relationships" id="256" r:id="Rc2ffebf808ff4ac5"/>
    <p:sldId xmlns:r="http://schemas.openxmlformats.org/officeDocument/2006/relationships" id="257" r:id="R7f2d411074894e7f"/>
    <p:sldId xmlns:r="http://schemas.openxmlformats.org/officeDocument/2006/relationships" id="258" r:id="R6eaea5ac48f94374"/>
    <p:sldId xmlns:r="http://schemas.openxmlformats.org/officeDocument/2006/relationships" id="259" r:id="R55aa6675601c4d8d"/>
    <p:sldId xmlns:r="http://schemas.openxmlformats.org/officeDocument/2006/relationships" id="260" r:id="Ra4db219e04324ab1"/>
    <p:sldId xmlns:r="http://schemas.openxmlformats.org/officeDocument/2006/relationships" id="261" r:id="Rfe928034f8c44ea5"/>
    <p:sldId xmlns:r="http://schemas.openxmlformats.org/officeDocument/2006/relationships" id="262" r:id="R2450eb9adc1b48b8"/>
    <p:sldId xmlns:r="http://schemas.openxmlformats.org/officeDocument/2006/relationships" id="263" r:id="R046840983d694bf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fc620a06a6141a4" /><Relationship Type="http://schemas.openxmlformats.org/officeDocument/2006/relationships/slideMaster" Target="/ppt/slideMasters/slideMaster1.xml" Id="Rd752defd37b24b70" /><Relationship Type="http://schemas.openxmlformats.org/officeDocument/2006/relationships/notesMaster" Target="/ppt/notesMasters/notesMaster1.xml" Id="R312393077bf4417d" /><Relationship Type="http://schemas.openxmlformats.org/officeDocument/2006/relationships/presProps" Target="/ppt/presProps.xml" Id="R6e77abd857754734" /><Relationship Type="http://schemas.openxmlformats.org/officeDocument/2006/relationships/tableStyles" Target="/ppt/tableStyles.xml" Id="Rae02a3bc7960474c" /><Relationship Type="http://schemas.openxmlformats.org/officeDocument/2006/relationships/slide" Target="/ppt/slides/slide1.xml" Id="Rc2ffebf808ff4ac5" /><Relationship Type="http://schemas.openxmlformats.org/officeDocument/2006/relationships/slide" Target="/ppt/slides/slide2.xml" Id="R7f2d411074894e7f" /><Relationship Type="http://schemas.openxmlformats.org/officeDocument/2006/relationships/slide" Target="/ppt/slides/slide3.xml" Id="R6eaea5ac48f94374" /><Relationship Type="http://schemas.openxmlformats.org/officeDocument/2006/relationships/slide" Target="/ppt/slides/slide4.xml" Id="R55aa6675601c4d8d" /><Relationship Type="http://schemas.openxmlformats.org/officeDocument/2006/relationships/slide" Target="/ppt/slides/slide5.xml" Id="Ra4db219e04324ab1" /><Relationship Type="http://schemas.openxmlformats.org/officeDocument/2006/relationships/slide" Target="/ppt/slides/slide6.xml" Id="Rfe928034f8c44ea5" /><Relationship Type="http://schemas.openxmlformats.org/officeDocument/2006/relationships/slide" Target="/ppt/slides/slide7.xml" Id="R2450eb9adc1b48b8" /><Relationship Type="http://schemas.openxmlformats.org/officeDocument/2006/relationships/slide" Target="/ppt/slides/slide8.xml" Id="R046840983d694bf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f35d4275b7c471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8b33711aae8401c" /><Relationship Type="http://schemas.openxmlformats.org/officeDocument/2006/relationships/notesMaster" Target="/ppt/notesMasters/notesMaster1.xml" Id="R2d3411ee8b54410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937a9a402734fc7" /><Relationship Type="http://schemas.openxmlformats.org/officeDocument/2006/relationships/notesMaster" Target="/ppt/notesMasters/notesMaster1.xml" Id="Rd23924f0e4ad4959" /></Relationships>
</file>

<file path=ppt/notesSlides/_rels/notesSlide3.xml.rels>&#65279;<?xml version="1.0" encoding="utf-8"?><Relationships xmlns="http://schemas.openxmlformats.org/package/2006/relationships"><Relationship Type="http://schemas.openxmlformats.org/officeDocument/2006/relationships/slide" Target="/ppt/slides/slide3.xml" Id="R0bea2dee864b47d5" /><Relationship Type="http://schemas.openxmlformats.org/officeDocument/2006/relationships/notesMaster" Target="/ppt/notesMasters/notesMaster1.xml" Id="R96ac82e5a3144025" /></Relationships>
</file>

<file path=ppt/notesSlides/_rels/notesSlide4.xml.rels>&#65279;<?xml version="1.0" encoding="utf-8"?><Relationships xmlns="http://schemas.openxmlformats.org/package/2006/relationships"><Relationship Type="http://schemas.openxmlformats.org/officeDocument/2006/relationships/slide" Target="/ppt/slides/slide4.xml" Id="R5cf6774a81594197" /><Relationship Type="http://schemas.openxmlformats.org/officeDocument/2006/relationships/notesMaster" Target="/ppt/notesMasters/notesMaster1.xml" Id="Rf8f1cf24810f47cf" /></Relationships>
</file>

<file path=ppt/notesSlides/_rels/notesSlide5.xml.rels>&#65279;<?xml version="1.0" encoding="utf-8"?><Relationships xmlns="http://schemas.openxmlformats.org/package/2006/relationships"><Relationship Type="http://schemas.openxmlformats.org/officeDocument/2006/relationships/slide" Target="/ppt/slides/slide5.xml" Id="R1ffd82a266534452" /><Relationship Type="http://schemas.openxmlformats.org/officeDocument/2006/relationships/notesMaster" Target="/ppt/notesMasters/notesMaster1.xml" Id="R667fc092f1f541cb" /></Relationships>
</file>

<file path=ppt/notesSlides/_rels/notesSlide6.xml.rels>&#65279;<?xml version="1.0" encoding="utf-8"?><Relationships xmlns="http://schemas.openxmlformats.org/package/2006/relationships"><Relationship Type="http://schemas.openxmlformats.org/officeDocument/2006/relationships/slide" Target="/ppt/slides/slide6.xml" Id="Ra182e6441a014826" /><Relationship Type="http://schemas.openxmlformats.org/officeDocument/2006/relationships/notesMaster" Target="/ppt/notesMasters/notesMaster1.xml" Id="Rd881167be09a4148" /></Relationships>
</file>

<file path=ppt/notesSlides/_rels/notesSlide7.xml.rels>&#65279;<?xml version="1.0" encoding="utf-8"?><Relationships xmlns="http://schemas.openxmlformats.org/package/2006/relationships"><Relationship Type="http://schemas.openxmlformats.org/officeDocument/2006/relationships/slide" Target="/ppt/slides/slide7.xml" Id="R36da1e842a594c45" /><Relationship Type="http://schemas.openxmlformats.org/officeDocument/2006/relationships/notesMaster" Target="/ppt/notesMasters/notesMaster1.xml" Id="R4f9470daf9024264" /></Relationships>
</file>

<file path=ppt/notesSlides/_rels/notesSlide8.xml.rels>&#65279;<?xml version="1.0" encoding="utf-8"?><Relationships xmlns="http://schemas.openxmlformats.org/package/2006/relationships"><Relationship Type="http://schemas.openxmlformats.org/officeDocument/2006/relationships/slide" Target="/ppt/slides/slide8.xml" Id="Re72fe41c81114088" /><Relationship Type="http://schemas.openxmlformats.org/officeDocument/2006/relationships/notesMaster" Target="/ppt/notesMasters/notesMaster1.xml" Id="Rced6dfa88902419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Buenos días. En esta presentación se resume el proyecto desarrollado durante las cuatro fases del curso. El trabajo estudia cómo cambian las fallas de maquinaria según las condiciones operacionales registradas en el conjunto AI4I 2020. El análisis final se mantiene en un nivel descriptivo. Por eso, los resultados permiten reconocer asociaciones y perfiles de mayor riesgo dentro de estos datos, pero todavía no corresponden a predicciones para una máquina real. La presentación mostrará primero el problema y la continuidad del proyecto, luego los resultados gráficos y, al final, las conclusiones y límites.</a:t>
            </a:r>
          </a:p>
          <a:p xmlns:a="http://schemas.openxmlformats.org/drawingml/2006/main">
            <a:r>
              <a:t/>
            </a:r>
          </a:p>
          <a:p xmlns:a="http://schemas.openxmlformats.org/drawingml/2006/main">
            <a:r>
              <a:t>Fuentes para esta diapositiva:</a:t>
            </a:r>
          </a:p>
          <a:p xmlns:a="http://schemas.openxmlformats.org/drawingml/2006/main">
            <a:r>
              <a:t>Matzka, S. (2020). AI4I 2020 Predictive Maintenance Dataset. UCI Machine Learning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pregunta central busca reconocer qué condiciones operacionales aparecen con mayor frecuencia junto con las fallas. El conjunto contiene diez mil registros y catorce variables originales. La variable objetivo es Machine failure. Solo 339 registros presentan una falla, lo que equivale a una tasa global de 3,39 por ciento. Este desbalance es relevante porque una tasa alta dentro de un grupo pequeño debe interpretarse junto con su cantidad de casos. También se considera la observación del profesor: AI4I 2020 es sintético y llega prácticamente limpio. Por esta razón, el proyecto documenta esa limitación y evita presentar los resultados como evidencia directa de una planta real.</a:t>
            </a:r>
          </a:p>
          <a:p xmlns:a="http://schemas.openxmlformats.org/drawingml/2006/main">
            <a:r>
              <a:t/>
            </a:r>
          </a:p>
          <a:p xmlns:a="http://schemas.openxmlformats.org/drawingml/2006/main">
            <a:r>
              <a:t>Fuentes para esta diapositiva:</a:t>
            </a:r>
          </a:p>
          <a:p xmlns:a="http://schemas.openxmlformats.org/drawingml/2006/main">
            <a:r>
              <a:t>Matzka, S. (2020). AI4I 2020 Predictive Maintenance Dataset.</a:t>
            </a:r>
          </a:p>
          <a:p xmlns:a="http://schemas.openxmlformats.org/drawingml/2006/main">
            <a:r>
              <a:t>Universidad Andrés Bello. (2026). Guía de apoyo Sumativa 3, Fase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proyecto mantiene una continuidad concreta entre las fases. En la Fase 1 se definió el problema, los objetivos y el entorno. En la Fase 2 se documentó el conjunto, se separaron entrenamiento y prueba y se prepararon las variables. En la Fase 3 ese procesamiento se convirtió en módulos y clases reutilizables, con pruebas normales, casos límite, excepciones y mediciones de eficiencia. Finalmente, la Fase 4 integra todo lo anterior. Para que los gráficos sean comprensibles, se revierten las variables escaladas a sus unidades originales, como revoluciones por minuto, newton metro y minutos de desgaste. Esa reversión solo se usa para interpretar y comunicar.</a:t>
            </a:r>
          </a:p>
          <a:p xmlns:a="http://schemas.openxmlformats.org/drawingml/2006/main">
            <a:r>
              <a:t/>
            </a:r>
          </a:p>
          <a:p xmlns:a="http://schemas.openxmlformats.org/drawingml/2006/main">
            <a:r>
              <a:t>Fuentes para esta diapositiva:</a:t>
            </a:r>
          </a:p>
          <a:p xmlns:a="http://schemas.openxmlformats.org/drawingml/2006/main">
            <a:r>
              <a:t>Repositorio del proyecto Grupo 9, carpetas F1, F2, F3 y F4.</a:t>
            </a:r>
          </a:p>
          <a:p xmlns:a="http://schemas.openxmlformats.org/drawingml/2006/main">
            <a:r>
              <a:t>Universidad Andrés Bello. (2026). MCDI500 Apunte Fase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primera figura compara la tasa de falla entre los tipos de producto. El tipo L alcanza 3,92 por ciento, mientras M llega a 2,77 por ciento y H a 2,09 por ciento. Este resultado ayuda a responder el objetivo de identificar diferencias entre grupos. Sin embargo, el tipo L también es el más frecuente, con seis mil registros. Por eso se muestran porcentajes y cantidades, y se evita afirmar una relación causal. La figura cumple una función de contexto: muestra que la categoría Type aporta una diferencia, pero todavía no explica qué condiciones operacionales acompañan las fallas.</a:t>
            </a:r>
          </a:p>
          <a:p xmlns:a="http://schemas.openxmlformats.org/drawingml/2006/main">
            <a:r>
              <a:t/>
            </a:r>
          </a:p>
          <a:p xmlns:a="http://schemas.openxmlformats.org/drawingml/2006/main">
            <a:r>
              <a:t>Fuentes para esta diapositiva:</a:t>
            </a:r>
          </a:p>
          <a:p xmlns:a="http://schemas.openxmlformats.org/drawingml/2006/main">
            <a:r>
              <a:t>Elaboración propia a partir de Matzka (2020).</a:t>
            </a:r>
          </a:p>
          <a:p xmlns:a="http://schemas.openxmlformats.org/drawingml/2006/main">
            <a:r>
              <a:t>Archivo: F4/docs/tasas_tipo_producto.csv.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segunda figura divide cada variable operacional en cinco grupos de tamaño parecido. El primer quintil de velocidad de rotación presenta una tasa de falla de 12,16 por ciento. En torque, el quinto quintil alcanza 11,50 por ciento, y en desgaste de herramienta el quinto quintil llega a 8,14 por ciento. La temperatura del aire también aumenta en el grupo superior, aunque con una diferencia menor. La temperatura del proceso no muestra una tendencia ordenada. Los quintiles facilitan una comparación descriptiva, pero dependen de los cortes del conjunto y no representan límites universales para una máquina industrial.</a:t>
            </a:r>
          </a:p>
          <a:p xmlns:a="http://schemas.openxmlformats.org/drawingml/2006/main">
            <a:r>
              <a:t/>
            </a:r>
          </a:p>
          <a:p xmlns:a="http://schemas.openxmlformats.org/drawingml/2006/main">
            <a:r>
              <a:t>Fuentes para esta diapositiva:</a:t>
            </a:r>
          </a:p>
          <a:p xmlns:a="http://schemas.openxmlformats.org/drawingml/2006/main">
            <a:r>
              <a:t>Elaboración propia a partir de Matzka (2020).</a:t>
            </a:r>
          </a:p>
          <a:p xmlns:a="http://schemas.openxmlformats.org/drawingml/2006/main">
            <a:r>
              <a:t>Archivo: F4/docs/tasas_quintiles.csv.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Luego se combinaron las tres condiciones que mostraron los contrastes más claros: velocidad baja, torque alto y desgaste alto. En el conjunto completo, 353 registros cumplen las tres condiciones y 101 de ellos presentan una falla. Esto corresponde a una tasa de 28,61 por ciento, muy superior al promedio global de 3,39 por ciento. La combinación permite definir un perfil descriptivo útil para priorizar observaciones. Aun así, no se interpreta como una regla causal ni como un sistema de alarma listo para producción. Los cortes se calcularon con el conjunto de entrenamiento para evitar utilizar la prueba al definir el perfil.</a:t>
            </a:r>
          </a:p>
          <a:p xmlns:a="http://schemas.openxmlformats.org/drawingml/2006/main">
            <a:r>
              <a:t/>
            </a:r>
          </a:p>
          <a:p xmlns:a="http://schemas.openxmlformats.org/drawingml/2006/main">
            <a:r>
              <a:t>Fuentes para esta diapositiva:</a:t>
            </a:r>
          </a:p>
          <a:p xmlns:a="http://schemas.openxmlformats.org/drawingml/2006/main">
            <a:r>
              <a:t>Elaboración propia a partir de Matzka (2020).</a:t>
            </a:r>
          </a:p>
          <a:p xmlns:a="http://schemas.openxmlformats.org/drawingml/2006/main">
            <a:r>
              <a:t>Archivo: F4/docs/interaccion_operacional.csv.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comprobar que el perfil no dependiera solo de una parte de los datos, se aplicaron los mismos cortes a entrenamiento y prueba. En entrenamiento, la tasa dentro del perfil fue 28,94 por ciento, frente a 2,48 por ciento en el resto. En prueba, alcanzó 27,50 por ciento, frente a 2,40 por ciento. En ambas particiones, el perfil muestra una tasa cercana a doce veces la del resto. Esta consistencia respalda la asociación descriptiva. Sin embargo, no se entrenó un clasificador y no se calcularon métricas como precisión, exhaustividad o área bajo la curva. Por eso, esta validación no debe confundirse con una evaluación predictiva.</a:t>
            </a:r>
          </a:p>
          <a:p xmlns:a="http://schemas.openxmlformats.org/drawingml/2006/main">
            <a:r>
              <a:t/>
            </a:r>
          </a:p>
          <a:p xmlns:a="http://schemas.openxmlformats.org/drawingml/2006/main">
            <a:r>
              <a:t>Fuentes para esta diapositiva:</a:t>
            </a:r>
          </a:p>
          <a:p xmlns:a="http://schemas.openxmlformats.org/drawingml/2006/main">
            <a:r>
              <a:t>Elaboración propia con los conjuntos procesados de la Fase 2.</a:t>
            </a:r>
          </a:p>
          <a:p xmlns:a="http://schemas.openxmlformats.org/drawingml/2006/main">
            <a:r>
              <a:t>Archivo: F4/docs/validacion_perfil.csv.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Como conclusión, el proyecto identifica una asociación clara entre las fallas y la combinación de baja velocidad, torque alto y desgaste alto. El resultado se mantiene en entrenamiento y prueba, lo que mejora su consistencia dentro del conjunto analizado. El principal límite es que AI4I 2020 es sintético y no reproduce toda la complejidad de una operación industrial real. Además, este trabajo no evalúa causalidad ni construye un modelo predictivo. El siguiente paso sería contrastar el perfil con datos reales de mantenimiento. Después, podría entrenarse un modelo supervisado y evaluarse con métricas apropiadas para el desbalance de clases. Con esto cierro la presentación.</a:t>
            </a:r>
          </a:p>
          <a:p xmlns:a="http://schemas.openxmlformats.org/drawingml/2006/main">
            <a:r>
              <a:t/>
            </a:r>
          </a:p>
          <a:p xmlns:a="http://schemas.openxmlformats.org/drawingml/2006/main">
            <a:r>
              <a:t>Fuentes para esta diapositiva:</a:t>
            </a:r>
          </a:p>
          <a:p xmlns:a="http://schemas.openxmlformats.org/drawingml/2006/main">
            <a:r>
              <a:t>Universidad Andrés Bello. (2026). Guía de apoyo Sumativa 3, Fase 4.</a:t>
            </a:r>
          </a:p>
          <a:p xmlns:a="http://schemas.openxmlformats.org/drawingml/2006/main">
            <a:r>
              <a:t>Phan et al. (2022). Machine learning for predictive maintenance: A multiple classifier approach.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20501a655a645f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2c9f9961054b27" /><Relationship Type="http://schemas.openxmlformats.org/officeDocument/2006/relationships/slideLayout" Target="/ppt/slideLayouts/slideLayout1.xml" Id="Ra3d14addf5ce488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3d14addf5ce488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2ffe2c6fab740e1" /><Relationship Type="http://schemas.openxmlformats.org/officeDocument/2006/relationships/notesSlide" Target="/ppt/notesSlides/notesSlide1.xml" Id="Rfcd716b7ceb54ae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7dfd4c098994924" /><Relationship Type="http://schemas.openxmlformats.org/officeDocument/2006/relationships/notesSlide" Target="/ppt/notesSlides/notesSlide2.xml" Id="Rce3201dcd141433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b3bbdada9fd4dc8" /><Relationship Type="http://schemas.openxmlformats.org/officeDocument/2006/relationships/notesSlide" Target="/ppt/notesSlides/notesSlide3.xml" Id="Rda6358604adc452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6e677d209644ac6" /><Relationship Type="http://schemas.openxmlformats.org/officeDocument/2006/relationships/image" Target="/ppt/media/image.png" Id="R2718f04d0ae34fa4" /><Relationship Type="http://schemas.openxmlformats.org/officeDocument/2006/relationships/notesSlide" Target="/ppt/notesSlides/notesSlide4.xml" Id="R49a4e8fc645f4a8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45631926d3b494d" /><Relationship Type="http://schemas.openxmlformats.org/officeDocument/2006/relationships/image" Target="/ppt/media/image2.png" Id="R885a08eecf024de5" /><Relationship Type="http://schemas.openxmlformats.org/officeDocument/2006/relationships/notesSlide" Target="/ppt/notesSlides/notesSlide5.xml" Id="Re71687b830b146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568f3619c00452d" /><Relationship Type="http://schemas.openxmlformats.org/officeDocument/2006/relationships/image" Target="/ppt/media/image3.png" Id="Rebb7659839f64702" /><Relationship Type="http://schemas.openxmlformats.org/officeDocument/2006/relationships/notesSlide" Target="/ppt/notesSlides/notesSlide6.xml" Id="Ra49d8d872fbe43c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f2024c51dbe4d14" /><Relationship Type="http://schemas.openxmlformats.org/officeDocument/2006/relationships/chart" Target="/ppt/slides/charts/chart1.xml" Id="R7dc1b33c5d7e4c6e" /><Relationship Type="http://schemas.openxmlformats.org/officeDocument/2006/relationships/notesSlide" Target="/ppt/notesSlides/notesSlide7.xml" Id="R4cb62a1895044a1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a0b9f041c5c45fa" /><Relationship Type="http://schemas.openxmlformats.org/officeDocument/2006/relationships/notesSlide" Target="/ppt/notesSlides/notesSlide8.xml" Id="Rd6104b7ebd0e4f6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1"/>
        <c:ser>
          <c:idx val="0"/>
          <c:order val="0"/>
          <c:tx>
            <c:v>Tasa de falla</c:v>
          </c:tx>
          <c:spPr>
            <a:solidFill xmlns:a="http://schemas.openxmlformats.org/drawingml/2006/main">
              <a:srgbClr val="5B8DB8"/>
            </a:solidFill>
          </c:spPr>
          <c:dPt>
            <c:idx val="0"/>
            <c:invertIfNegative val="0"/>
            <c:spPr>
              <a:solidFill xmlns:a="http://schemas.openxmlformats.org/drawingml/2006/main">
                <a:srgbClr val="C94C4C"/>
              </a:solidFill>
            </c:spPr>
          </c:dPt>
          <c:dPt>
            <c:idx val="1"/>
            <c:invertIfNegative val="0"/>
            <c:spPr>
              <a:solidFill xmlns:a="http://schemas.openxmlformats.org/drawingml/2006/main">
                <a:srgbClr val="5B8DB8"/>
              </a:solidFill>
            </c:spPr>
          </c:dPt>
          <c:dPt>
            <c:idx val="2"/>
            <c:invertIfNegative val="0"/>
            <c:spPr>
              <a:solidFill xmlns:a="http://schemas.openxmlformats.org/drawingml/2006/main">
                <a:srgbClr val="C94C4C"/>
              </a:solidFill>
            </c:spPr>
          </c:dPt>
          <c:dPt>
            <c:idx val="3"/>
            <c:invertIfNegative val="0"/>
            <c:spPr>
              <a:solidFill xmlns:a="http://schemas.openxmlformats.org/drawingml/2006/main">
                <a:srgbClr val="5B8DB8"/>
              </a:solidFill>
            </c:spPr>
          </c:dPt>
          <c:cat>
            <c:strRef>
              <c:f>'Chart Data'!$A$2:$A$5</c:f>
              <c:strCache>
                <c:ptCount val="4"/>
                <c:pt idx="0">
                  <c:v>Entrenamiento
Perfil</c:v>
                </c:pt>
                <c:pt idx="1">
                  <c:v>Entrenamiento
Resto</c:v>
                </c:pt>
                <c:pt idx="2">
                  <c:v>Prueba
Perfil</c:v>
                </c:pt>
                <c:pt idx="3">
                  <c:v>Prueba
Resto</c:v>
                </c:pt>
              </c:strCache>
            </c:strRef>
          </c:cat>
          <c:val>
            <c:numRef>
              <c:f>'Chart Data'!$B$2:$B$5</c:f>
              <c:numCache>
                <c:formatCode>0.0%</c:formatCode>
                <c:ptCount val="4"/>
                <c:pt idx="0">
                  <c:v>0.2894</c:v>
                </c:pt>
                <c:pt idx="1">
                  <c:v>0.0248</c:v>
                </c:pt>
                <c:pt idx="2">
                  <c:v>0.275</c:v>
                </c:pt>
                <c:pt idx="3">
                  <c:v>0.024</c:v>
                </c:pt>
              </c:numCache>
            </c:numRef>
          </c:val>
        </c:ser>
        <c:dLbls>
          <c:txPr>
            <a:bodyPr xmlns:a="http://schemas.openxmlformats.org/drawingml/2006/main" anchorCtr="1"/>
            <a:lstStyle xmlns:a="http://schemas.openxmlformats.org/drawingml/2006/main"/>
            <a:p xmlns:a="http://schemas.openxmlformats.org/drawingml/2006/main">
              <a:pPr>
                <a:defRPr sz="1200" b="1">
                  <a:solidFill>
                    <a:srgbClr val="17212B"/>
                  </a:solidFill>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DCE1"/>
            </a:solidFill>
            <a:prstDash val="solid"/>
          </a:ln>
        </c:spPr>
        <c:txPr>
          <a:bodyPr xmlns:a="http://schemas.openxmlformats.org/drawingml/2006/main" anchorCtr="1"/>
          <a:lstStyle xmlns:a="http://schemas.openxmlformats.org/drawingml/2006/main"/>
          <a:p xmlns:a="http://schemas.openxmlformats.org/drawingml/2006/main">
            <a:pPr>
              <a:defRPr sz="1125">
                <a:solidFill>
                  <a:srgbClr val="17212B"/>
                </a:solidFill>
                <a:latin typeface="Arial"/>
                <a:ea typeface="Arial"/>
                <a:cs typeface="Arial"/>
              </a:defRPr>
            </a:pPr>
          </a:p>
        </c:txPr>
        <c:crossAx val="48672768"/>
      </c:catAx>
      <c:valAx>
        <c:axId val="48672768"/>
        <c:scaling>
          <c:orientation val="minMax"/>
          <c:max val="0.35"/>
          <c:min val="0"/>
        </c:scaling>
        <c:delete val="0"/>
        <c:axPos val="l"/>
        <c:majorGridlines>
          <c:spPr>
            <a:ln xmlns:a="http://schemas.openxmlformats.org/drawingml/2006/main" w="9525">
              <a:solidFill>
                <a:srgbClr val="E3E7EA"/>
              </a:solidFill>
              <a:prstDash val="solid"/>
            </a:ln>
          </c:spPr>
        </c:majorGridlines>
        <c:title>
          <c:tx>
            <c:rich>
              <a:bodyPr xmlns:a="http://schemas.openxmlformats.org/drawingml/2006/main"/>
              <a:lstStyle xmlns:a="http://schemas.openxmlformats.org/drawingml/2006/main"/>
              <a:p xmlns:a="http://schemas.openxmlformats.org/drawingml/2006/main">
                <a:r>
                  <a:rPr sz="1125">
                    <a:solidFill>
                      <a:srgbClr val="5B6570"/>
                    </a:solidFill>
                    <a:latin typeface="Arial"/>
                    <a:ea typeface="Arial"/>
                    <a:cs typeface="Arial"/>
                  </a:rPr>
                  <a:t>Tasa de falla</a:t>
                </a:r>
              </a:p>
            </c:rich>
          </c:tx>
          <c:overlay val="0"/>
          <c:txPr>
            <a:bodyPr xmlns:a="http://schemas.openxmlformats.org/drawingml/2006/main" anchorCtr="1"/>
            <a:lstStyle xmlns:a="http://schemas.openxmlformats.org/drawingml/2006/main"/>
            <a:p xmlns:a="http://schemas.openxmlformats.org/drawingml/2006/main">
              <a:pPr>
                <a:defRPr sz="1125">
                  <a:solidFill>
                    <a:srgbClr val="5B6570"/>
                  </a:solidFill>
                  <a:latin typeface="Arial"/>
                  <a:ea typeface="Arial"/>
                  <a:cs typeface="Arial"/>
                </a:defRPr>
              </a:pPr>
            </a:p>
          </c:txPr>
        </c:title>
        <c:numFmt formatCode="0%"/>
        <c:majorTickMark val="none"/>
        <c:minorTickMark val="none"/>
        <c:spPr>
          <a:ln xmlns:a="http://schemas.openxmlformats.org/drawingml/2006/main" w="9525">
            <a:solidFill>
              <a:srgbClr val="D7DCE1"/>
            </a:solidFill>
            <a:prstDash val="solid"/>
          </a:ln>
        </c:spPr>
        <c:txPr>
          <a:bodyPr xmlns:a="http://schemas.openxmlformats.org/drawingml/2006/main" anchorCtr="1"/>
          <a:lstStyle xmlns:a="http://schemas.openxmlformats.org/drawingml/2006/main"/>
          <a:p xmlns:a="http://schemas.openxmlformats.org/drawingml/2006/main">
            <a:pPr>
              <a:defRPr sz="1050">
                <a:solidFill>
                  <a:srgbClr val="5B6570"/>
                </a:solidFill>
                <a:latin typeface="Arial"/>
                <a:ea typeface="Arial"/>
                <a:cs typeface="Arial"/>
              </a:defRPr>
            </a:pPr>
          </a:p>
        </c:txPr>
        <c:crossAx val="48650112"/>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3BC71C1-8341-4B40-B4F2-3978F7DC818C}"/>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5B8DB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09D8C9F-CCA8-491C-8617-AFAA087DBE89}"/>
              </a:ext>
            </a:extLst>
          </p:cNvPr>
          <p:cNvSpPr>
            <a:spLocks xmlns:a="http://schemas.openxmlformats.org/drawingml/2006/main" noGrp="1"/>
          </p:cNvSpPr>
          <p:nvPr/>
        </p:nvSpPr>
        <p:spPr>
          <a:xfrm xmlns:a="http://schemas.openxmlformats.org/drawingml/2006/main">
            <a:off x="742950" y="1200150"/>
            <a:ext cx="857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356A96"/>
                </a:solidFill>
                <a:latin typeface="Arial"/>
                <a:ea typeface="Arial"/>
                <a:cs typeface="Arial"/>
              </a:defRPr>
            </a:pPr>
            <a:r>
              <a:rPr sz="1650" b="1">
                <a:solidFill>
                  <a:srgbClr val="356A96"/>
                </a:solidFill>
                <a:latin typeface="Arial"/>
                <a:ea typeface="Arial"/>
                <a:cs typeface="Arial"/>
              </a:rPr>
              <a:t>Proyecto final integrador</a:t>
            </a:r>
          </a:p>
        </p:txBody>
      </p:sp>
      <p:sp>
        <p:nvSpPr>
          <p:cNvPr id="3" name="">
            <a:extLst xmlns:a="http://schemas.openxmlformats.org/drawingml/2006/main">
              <a:ext uri="{FF2B5EF4-FFF2-40B4-BE49-F238E27FC236}">
                <a16:creationId xmlns:a16="http://schemas.microsoft.com/office/drawing/2014/main" id="{FD50B361-2ED5-4BE6-8A64-3B90E471798E}"/>
              </a:ext>
            </a:extLst>
          </p:cNvPr>
          <p:cNvSpPr>
            <a:spLocks xmlns:a="http://schemas.openxmlformats.org/drawingml/2006/main" noGrp="1"/>
          </p:cNvSpPr>
          <p:nvPr/>
        </p:nvSpPr>
        <p:spPr>
          <a:xfrm xmlns:a="http://schemas.openxmlformats.org/drawingml/2006/main">
            <a:off x="742950" y="1857375"/>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75" b="1">
                <a:solidFill>
                  <a:srgbClr val="17212B"/>
                </a:solidFill>
                <a:latin typeface="Arial"/>
                <a:ea typeface="Arial"/>
                <a:cs typeface="Arial"/>
              </a:defRPr>
            </a:pPr>
            <a:r>
              <a:rPr sz="3375" b="1">
                <a:solidFill>
                  <a:srgbClr val="17212B"/>
                </a:solidFill>
                <a:latin typeface="Arial"/>
                <a:ea typeface="Arial"/>
                <a:cs typeface="Arial"/>
              </a:rPr>
              <a:t>Condiciones operacionales asociadas a fallas en maquinaria</a:t>
            </a:r>
          </a:p>
        </p:txBody>
      </p:sp>
      <p:sp>
        <p:nvSpPr>
          <p:cNvPr id="4" name="">
            <a:extLst xmlns:a="http://schemas.openxmlformats.org/drawingml/2006/main">
              <a:ext uri="{FF2B5EF4-FFF2-40B4-BE49-F238E27FC236}">
                <a16:creationId xmlns:a16="http://schemas.microsoft.com/office/drawing/2014/main" id="{780BDF26-5B1D-4A6C-AECE-BEC0CEB33E3B}"/>
              </a:ext>
            </a:extLst>
          </p:cNvPr>
          <p:cNvSpPr>
            <a:spLocks xmlns:a="http://schemas.openxmlformats.org/drawingml/2006/main" noGrp="1"/>
          </p:cNvSpPr>
          <p:nvPr/>
        </p:nvSpPr>
        <p:spPr>
          <a:xfrm xmlns:a="http://schemas.openxmlformats.org/drawingml/2006/main">
            <a:off x="781050" y="3429000"/>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5B6570"/>
                </a:solidFill>
                <a:latin typeface="Arial"/>
                <a:ea typeface="Arial"/>
                <a:cs typeface="Arial"/>
              </a:defRPr>
            </a:pPr>
            <a:r>
              <a:rPr sz="1875" b="0">
                <a:solidFill>
                  <a:srgbClr val="5B6570"/>
                </a:solidFill>
                <a:latin typeface="Arial"/>
                <a:ea typeface="Arial"/>
                <a:cs typeface="Arial"/>
              </a:rPr>
              <a:t>Análisis descriptivo del conjunto AI4I 2020</a:t>
            </a:r>
          </a:p>
        </p:txBody>
      </p:sp>
      <p:sp>
        <p:nvSpPr>
          <p:cNvPr id="5" name="">
            <a:extLst xmlns:a="http://schemas.openxmlformats.org/drawingml/2006/main">
              <a:ext uri="{FF2B5EF4-FFF2-40B4-BE49-F238E27FC236}">
                <a16:creationId xmlns:a16="http://schemas.microsoft.com/office/drawing/2014/main" id="{175572DC-FA06-4390-865D-E4BB0EF584AD}"/>
              </a:ext>
            </a:extLst>
          </p:cNvPr>
          <p:cNvSpPr>
            <a:spLocks xmlns:a="http://schemas.openxmlformats.org/drawingml/2006/main" noGrp="1"/>
          </p:cNvSpPr>
          <p:nvPr/>
        </p:nvSpPr>
        <p:spPr>
          <a:xfrm xmlns:a="http://schemas.openxmlformats.org/drawingml/2006/main">
            <a:off x="781050" y="4171950"/>
            <a:ext cx="1428750" cy="47625"/>
          </a:xfrm>
          <a:prstGeom xmlns:a="http://schemas.openxmlformats.org/drawingml/2006/main" prst="rect">
            <a:avLst/>
          </a:prstGeom>
          <a:solidFill xmlns:a="http://schemas.openxmlformats.org/drawingml/2006/main">
            <a:srgbClr val="C94C4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AF7F77C-02B9-424C-A940-BD10A11AF760}"/>
              </a:ext>
            </a:extLst>
          </p:cNvPr>
          <p:cNvSpPr>
            <a:spLocks xmlns:a="http://schemas.openxmlformats.org/drawingml/2006/main" noGrp="1"/>
          </p:cNvSpPr>
          <p:nvPr/>
        </p:nvSpPr>
        <p:spPr>
          <a:xfrm xmlns:a="http://schemas.openxmlformats.org/drawingml/2006/main">
            <a:off x="781050" y="4495800"/>
            <a:ext cx="7810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17212B"/>
                </a:solidFill>
                <a:latin typeface="Arial"/>
                <a:ea typeface="Arial"/>
                <a:cs typeface="Arial"/>
              </a:defRPr>
            </a:pPr>
            <a:r>
              <a:rPr sz="1425" b="0">
                <a:solidFill>
                  <a:srgbClr val="17212B"/>
                </a:solidFill>
                <a:latin typeface="Arial"/>
                <a:ea typeface="Arial"/>
                <a:cs typeface="Arial"/>
              </a:rPr>
              <a:t>Alexander Sepúlveda Ormazábal</a:t>
            </a:r>
          </a:p>
          <a:p xmlns:a="http://schemas.openxmlformats.org/drawingml/2006/main">
            <a:pPr algn="l">
              <a:defRPr sz="1425" b="0">
                <a:solidFill>
                  <a:srgbClr val="17212B"/>
                </a:solidFill>
                <a:latin typeface="Arial"/>
                <a:ea typeface="Arial"/>
                <a:cs typeface="Arial"/>
              </a:defRPr>
            </a:pPr>
            <a:r>
              <a:rPr sz="1425" b="0">
                <a:solidFill>
                  <a:srgbClr val="17212B"/>
                </a:solidFill>
                <a:latin typeface="Arial"/>
                <a:ea typeface="Arial"/>
                <a:cs typeface="Arial"/>
              </a:rPr>
              <a:t>Programación para la Ciencia de Datos · MCDI500</a:t>
            </a:r>
          </a:p>
          <a:p xmlns:a="http://schemas.openxmlformats.org/drawingml/2006/main">
            <a:pPr algn="l">
              <a:defRPr sz="1425" b="0">
                <a:solidFill>
                  <a:srgbClr val="17212B"/>
                </a:solidFill>
                <a:latin typeface="Arial"/>
                <a:ea typeface="Arial"/>
                <a:cs typeface="Arial"/>
              </a:defRPr>
            </a:pPr>
            <a:r>
              <a:rPr sz="1425" b="0">
                <a:solidFill>
                  <a:srgbClr val="17212B"/>
                </a:solidFill>
                <a:latin typeface="Arial"/>
                <a:ea typeface="Arial"/>
                <a:cs typeface="Arial"/>
              </a:rPr>
              <a:t>Grupo 9 · 2026</a:t>
            </a:r>
          </a:p>
        </p:txBody>
      </p:sp>
      <p:sp>
        <p:nvSpPr>
          <p:cNvPr id="7" name="">
            <a:extLst xmlns:a="http://schemas.openxmlformats.org/drawingml/2006/main">
              <a:ext uri="{FF2B5EF4-FFF2-40B4-BE49-F238E27FC236}">
                <a16:creationId xmlns:a16="http://schemas.microsoft.com/office/drawing/2014/main" id="{7351F4AA-F373-4045-B63B-80CEC6D9E616}"/>
              </a:ext>
            </a:extLst>
          </p:cNvPr>
          <p:cNvSpPr>
            <a:spLocks xmlns:a="http://schemas.openxmlformats.org/drawingml/2006/main" noGrp="1"/>
          </p:cNvSpPr>
          <p:nvPr/>
        </p:nvSpPr>
        <p:spPr>
          <a:xfrm xmlns:a="http://schemas.openxmlformats.org/drawingml/2006/main">
            <a:off x="10001250" y="5715000"/>
            <a:ext cx="142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950" b="1">
                <a:solidFill>
                  <a:srgbClr val="356A96"/>
                </a:solidFill>
                <a:latin typeface="Arial"/>
                <a:ea typeface="Arial"/>
                <a:cs typeface="Arial"/>
              </a:defRPr>
            </a:pPr>
            <a:r>
              <a:rPr sz="1950" b="1">
                <a:solidFill>
                  <a:srgbClr val="356A96"/>
                </a:solidFill>
                <a:latin typeface="Arial"/>
                <a:ea typeface="Arial"/>
                <a:cs typeface="Arial"/>
              </a:rPr>
              <a:t>Fase 4</a:t>
            </a:r>
          </a:p>
        </p:txBody>
      </p:sp>
    </p:spTree>
    <p:extLst>
      <p:ext uri="{BB962C8B-B14F-4D97-AF65-F5344CB8AC3E}">
        <p14:creationId xmlns:p14="http://schemas.microsoft.com/office/powerpoint/2010/main" val="48127745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40A214B-139E-489D-8DB2-330C791B738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5B8DB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8120BDF-C2C5-4FD2-9893-2B1E96F00E56}"/>
              </a:ext>
            </a:extLst>
          </p:cNvPr>
          <p:cNvSpPr>
            <a:spLocks xmlns:a="http://schemas.openxmlformats.org/drawingml/2006/main" noGrp="1"/>
          </p:cNvSpPr>
          <p:nvPr/>
        </p:nvSpPr>
        <p:spPr>
          <a:xfrm xmlns:a="http://schemas.openxmlformats.org/drawingml/2006/main">
            <a:off x="552450" y="3429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12B"/>
                </a:solidFill>
                <a:latin typeface="Arial"/>
                <a:ea typeface="Arial"/>
                <a:cs typeface="Arial"/>
              </a:defRPr>
            </a:pPr>
            <a:r>
              <a:rPr sz="2550" b="1">
                <a:solidFill>
                  <a:srgbClr val="17212B"/>
                </a:solidFill>
                <a:latin typeface="Arial"/>
                <a:ea typeface="Arial"/>
                <a:cs typeface="Arial"/>
              </a:rPr>
              <a:t>Problema y datos analizados</a:t>
            </a:r>
          </a:p>
        </p:txBody>
      </p:sp>
      <p:sp>
        <p:nvSpPr>
          <p:cNvPr id="3" name="">
            <a:extLst xmlns:a="http://schemas.openxmlformats.org/drawingml/2006/main">
              <a:ext uri="{FF2B5EF4-FFF2-40B4-BE49-F238E27FC236}">
                <a16:creationId xmlns:a16="http://schemas.microsoft.com/office/drawing/2014/main" id="{1FA29806-A059-499A-9EE2-8ABD2DCC8A8B}"/>
              </a:ext>
            </a:extLst>
          </p:cNvPr>
          <p:cNvSpPr>
            <a:spLocks xmlns:a="http://schemas.openxmlformats.org/drawingml/2006/main" noGrp="1"/>
          </p:cNvSpPr>
          <p:nvPr/>
        </p:nvSpPr>
        <p:spPr>
          <a:xfrm xmlns:a="http://schemas.openxmlformats.org/drawingml/2006/main">
            <a:off x="11334750" y="63055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b="0">
                <a:solidFill>
                  <a:srgbClr val="5B6570"/>
                </a:solidFill>
                <a:latin typeface="Arial"/>
                <a:ea typeface="Arial"/>
                <a:cs typeface="Arial"/>
              </a:defRPr>
            </a:pPr>
            <a:r>
              <a:rPr sz="1050" b="0">
                <a:solidFill>
                  <a:srgbClr val="5B6570"/>
                </a:solidFill>
                <a:latin typeface="Arial"/>
                <a:ea typeface="Arial"/>
                <a:cs typeface="Arial"/>
              </a:rPr>
              <a:t>2</a:t>
            </a:r>
          </a:p>
        </p:txBody>
      </p:sp>
      <p:sp>
        <p:nvSpPr>
          <p:cNvPr id="4" name="">
            <a:extLst xmlns:a="http://schemas.openxmlformats.org/drawingml/2006/main">
              <a:ext uri="{FF2B5EF4-FFF2-40B4-BE49-F238E27FC236}">
                <a16:creationId xmlns:a16="http://schemas.microsoft.com/office/drawing/2014/main" id="{55F8128C-DF6B-499B-B224-C4430784F5B6}"/>
              </a:ext>
            </a:extLst>
          </p:cNvPr>
          <p:cNvSpPr>
            <a:spLocks xmlns:a="http://schemas.openxmlformats.org/drawingml/2006/main" noGrp="1"/>
          </p:cNvSpPr>
          <p:nvPr/>
        </p:nvSpPr>
        <p:spPr>
          <a:xfrm xmlns:a="http://schemas.openxmlformats.org/drawingml/2006/main">
            <a:off x="666750" y="1285875"/>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356A96"/>
                </a:solidFill>
                <a:latin typeface="Arial"/>
                <a:ea typeface="Arial"/>
                <a:cs typeface="Arial"/>
              </a:defRPr>
            </a:pPr>
            <a:r>
              <a:rPr sz="1350" b="1">
                <a:solidFill>
                  <a:srgbClr val="356A96"/>
                </a:solidFill>
                <a:latin typeface="Arial"/>
                <a:ea typeface="Arial"/>
                <a:cs typeface="Arial"/>
              </a:rPr>
              <a:t>Pregunta que orienta el proyecto</a:t>
            </a:r>
          </a:p>
        </p:txBody>
      </p:sp>
      <p:sp>
        <p:nvSpPr>
          <p:cNvPr id="5" name="">
            <a:extLst xmlns:a="http://schemas.openxmlformats.org/drawingml/2006/main">
              <a:ext uri="{FF2B5EF4-FFF2-40B4-BE49-F238E27FC236}">
                <a16:creationId xmlns:a16="http://schemas.microsoft.com/office/drawing/2014/main" id="{F2F2D68E-D02F-40D9-AD83-BF30856BCD5D}"/>
              </a:ext>
            </a:extLst>
          </p:cNvPr>
          <p:cNvSpPr>
            <a:spLocks xmlns:a="http://schemas.openxmlformats.org/drawingml/2006/main" noGrp="1"/>
          </p:cNvSpPr>
          <p:nvPr/>
        </p:nvSpPr>
        <p:spPr>
          <a:xfrm xmlns:a="http://schemas.openxmlformats.org/drawingml/2006/main">
            <a:off x="666750" y="1733550"/>
            <a:ext cx="4619625"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17212B"/>
                </a:solidFill>
                <a:latin typeface="Arial"/>
                <a:ea typeface="Arial"/>
                <a:cs typeface="Arial"/>
              </a:defRPr>
            </a:pPr>
            <a:r>
              <a:rPr sz="2325" b="1">
                <a:solidFill>
                  <a:srgbClr val="17212B"/>
                </a:solidFill>
                <a:latin typeface="Arial"/>
                <a:ea typeface="Arial"/>
                <a:cs typeface="Arial"/>
              </a:rPr>
              <a:t>¿Qué condiciones de operación presentan una mayor asociación con la ocurrencia de fallas?</a:t>
            </a:r>
          </a:p>
        </p:txBody>
      </p:sp>
      <p:sp>
        <p:nvSpPr>
          <p:cNvPr id="6" name="">
            <a:extLst xmlns:a="http://schemas.openxmlformats.org/drawingml/2006/main">
              <a:ext uri="{FF2B5EF4-FFF2-40B4-BE49-F238E27FC236}">
                <a16:creationId xmlns:a16="http://schemas.microsoft.com/office/drawing/2014/main" id="{6B2C67D3-C19E-499F-A2B6-743E7E8B6818}"/>
              </a:ext>
            </a:extLst>
          </p:cNvPr>
          <p:cNvSpPr>
            <a:spLocks xmlns:a="http://schemas.openxmlformats.org/drawingml/2006/main" noGrp="1"/>
          </p:cNvSpPr>
          <p:nvPr/>
        </p:nvSpPr>
        <p:spPr>
          <a:xfrm xmlns:a="http://schemas.openxmlformats.org/drawingml/2006/main">
            <a:off x="685800" y="3476625"/>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5B6570"/>
                </a:solidFill>
                <a:latin typeface="Arial"/>
                <a:ea typeface="Arial"/>
                <a:cs typeface="Arial"/>
              </a:defRPr>
            </a:pPr>
            <a:r>
              <a:rPr sz="1500" b="0">
                <a:solidFill>
                  <a:srgbClr val="5B6570"/>
                </a:solidFill>
                <a:latin typeface="Arial"/>
                <a:ea typeface="Arial"/>
                <a:cs typeface="Arial"/>
              </a:rPr>
              <a:t>El conjunto reúne registros sintéticos de maquinaria industrial. Esta condición facilita la reproducibilidad, pero limita la generalización a operaciones reales.</a:t>
            </a:r>
          </a:p>
        </p:txBody>
      </p:sp>
      <p:sp>
        <p:nvSpPr>
          <p:cNvPr id="7" name="">
            <a:extLst xmlns:a="http://schemas.openxmlformats.org/drawingml/2006/main">
              <a:ext uri="{FF2B5EF4-FFF2-40B4-BE49-F238E27FC236}">
                <a16:creationId xmlns:a16="http://schemas.microsoft.com/office/drawing/2014/main" id="{66539F07-7A77-4B48-A696-86A200A63E8D}"/>
              </a:ext>
            </a:extLst>
          </p:cNvPr>
          <p:cNvSpPr>
            <a:spLocks xmlns:a="http://schemas.openxmlformats.org/drawingml/2006/main" noGrp="1"/>
          </p:cNvSpPr>
          <p:nvPr/>
        </p:nvSpPr>
        <p:spPr>
          <a:xfrm xmlns:a="http://schemas.openxmlformats.org/drawingml/2006/main">
            <a:off x="5810250" y="1381125"/>
            <a:ext cx="19050" cy="3476625"/>
          </a:xfrm>
          <a:prstGeom xmlns:a="http://schemas.openxmlformats.org/drawingml/2006/main" prst="rect">
            <a:avLst/>
          </a:prstGeom>
          <a:solidFill xmlns:a="http://schemas.openxmlformats.org/drawingml/2006/main">
            <a:srgbClr val="D7DCE1"/>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47FD8F2-BD65-47AD-BB0A-B5911258FC81}"/>
              </a:ext>
            </a:extLst>
          </p:cNvPr>
          <p:cNvSpPr>
            <a:spLocks xmlns:a="http://schemas.openxmlformats.org/drawingml/2006/main" noGrp="1"/>
          </p:cNvSpPr>
          <p:nvPr/>
        </p:nvSpPr>
        <p:spPr>
          <a:xfrm xmlns:a="http://schemas.openxmlformats.org/drawingml/2006/main">
            <a:off x="6334125" y="1466850"/>
            <a:ext cx="219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600" b="1">
                <a:solidFill>
                  <a:srgbClr val="356A96"/>
                </a:solidFill>
                <a:latin typeface="Arial"/>
                <a:ea typeface="Arial"/>
                <a:cs typeface="Arial"/>
              </a:defRPr>
            </a:pPr>
            <a:r>
              <a:rPr sz="3600" b="1">
                <a:solidFill>
                  <a:srgbClr val="356A96"/>
                </a:solidFill>
                <a:latin typeface="Arial"/>
                <a:ea typeface="Arial"/>
                <a:cs typeface="Arial"/>
              </a:rPr>
              <a:t>10.000</a:t>
            </a:r>
          </a:p>
        </p:txBody>
      </p:sp>
      <p:sp>
        <p:nvSpPr>
          <p:cNvPr id="9" name="">
            <a:extLst xmlns:a="http://schemas.openxmlformats.org/drawingml/2006/main">
              <a:ext uri="{FF2B5EF4-FFF2-40B4-BE49-F238E27FC236}">
                <a16:creationId xmlns:a16="http://schemas.microsoft.com/office/drawing/2014/main" id="{7F1DB110-16E9-4BFF-BC41-D611241024E6}"/>
              </a:ext>
            </a:extLst>
          </p:cNvPr>
          <p:cNvSpPr>
            <a:spLocks xmlns:a="http://schemas.openxmlformats.org/drawingml/2006/main" noGrp="1"/>
          </p:cNvSpPr>
          <p:nvPr/>
        </p:nvSpPr>
        <p:spPr>
          <a:xfrm xmlns:a="http://schemas.openxmlformats.org/drawingml/2006/main">
            <a:off x="6381750" y="21145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5B6570"/>
                </a:solidFill>
                <a:latin typeface="Arial"/>
                <a:ea typeface="Arial"/>
                <a:cs typeface="Arial"/>
              </a:defRPr>
            </a:pPr>
            <a:r>
              <a:rPr sz="1500" b="0">
                <a:solidFill>
                  <a:srgbClr val="5B6570"/>
                </a:solidFill>
                <a:latin typeface="Arial"/>
                <a:ea typeface="Arial"/>
                <a:cs typeface="Arial"/>
              </a:rPr>
              <a:t>registros</a:t>
            </a:r>
          </a:p>
        </p:txBody>
      </p:sp>
      <p:sp>
        <p:nvSpPr>
          <p:cNvPr id="10" name="">
            <a:extLst xmlns:a="http://schemas.openxmlformats.org/drawingml/2006/main">
              <a:ext uri="{FF2B5EF4-FFF2-40B4-BE49-F238E27FC236}">
                <a16:creationId xmlns:a16="http://schemas.microsoft.com/office/drawing/2014/main" id="{7DF1AC4E-C54E-4C33-85F3-65A05E7AFE4A}"/>
              </a:ext>
            </a:extLst>
          </p:cNvPr>
          <p:cNvSpPr>
            <a:spLocks xmlns:a="http://schemas.openxmlformats.org/drawingml/2006/main" noGrp="1"/>
          </p:cNvSpPr>
          <p:nvPr/>
        </p:nvSpPr>
        <p:spPr>
          <a:xfrm xmlns:a="http://schemas.openxmlformats.org/drawingml/2006/main">
            <a:off x="8810625" y="1466850"/>
            <a:ext cx="171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600" b="1">
                <a:solidFill>
                  <a:srgbClr val="356A96"/>
                </a:solidFill>
                <a:latin typeface="Arial"/>
                <a:ea typeface="Arial"/>
                <a:cs typeface="Arial"/>
              </a:defRPr>
            </a:pPr>
            <a:r>
              <a:rPr sz="3600" b="1">
                <a:solidFill>
                  <a:srgbClr val="356A96"/>
                </a:solidFill>
                <a:latin typeface="Arial"/>
                <a:ea typeface="Arial"/>
                <a:cs typeface="Arial"/>
              </a:rPr>
              <a:t>14</a:t>
            </a:r>
          </a:p>
        </p:txBody>
      </p:sp>
      <p:sp>
        <p:nvSpPr>
          <p:cNvPr id="11" name="">
            <a:extLst xmlns:a="http://schemas.openxmlformats.org/drawingml/2006/main">
              <a:ext uri="{FF2B5EF4-FFF2-40B4-BE49-F238E27FC236}">
                <a16:creationId xmlns:a16="http://schemas.microsoft.com/office/drawing/2014/main" id="{E0AF11F0-A556-4ECF-9F7D-57A292303315}"/>
              </a:ext>
            </a:extLst>
          </p:cNvPr>
          <p:cNvSpPr>
            <a:spLocks xmlns:a="http://schemas.openxmlformats.org/drawingml/2006/main" noGrp="1"/>
          </p:cNvSpPr>
          <p:nvPr/>
        </p:nvSpPr>
        <p:spPr>
          <a:xfrm xmlns:a="http://schemas.openxmlformats.org/drawingml/2006/main">
            <a:off x="8858250" y="2114550"/>
            <a:ext cx="2428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5B6570"/>
                </a:solidFill>
                <a:latin typeface="Arial"/>
                <a:ea typeface="Arial"/>
                <a:cs typeface="Arial"/>
              </a:defRPr>
            </a:pPr>
            <a:r>
              <a:rPr sz="1500" b="0">
                <a:solidFill>
                  <a:srgbClr val="5B6570"/>
                </a:solidFill>
                <a:latin typeface="Arial"/>
                <a:ea typeface="Arial"/>
                <a:cs typeface="Arial"/>
              </a:rPr>
              <a:t>variables originales</a:t>
            </a:r>
          </a:p>
        </p:txBody>
      </p:sp>
      <p:sp>
        <p:nvSpPr>
          <p:cNvPr id="12" name="">
            <a:extLst xmlns:a="http://schemas.openxmlformats.org/drawingml/2006/main">
              <a:ext uri="{FF2B5EF4-FFF2-40B4-BE49-F238E27FC236}">
                <a16:creationId xmlns:a16="http://schemas.microsoft.com/office/drawing/2014/main" id="{57375D04-A1D3-4816-A8F5-A831298431A9}"/>
              </a:ext>
            </a:extLst>
          </p:cNvPr>
          <p:cNvSpPr>
            <a:spLocks xmlns:a="http://schemas.openxmlformats.org/drawingml/2006/main" noGrp="1"/>
          </p:cNvSpPr>
          <p:nvPr/>
        </p:nvSpPr>
        <p:spPr>
          <a:xfrm xmlns:a="http://schemas.openxmlformats.org/drawingml/2006/main">
            <a:off x="6286500" y="2714625"/>
            <a:ext cx="4667250" cy="19050"/>
          </a:xfrm>
          <a:prstGeom xmlns:a="http://schemas.openxmlformats.org/drawingml/2006/main" prst="rect">
            <a:avLst/>
          </a:prstGeom>
          <a:solidFill xmlns:a="http://schemas.openxmlformats.org/drawingml/2006/main">
            <a:srgbClr val="D7DCE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8DE2491-ECEB-425B-95A2-B7E02750D2C2}"/>
              </a:ext>
            </a:extLst>
          </p:cNvPr>
          <p:cNvSpPr>
            <a:spLocks xmlns:a="http://schemas.openxmlformats.org/drawingml/2006/main" noGrp="1"/>
          </p:cNvSpPr>
          <p:nvPr/>
        </p:nvSpPr>
        <p:spPr>
          <a:xfrm xmlns:a="http://schemas.openxmlformats.org/drawingml/2006/main">
            <a:off x="6334125" y="3000375"/>
            <a:ext cx="219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600" b="1">
                <a:solidFill>
                  <a:srgbClr val="C94C4C"/>
                </a:solidFill>
                <a:latin typeface="Arial"/>
                <a:ea typeface="Arial"/>
                <a:cs typeface="Arial"/>
              </a:defRPr>
            </a:pPr>
            <a:r>
              <a:rPr sz="3600" b="1">
                <a:solidFill>
                  <a:srgbClr val="C94C4C"/>
                </a:solidFill>
                <a:latin typeface="Arial"/>
                <a:ea typeface="Arial"/>
                <a:cs typeface="Arial"/>
              </a:rPr>
              <a:t>339</a:t>
            </a:r>
          </a:p>
        </p:txBody>
      </p:sp>
      <p:sp>
        <p:nvSpPr>
          <p:cNvPr id="14" name="">
            <a:extLst xmlns:a="http://schemas.openxmlformats.org/drawingml/2006/main">
              <a:ext uri="{FF2B5EF4-FFF2-40B4-BE49-F238E27FC236}">
                <a16:creationId xmlns:a16="http://schemas.microsoft.com/office/drawing/2014/main" id="{7063E3BA-F4F4-4A64-84A1-1A155658E995}"/>
              </a:ext>
            </a:extLst>
          </p:cNvPr>
          <p:cNvSpPr>
            <a:spLocks xmlns:a="http://schemas.openxmlformats.org/drawingml/2006/main" noGrp="1"/>
          </p:cNvSpPr>
          <p:nvPr/>
        </p:nvSpPr>
        <p:spPr>
          <a:xfrm xmlns:a="http://schemas.openxmlformats.org/drawingml/2006/main">
            <a:off x="6381750" y="3648075"/>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5B6570"/>
                </a:solidFill>
                <a:latin typeface="Arial"/>
                <a:ea typeface="Arial"/>
                <a:cs typeface="Arial"/>
              </a:defRPr>
            </a:pPr>
            <a:r>
              <a:rPr sz="1500" b="0">
                <a:solidFill>
                  <a:srgbClr val="5B6570"/>
                </a:solidFill>
                <a:latin typeface="Arial"/>
                <a:ea typeface="Arial"/>
                <a:cs typeface="Arial"/>
              </a:rPr>
              <a:t>registros con falla</a:t>
            </a:r>
          </a:p>
        </p:txBody>
      </p:sp>
      <p:sp>
        <p:nvSpPr>
          <p:cNvPr id="15" name="">
            <a:extLst xmlns:a="http://schemas.openxmlformats.org/drawingml/2006/main">
              <a:ext uri="{FF2B5EF4-FFF2-40B4-BE49-F238E27FC236}">
                <a16:creationId xmlns:a16="http://schemas.microsoft.com/office/drawing/2014/main" id="{790C0631-2C37-4C04-B37B-A618CA45A833}"/>
              </a:ext>
            </a:extLst>
          </p:cNvPr>
          <p:cNvSpPr>
            <a:spLocks xmlns:a="http://schemas.openxmlformats.org/drawingml/2006/main" noGrp="1"/>
          </p:cNvSpPr>
          <p:nvPr/>
        </p:nvSpPr>
        <p:spPr>
          <a:xfrm xmlns:a="http://schemas.openxmlformats.org/drawingml/2006/main">
            <a:off x="8810625" y="30003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600" b="1">
                <a:solidFill>
                  <a:srgbClr val="C94C4C"/>
                </a:solidFill>
                <a:latin typeface="Arial"/>
                <a:ea typeface="Arial"/>
                <a:cs typeface="Arial"/>
              </a:defRPr>
            </a:pPr>
            <a:r>
              <a:rPr sz="3600" b="1">
                <a:solidFill>
                  <a:srgbClr val="C94C4C"/>
                </a:solidFill>
                <a:latin typeface="Arial"/>
                <a:ea typeface="Arial"/>
                <a:cs typeface="Arial"/>
              </a:rPr>
              <a:t>3,39 %</a:t>
            </a:r>
          </a:p>
        </p:txBody>
      </p:sp>
      <p:sp>
        <p:nvSpPr>
          <p:cNvPr id="16" name="">
            <a:extLst xmlns:a="http://schemas.openxmlformats.org/drawingml/2006/main">
              <a:ext uri="{FF2B5EF4-FFF2-40B4-BE49-F238E27FC236}">
                <a16:creationId xmlns:a16="http://schemas.microsoft.com/office/drawing/2014/main" id="{ADADF064-186D-4D65-8B9C-D06D787ECD85}"/>
              </a:ext>
            </a:extLst>
          </p:cNvPr>
          <p:cNvSpPr>
            <a:spLocks xmlns:a="http://schemas.openxmlformats.org/drawingml/2006/main" noGrp="1"/>
          </p:cNvSpPr>
          <p:nvPr/>
        </p:nvSpPr>
        <p:spPr>
          <a:xfrm xmlns:a="http://schemas.openxmlformats.org/drawingml/2006/main">
            <a:off x="8858250" y="3648075"/>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5B6570"/>
                </a:solidFill>
                <a:latin typeface="Arial"/>
                <a:ea typeface="Arial"/>
                <a:cs typeface="Arial"/>
              </a:defRPr>
            </a:pPr>
            <a:r>
              <a:rPr sz="1500" b="0">
                <a:solidFill>
                  <a:srgbClr val="5B6570"/>
                </a:solidFill>
                <a:latin typeface="Arial"/>
                <a:ea typeface="Arial"/>
                <a:cs typeface="Arial"/>
              </a:rPr>
              <a:t>tasa global</a:t>
            </a:r>
          </a:p>
        </p:txBody>
      </p:sp>
      <p:sp>
        <p:nvSpPr>
          <p:cNvPr id="17" name="">
            <a:extLst xmlns:a="http://schemas.openxmlformats.org/drawingml/2006/main">
              <a:ext uri="{FF2B5EF4-FFF2-40B4-BE49-F238E27FC236}">
                <a16:creationId xmlns:a16="http://schemas.microsoft.com/office/drawing/2014/main" id="{9D326F30-BF12-4338-B154-2D72C66BE7F8}"/>
              </a:ext>
            </a:extLst>
          </p:cNvPr>
          <p:cNvSpPr>
            <a:spLocks xmlns:a="http://schemas.openxmlformats.org/drawingml/2006/main" noGrp="1"/>
          </p:cNvSpPr>
          <p:nvPr/>
        </p:nvSpPr>
        <p:spPr>
          <a:xfrm xmlns:a="http://schemas.openxmlformats.org/drawingml/2006/main">
            <a:off x="6334125" y="4410075"/>
            <a:ext cx="457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17212B"/>
                </a:solidFill>
                <a:latin typeface="Arial"/>
                <a:ea typeface="Arial"/>
                <a:cs typeface="Arial"/>
              </a:defRPr>
            </a:pPr>
            <a:r>
              <a:rPr sz="1575" b="1">
                <a:solidFill>
                  <a:srgbClr val="17212B"/>
                </a:solidFill>
                <a:latin typeface="Arial"/>
                <a:ea typeface="Arial"/>
                <a:cs typeface="Arial"/>
              </a:rPr>
              <a:t>Variable objetivo: Machine failure</a:t>
            </a:r>
          </a:p>
        </p:txBody>
      </p:sp>
      <p:sp>
        <p:nvSpPr>
          <p:cNvPr id="18" name="">
            <a:extLst xmlns:a="http://schemas.openxmlformats.org/drawingml/2006/main">
              <a:ext uri="{FF2B5EF4-FFF2-40B4-BE49-F238E27FC236}">
                <a16:creationId xmlns:a16="http://schemas.microsoft.com/office/drawing/2014/main" id="{6C06889E-1DC1-400E-95BC-8F0EAE0B9CAF}"/>
              </a:ext>
            </a:extLst>
          </p:cNvPr>
          <p:cNvSpPr>
            <a:spLocks xmlns:a="http://schemas.openxmlformats.org/drawingml/2006/main" noGrp="1"/>
          </p:cNvSpPr>
          <p:nvPr/>
        </p:nvSpPr>
        <p:spPr>
          <a:xfrm xmlns:a="http://schemas.openxmlformats.org/drawingml/2006/main">
            <a:off x="666750" y="5953125"/>
            <a:ext cx="933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0">
                <a:solidFill>
                  <a:srgbClr val="5B6570"/>
                </a:solidFill>
                <a:latin typeface="Arial"/>
                <a:ea typeface="Arial"/>
                <a:cs typeface="Arial"/>
              </a:defRPr>
            </a:pPr>
            <a:r>
              <a:rPr sz="1050" b="0">
                <a:solidFill>
                  <a:srgbClr val="5B6570"/>
                </a:solidFill>
                <a:latin typeface="Arial"/>
                <a:ea typeface="Arial"/>
                <a:cs typeface="Arial"/>
              </a:rPr>
              <a:t>Fuente: AI4I 2020, UCI Machine Learning Repository.</a:t>
            </a:r>
          </a:p>
        </p:txBody>
      </p:sp>
    </p:spTree>
    <p:extLst>
      <p:ext uri="{BB962C8B-B14F-4D97-AF65-F5344CB8AC3E}">
        <p14:creationId xmlns:p14="http://schemas.microsoft.com/office/powerpoint/2010/main" val="187256032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475794D-3ACF-4D3B-AC14-B8C3A3080F2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5B8DB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56C04CF-9457-4F2B-826C-FB3BF8B4076E}"/>
              </a:ext>
            </a:extLst>
          </p:cNvPr>
          <p:cNvSpPr>
            <a:spLocks xmlns:a="http://schemas.openxmlformats.org/drawingml/2006/main" noGrp="1"/>
          </p:cNvSpPr>
          <p:nvPr/>
        </p:nvSpPr>
        <p:spPr>
          <a:xfrm xmlns:a="http://schemas.openxmlformats.org/drawingml/2006/main">
            <a:off x="552450" y="3429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12B"/>
                </a:solidFill>
                <a:latin typeface="Arial"/>
                <a:ea typeface="Arial"/>
                <a:cs typeface="Arial"/>
              </a:defRPr>
            </a:pPr>
            <a:r>
              <a:rPr sz="2550" b="1">
                <a:solidFill>
                  <a:srgbClr val="17212B"/>
                </a:solidFill>
                <a:latin typeface="Arial"/>
                <a:ea typeface="Arial"/>
                <a:cs typeface="Arial"/>
              </a:rPr>
              <a:t>Continuidad entre las cuatro fases</a:t>
            </a:r>
          </a:p>
        </p:txBody>
      </p:sp>
      <p:sp>
        <p:nvSpPr>
          <p:cNvPr id="3" name="">
            <a:extLst xmlns:a="http://schemas.openxmlformats.org/drawingml/2006/main">
              <a:ext uri="{FF2B5EF4-FFF2-40B4-BE49-F238E27FC236}">
                <a16:creationId xmlns:a16="http://schemas.microsoft.com/office/drawing/2014/main" id="{98671201-6C46-4F79-B987-A17D6D4B46EE}"/>
              </a:ext>
            </a:extLst>
          </p:cNvPr>
          <p:cNvSpPr>
            <a:spLocks xmlns:a="http://schemas.openxmlformats.org/drawingml/2006/main" noGrp="1"/>
          </p:cNvSpPr>
          <p:nvPr/>
        </p:nvSpPr>
        <p:spPr>
          <a:xfrm xmlns:a="http://schemas.openxmlformats.org/drawingml/2006/main">
            <a:off x="571500" y="8382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B6570"/>
                </a:solidFill>
                <a:latin typeface="Arial"/>
                <a:ea typeface="Arial"/>
                <a:cs typeface="Arial"/>
              </a:defRPr>
            </a:pPr>
            <a:r>
              <a:rPr sz="1275" b="0">
                <a:solidFill>
                  <a:srgbClr val="5B6570"/>
                </a:solidFill>
                <a:latin typeface="Arial"/>
                <a:ea typeface="Arial"/>
                <a:cs typeface="Arial"/>
              </a:rPr>
              <a:t>Cada etapa reutiliza resultados ya verificados en la etapa anterior.</a:t>
            </a:r>
          </a:p>
        </p:txBody>
      </p:sp>
      <p:sp>
        <p:nvSpPr>
          <p:cNvPr id="4" name="">
            <a:extLst xmlns:a="http://schemas.openxmlformats.org/drawingml/2006/main">
              <a:ext uri="{FF2B5EF4-FFF2-40B4-BE49-F238E27FC236}">
                <a16:creationId xmlns:a16="http://schemas.microsoft.com/office/drawing/2014/main" id="{C522EE83-870A-4994-9A56-F0D2BCE74BF3}"/>
              </a:ext>
            </a:extLst>
          </p:cNvPr>
          <p:cNvSpPr>
            <a:spLocks xmlns:a="http://schemas.openxmlformats.org/drawingml/2006/main" noGrp="1"/>
          </p:cNvSpPr>
          <p:nvPr/>
        </p:nvSpPr>
        <p:spPr>
          <a:xfrm xmlns:a="http://schemas.openxmlformats.org/drawingml/2006/main">
            <a:off x="11334750" y="63055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b="0">
                <a:solidFill>
                  <a:srgbClr val="5B6570"/>
                </a:solidFill>
                <a:latin typeface="Arial"/>
                <a:ea typeface="Arial"/>
                <a:cs typeface="Arial"/>
              </a:defRPr>
            </a:pPr>
            <a:r>
              <a:rPr sz="1050" b="0">
                <a:solidFill>
                  <a:srgbClr val="5B6570"/>
                </a:solidFill>
                <a:latin typeface="Arial"/>
                <a:ea typeface="Arial"/>
                <a:cs typeface="Arial"/>
              </a:rPr>
              <a:t>3</a:t>
            </a:r>
          </a:p>
        </p:txBody>
      </p:sp>
      <p:sp>
        <p:nvSpPr>
          <p:cNvPr id="5" name="">
            <a:extLst xmlns:a="http://schemas.openxmlformats.org/drawingml/2006/main">
              <a:ext uri="{FF2B5EF4-FFF2-40B4-BE49-F238E27FC236}">
                <a16:creationId xmlns:a16="http://schemas.microsoft.com/office/drawing/2014/main" id="{9A1D888A-1E4D-4D70-8C95-60112C56A6B7}"/>
              </a:ext>
            </a:extLst>
          </p:cNvPr>
          <p:cNvSpPr>
            <a:spLocks xmlns:a="http://schemas.openxmlformats.org/drawingml/2006/main" noGrp="1"/>
          </p:cNvSpPr>
          <p:nvPr/>
        </p:nvSpPr>
        <p:spPr>
          <a:xfrm xmlns:a="http://schemas.openxmlformats.org/drawingml/2006/main">
            <a:off x="619125" y="2000250"/>
            <a:ext cx="2333625" cy="1857375"/>
          </a:xfrm>
          <a:prstGeom xmlns:a="http://schemas.openxmlformats.org/drawingml/2006/main" prst="roundRect">
            <a:avLst>
              <a:gd name="adj" fmla="val 9231"/>
            </a:avLst>
          </a:prstGeom>
          <a:solidFill xmlns:a="http://schemas.openxmlformats.org/drawingml/2006/main">
            <a:srgbClr val="F5F7F8"/>
          </a:solidFill>
          <a:ln xmlns:a="http://schemas.openxmlformats.org/drawingml/2006/main" w="9525">
            <a:solidFill>
              <a:srgbClr val="D7DCE1"/>
            </a:solidFill>
            <a:prstDash val="solid"/>
          </a:ln>
        </p:spPr>
      </p:sp>
      <p:sp>
        <p:nvSpPr>
          <p:cNvPr id="6" name="">
            <a:extLst xmlns:a="http://schemas.openxmlformats.org/drawingml/2006/main">
              <a:ext uri="{FF2B5EF4-FFF2-40B4-BE49-F238E27FC236}">
                <a16:creationId xmlns:a16="http://schemas.microsoft.com/office/drawing/2014/main" id="{8FDE6075-00AA-4FCB-8950-DE560CF2420B}"/>
              </a:ext>
            </a:extLst>
          </p:cNvPr>
          <p:cNvSpPr>
            <a:spLocks xmlns:a="http://schemas.openxmlformats.org/drawingml/2006/main" noGrp="1"/>
          </p:cNvSpPr>
          <p:nvPr/>
        </p:nvSpPr>
        <p:spPr>
          <a:xfrm xmlns:a="http://schemas.openxmlformats.org/drawingml/2006/main">
            <a:off x="828675" y="2238375"/>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5B6570"/>
                </a:solidFill>
                <a:latin typeface="Arial"/>
                <a:ea typeface="Arial"/>
                <a:cs typeface="Arial"/>
              </a:defRPr>
            </a:pPr>
            <a:r>
              <a:rPr sz="2025" b="1">
                <a:solidFill>
                  <a:srgbClr val="5B6570"/>
                </a:solidFill>
                <a:latin typeface="Arial"/>
                <a:ea typeface="Arial"/>
                <a:cs typeface="Arial"/>
              </a:rPr>
              <a:t>Fase 1</a:t>
            </a:r>
          </a:p>
        </p:txBody>
      </p:sp>
      <p:sp>
        <p:nvSpPr>
          <p:cNvPr id="7" name="">
            <a:extLst xmlns:a="http://schemas.openxmlformats.org/drawingml/2006/main">
              <a:ext uri="{FF2B5EF4-FFF2-40B4-BE49-F238E27FC236}">
                <a16:creationId xmlns:a16="http://schemas.microsoft.com/office/drawing/2014/main" id="{9CB71A33-E916-4BA9-AB10-1AEFC6AB6234}"/>
              </a:ext>
            </a:extLst>
          </p:cNvPr>
          <p:cNvSpPr>
            <a:spLocks xmlns:a="http://schemas.openxmlformats.org/drawingml/2006/main" noGrp="1"/>
          </p:cNvSpPr>
          <p:nvPr/>
        </p:nvSpPr>
        <p:spPr>
          <a:xfrm xmlns:a="http://schemas.openxmlformats.org/drawingml/2006/main">
            <a:off x="828675" y="2781300"/>
            <a:ext cx="190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17212B"/>
                </a:solidFill>
                <a:latin typeface="Arial"/>
                <a:ea typeface="Arial"/>
                <a:cs typeface="Arial"/>
              </a:defRPr>
            </a:pPr>
            <a:r>
              <a:rPr sz="1500" b="0">
                <a:solidFill>
                  <a:srgbClr val="17212B"/>
                </a:solidFill>
                <a:latin typeface="Arial"/>
                <a:ea typeface="Arial"/>
                <a:cs typeface="Arial"/>
              </a:rPr>
              <a:t>Problema, objetivos y entorno reproducible</a:t>
            </a:r>
          </a:p>
        </p:txBody>
      </p:sp>
      <p:sp>
        <p:nvSpPr>
          <p:cNvPr id="8" name="">
            <a:extLst xmlns:a="http://schemas.openxmlformats.org/drawingml/2006/main">
              <a:ext uri="{FF2B5EF4-FFF2-40B4-BE49-F238E27FC236}">
                <a16:creationId xmlns:a16="http://schemas.microsoft.com/office/drawing/2014/main" id="{B7AA97D7-1F24-46CA-8D37-8DEC9D266EF7}"/>
              </a:ext>
            </a:extLst>
          </p:cNvPr>
          <p:cNvSpPr>
            <a:spLocks xmlns:a="http://schemas.openxmlformats.org/drawingml/2006/main" noGrp="1"/>
          </p:cNvSpPr>
          <p:nvPr/>
        </p:nvSpPr>
        <p:spPr>
          <a:xfrm xmlns:a="http://schemas.openxmlformats.org/drawingml/2006/main">
            <a:off x="3476625" y="2000250"/>
            <a:ext cx="2333625" cy="1857375"/>
          </a:xfrm>
          <a:prstGeom xmlns:a="http://schemas.openxmlformats.org/drawingml/2006/main" prst="roundRect">
            <a:avLst>
              <a:gd name="adj" fmla="val 9231"/>
            </a:avLst>
          </a:prstGeom>
          <a:solidFill xmlns:a="http://schemas.openxmlformats.org/drawingml/2006/main">
            <a:srgbClr val="EAF2F8"/>
          </a:solidFill>
          <a:ln xmlns:a="http://schemas.openxmlformats.org/drawingml/2006/main" w="9525">
            <a:solidFill>
              <a:srgbClr val="5B8DB8"/>
            </a:solidFill>
            <a:prstDash val="solid"/>
          </a:ln>
        </p:spPr>
      </p:sp>
      <p:sp>
        <p:nvSpPr>
          <p:cNvPr id="9" name="">
            <a:extLst xmlns:a="http://schemas.openxmlformats.org/drawingml/2006/main">
              <a:ext uri="{FF2B5EF4-FFF2-40B4-BE49-F238E27FC236}">
                <a16:creationId xmlns:a16="http://schemas.microsoft.com/office/drawing/2014/main" id="{21B94CC2-C4AD-460C-9B41-EB6B4367A4A7}"/>
              </a:ext>
            </a:extLst>
          </p:cNvPr>
          <p:cNvSpPr>
            <a:spLocks xmlns:a="http://schemas.openxmlformats.org/drawingml/2006/main" noGrp="1"/>
          </p:cNvSpPr>
          <p:nvPr/>
        </p:nvSpPr>
        <p:spPr>
          <a:xfrm xmlns:a="http://schemas.openxmlformats.org/drawingml/2006/main">
            <a:off x="3686175" y="2238375"/>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5B8DB8"/>
                </a:solidFill>
                <a:latin typeface="Arial"/>
                <a:ea typeface="Arial"/>
                <a:cs typeface="Arial"/>
              </a:defRPr>
            </a:pPr>
            <a:r>
              <a:rPr sz="2025" b="1">
                <a:solidFill>
                  <a:srgbClr val="5B8DB8"/>
                </a:solidFill>
                <a:latin typeface="Arial"/>
                <a:ea typeface="Arial"/>
                <a:cs typeface="Arial"/>
              </a:rPr>
              <a:t>Fase 2</a:t>
            </a:r>
          </a:p>
        </p:txBody>
      </p:sp>
      <p:sp>
        <p:nvSpPr>
          <p:cNvPr id="10" name="">
            <a:extLst xmlns:a="http://schemas.openxmlformats.org/drawingml/2006/main">
              <a:ext uri="{FF2B5EF4-FFF2-40B4-BE49-F238E27FC236}">
                <a16:creationId xmlns:a16="http://schemas.microsoft.com/office/drawing/2014/main" id="{92C245E6-D934-4518-98B7-1B2BCA7F1DCD}"/>
              </a:ext>
            </a:extLst>
          </p:cNvPr>
          <p:cNvSpPr>
            <a:spLocks xmlns:a="http://schemas.openxmlformats.org/drawingml/2006/main" noGrp="1"/>
          </p:cNvSpPr>
          <p:nvPr/>
        </p:nvSpPr>
        <p:spPr>
          <a:xfrm xmlns:a="http://schemas.openxmlformats.org/drawingml/2006/main">
            <a:off x="3686175" y="2781300"/>
            <a:ext cx="190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17212B"/>
                </a:solidFill>
                <a:latin typeface="Arial"/>
                <a:ea typeface="Arial"/>
                <a:cs typeface="Arial"/>
              </a:defRPr>
            </a:pPr>
            <a:r>
              <a:rPr sz="1500" b="0">
                <a:solidFill>
                  <a:srgbClr val="17212B"/>
                </a:solidFill>
                <a:latin typeface="Arial"/>
                <a:ea typeface="Arial"/>
                <a:cs typeface="Arial"/>
              </a:rPr>
              <a:t>Obtención, limpieza y transformación</a:t>
            </a:r>
          </a:p>
        </p:txBody>
      </p:sp>
      <p:sp>
        <p:nvSpPr>
          <p:cNvPr id="11" name="">
            <a:extLst xmlns:a="http://schemas.openxmlformats.org/drawingml/2006/main">
              <a:ext uri="{FF2B5EF4-FFF2-40B4-BE49-F238E27FC236}">
                <a16:creationId xmlns:a16="http://schemas.microsoft.com/office/drawing/2014/main" id="{63CF12DF-F3EC-424D-8161-1F9F33EEC78F}"/>
              </a:ext>
            </a:extLst>
          </p:cNvPr>
          <p:cNvSpPr>
            <a:spLocks xmlns:a="http://schemas.openxmlformats.org/drawingml/2006/main" noGrp="1"/>
          </p:cNvSpPr>
          <p:nvPr/>
        </p:nvSpPr>
        <p:spPr>
          <a:xfrm xmlns:a="http://schemas.openxmlformats.org/drawingml/2006/main">
            <a:off x="6334125" y="2000250"/>
            <a:ext cx="2333625" cy="1857375"/>
          </a:xfrm>
          <a:prstGeom xmlns:a="http://schemas.openxmlformats.org/drawingml/2006/main" prst="roundRect">
            <a:avLst>
              <a:gd name="adj" fmla="val 9231"/>
            </a:avLst>
          </a:prstGeom>
          <a:solidFill xmlns:a="http://schemas.openxmlformats.org/drawingml/2006/main">
            <a:srgbClr val="F5F7F8"/>
          </a:solidFill>
          <a:ln xmlns:a="http://schemas.openxmlformats.org/drawingml/2006/main" w="9525">
            <a:solidFill>
              <a:srgbClr val="D7DCE1"/>
            </a:solidFill>
            <a:prstDash val="solid"/>
          </a:ln>
        </p:spPr>
      </p:sp>
      <p:sp>
        <p:nvSpPr>
          <p:cNvPr id="12" name="">
            <a:extLst xmlns:a="http://schemas.openxmlformats.org/drawingml/2006/main">
              <a:ext uri="{FF2B5EF4-FFF2-40B4-BE49-F238E27FC236}">
                <a16:creationId xmlns:a16="http://schemas.microsoft.com/office/drawing/2014/main" id="{4C393A81-7D42-4BF0-B6F9-B65E34E5C4B9}"/>
              </a:ext>
            </a:extLst>
          </p:cNvPr>
          <p:cNvSpPr>
            <a:spLocks xmlns:a="http://schemas.openxmlformats.org/drawingml/2006/main" noGrp="1"/>
          </p:cNvSpPr>
          <p:nvPr/>
        </p:nvSpPr>
        <p:spPr>
          <a:xfrm xmlns:a="http://schemas.openxmlformats.org/drawingml/2006/main">
            <a:off x="6543675" y="2238375"/>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5B6570"/>
                </a:solidFill>
                <a:latin typeface="Arial"/>
                <a:ea typeface="Arial"/>
                <a:cs typeface="Arial"/>
              </a:defRPr>
            </a:pPr>
            <a:r>
              <a:rPr sz="2025" b="1">
                <a:solidFill>
                  <a:srgbClr val="5B6570"/>
                </a:solidFill>
                <a:latin typeface="Arial"/>
                <a:ea typeface="Arial"/>
                <a:cs typeface="Arial"/>
              </a:rPr>
              <a:t>Fase 3</a:t>
            </a:r>
          </a:p>
        </p:txBody>
      </p:sp>
      <p:sp>
        <p:nvSpPr>
          <p:cNvPr id="13" name="">
            <a:extLst xmlns:a="http://schemas.openxmlformats.org/drawingml/2006/main">
              <a:ext uri="{FF2B5EF4-FFF2-40B4-BE49-F238E27FC236}">
                <a16:creationId xmlns:a16="http://schemas.microsoft.com/office/drawing/2014/main" id="{13FAE175-275D-4FB5-B32C-8941B6994B93}"/>
              </a:ext>
            </a:extLst>
          </p:cNvPr>
          <p:cNvSpPr>
            <a:spLocks xmlns:a="http://schemas.openxmlformats.org/drawingml/2006/main" noGrp="1"/>
          </p:cNvSpPr>
          <p:nvPr/>
        </p:nvSpPr>
        <p:spPr>
          <a:xfrm xmlns:a="http://schemas.openxmlformats.org/drawingml/2006/main">
            <a:off x="6543675" y="2781300"/>
            <a:ext cx="190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17212B"/>
                </a:solidFill>
                <a:latin typeface="Arial"/>
                <a:ea typeface="Arial"/>
                <a:cs typeface="Arial"/>
              </a:defRPr>
            </a:pPr>
            <a:r>
              <a:rPr sz="1500" b="0">
                <a:solidFill>
                  <a:srgbClr val="17212B"/>
                </a:solidFill>
                <a:latin typeface="Arial"/>
                <a:ea typeface="Arial"/>
                <a:cs typeface="Arial"/>
              </a:rPr>
              <a:t>Módulos, clases, pruebas y eficiencia</a:t>
            </a:r>
          </a:p>
        </p:txBody>
      </p:sp>
      <p:sp>
        <p:nvSpPr>
          <p:cNvPr id="14" name="">
            <a:extLst xmlns:a="http://schemas.openxmlformats.org/drawingml/2006/main">
              <a:ext uri="{FF2B5EF4-FFF2-40B4-BE49-F238E27FC236}">
                <a16:creationId xmlns:a16="http://schemas.microsoft.com/office/drawing/2014/main" id="{5461D1E4-70FB-4592-A6A9-873578D46D6A}"/>
              </a:ext>
            </a:extLst>
          </p:cNvPr>
          <p:cNvSpPr>
            <a:spLocks xmlns:a="http://schemas.openxmlformats.org/drawingml/2006/main" noGrp="1"/>
          </p:cNvSpPr>
          <p:nvPr/>
        </p:nvSpPr>
        <p:spPr>
          <a:xfrm xmlns:a="http://schemas.openxmlformats.org/drawingml/2006/main">
            <a:off x="9191625" y="2000250"/>
            <a:ext cx="2333625" cy="1857375"/>
          </a:xfrm>
          <a:prstGeom xmlns:a="http://schemas.openxmlformats.org/drawingml/2006/main" prst="roundRect">
            <a:avLst>
              <a:gd name="adj" fmla="val 9231"/>
            </a:avLst>
          </a:prstGeom>
          <a:solidFill xmlns:a="http://schemas.openxmlformats.org/drawingml/2006/main">
            <a:srgbClr val="F9EAEA"/>
          </a:solidFill>
          <a:ln xmlns:a="http://schemas.openxmlformats.org/drawingml/2006/main" w="9525">
            <a:solidFill>
              <a:srgbClr val="C94C4C"/>
            </a:solidFill>
            <a:prstDash val="solid"/>
          </a:ln>
        </p:spPr>
      </p:sp>
      <p:sp>
        <p:nvSpPr>
          <p:cNvPr id="15" name="">
            <a:extLst xmlns:a="http://schemas.openxmlformats.org/drawingml/2006/main">
              <a:ext uri="{FF2B5EF4-FFF2-40B4-BE49-F238E27FC236}">
                <a16:creationId xmlns:a16="http://schemas.microsoft.com/office/drawing/2014/main" id="{71D44BB9-DFD7-4AD1-8BAE-4D6EED4AF751}"/>
              </a:ext>
            </a:extLst>
          </p:cNvPr>
          <p:cNvSpPr>
            <a:spLocks xmlns:a="http://schemas.openxmlformats.org/drawingml/2006/main" noGrp="1"/>
          </p:cNvSpPr>
          <p:nvPr/>
        </p:nvSpPr>
        <p:spPr>
          <a:xfrm xmlns:a="http://schemas.openxmlformats.org/drawingml/2006/main">
            <a:off x="9401175" y="2238375"/>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C94C4C"/>
                </a:solidFill>
                <a:latin typeface="Arial"/>
                <a:ea typeface="Arial"/>
                <a:cs typeface="Arial"/>
              </a:defRPr>
            </a:pPr>
            <a:r>
              <a:rPr sz="2025" b="1">
                <a:solidFill>
                  <a:srgbClr val="C94C4C"/>
                </a:solidFill>
                <a:latin typeface="Arial"/>
                <a:ea typeface="Arial"/>
                <a:cs typeface="Arial"/>
              </a:rPr>
              <a:t>Fase 4</a:t>
            </a:r>
          </a:p>
        </p:txBody>
      </p:sp>
      <p:sp>
        <p:nvSpPr>
          <p:cNvPr id="16" name="">
            <a:extLst xmlns:a="http://schemas.openxmlformats.org/drawingml/2006/main">
              <a:ext uri="{FF2B5EF4-FFF2-40B4-BE49-F238E27FC236}">
                <a16:creationId xmlns:a16="http://schemas.microsoft.com/office/drawing/2014/main" id="{B502F59A-3A0F-42C8-B813-496932655220}"/>
              </a:ext>
            </a:extLst>
          </p:cNvPr>
          <p:cNvSpPr>
            <a:spLocks xmlns:a="http://schemas.openxmlformats.org/drawingml/2006/main" noGrp="1"/>
          </p:cNvSpPr>
          <p:nvPr/>
        </p:nvSpPr>
        <p:spPr>
          <a:xfrm xmlns:a="http://schemas.openxmlformats.org/drawingml/2006/main">
            <a:off x="9401175" y="2781300"/>
            <a:ext cx="190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17212B"/>
                </a:solidFill>
                <a:latin typeface="Arial"/>
                <a:ea typeface="Arial"/>
                <a:cs typeface="Arial"/>
              </a:defRPr>
            </a:pPr>
            <a:r>
              <a:rPr sz="1500" b="0">
                <a:solidFill>
                  <a:srgbClr val="17212B"/>
                </a:solidFill>
                <a:latin typeface="Arial"/>
                <a:ea typeface="Arial"/>
                <a:cs typeface="Arial"/>
              </a:rPr>
              <a:t>Integración, visualización y comunicación</a:t>
            </a:r>
          </a:p>
        </p:txBody>
      </p:sp>
      <p:sp>
        <p:nvSpPr>
          <p:cNvPr id="17" name="">
            <a:extLst xmlns:a="http://schemas.openxmlformats.org/drawingml/2006/main">
              <a:ext uri="{FF2B5EF4-FFF2-40B4-BE49-F238E27FC236}">
                <a16:creationId xmlns:a16="http://schemas.microsoft.com/office/drawing/2014/main" id="{37F2A969-97F0-4195-AD11-C66021C0246D}"/>
              </a:ext>
            </a:extLst>
          </p:cNvPr>
          <p:cNvSpPr>
            <a:spLocks xmlns:a="http://schemas.openxmlformats.org/drawingml/2006/main" noGrp="1"/>
          </p:cNvSpPr>
          <p:nvPr/>
        </p:nvSpPr>
        <p:spPr>
          <a:xfrm xmlns:a="http://schemas.openxmlformats.org/drawingml/2006/main">
            <a:off x="3048000" y="2819400"/>
            <a:ext cx="342900" cy="228600"/>
          </a:xfrm>
          <a:prstGeom xmlns:a="http://schemas.openxmlformats.org/drawingml/2006/main" prst="rightArrow">
            <a:avLst/>
          </a:prstGeom>
          <a:solidFill xmlns:a="http://schemas.openxmlformats.org/drawingml/2006/main">
            <a:srgbClr val="5B657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86CE0A4-B261-4685-948F-240E0A747CC3}"/>
              </a:ext>
            </a:extLst>
          </p:cNvPr>
          <p:cNvSpPr>
            <a:spLocks xmlns:a="http://schemas.openxmlformats.org/drawingml/2006/main" noGrp="1"/>
          </p:cNvSpPr>
          <p:nvPr/>
        </p:nvSpPr>
        <p:spPr>
          <a:xfrm xmlns:a="http://schemas.openxmlformats.org/drawingml/2006/main">
            <a:off x="5905500" y="2819400"/>
            <a:ext cx="342900" cy="228600"/>
          </a:xfrm>
          <a:prstGeom xmlns:a="http://schemas.openxmlformats.org/drawingml/2006/main" prst="rightArrow">
            <a:avLst/>
          </a:prstGeom>
          <a:solidFill xmlns:a="http://schemas.openxmlformats.org/drawingml/2006/main">
            <a:srgbClr val="5B657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4652045-82DC-4891-A399-316D0C8648A4}"/>
              </a:ext>
            </a:extLst>
          </p:cNvPr>
          <p:cNvSpPr>
            <a:spLocks xmlns:a="http://schemas.openxmlformats.org/drawingml/2006/main" noGrp="1"/>
          </p:cNvSpPr>
          <p:nvPr/>
        </p:nvSpPr>
        <p:spPr>
          <a:xfrm xmlns:a="http://schemas.openxmlformats.org/drawingml/2006/main">
            <a:off x="8763000" y="2819400"/>
            <a:ext cx="342900" cy="228600"/>
          </a:xfrm>
          <a:prstGeom xmlns:a="http://schemas.openxmlformats.org/drawingml/2006/main" prst="rightArrow">
            <a:avLst/>
          </a:prstGeom>
          <a:solidFill xmlns:a="http://schemas.openxmlformats.org/drawingml/2006/main">
            <a:srgbClr val="5B6570"/>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E65E0AD-DE18-4A1B-B174-4F7FE870CA9F}"/>
              </a:ext>
            </a:extLst>
          </p:cNvPr>
          <p:cNvSpPr>
            <a:spLocks xmlns:a="http://schemas.openxmlformats.org/drawingml/2006/main" noGrp="1"/>
          </p:cNvSpPr>
          <p:nvPr/>
        </p:nvSpPr>
        <p:spPr>
          <a:xfrm xmlns:a="http://schemas.openxmlformats.org/drawingml/2006/main">
            <a:off x="1143000" y="46672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725" b="0">
                <a:solidFill>
                  <a:srgbClr val="17212B"/>
                </a:solidFill>
                <a:latin typeface="Arial"/>
                <a:ea typeface="Arial"/>
                <a:cs typeface="Arial"/>
              </a:defRPr>
            </a:pPr>
            <a:r>
              <a:rPr sz="1725" b="0">
                <a:solidFill>
                  <a:srgbClr val="17212B"/>
                </a:solidFill>
                <a:latin typeface="Arial"/>
                <a:ea typeface="Arial"/>
                <a:cs typeface="Arial"/>
              </a:rPr>
              <a:t>Los archivos procesados de F2 alimentan el pipeline de F3. La F4 recupera variables interpretables para comunicar los resultados en sus unidades originales.</a:t>
            </a:r>
          </a:p>
        </p:txBody>
      </p:sp>
    </p:spTree>
    <p:extLst>
      <p:ext uri="{BB962C8B-B14F-4D97-AF65-F5344CB8AC3E}">
        <p14:creationId xmlns:p14="http://schemas.microsoft.com/office/powerpoint/2010/main" val="68674245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F048089-8EF2-4C0A-9878-EFFFE8A9A22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5B8DB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B25CA30-C539-4CC1-A2DE-ABFE0540ED33}"/>
              </a:ext>
            </a:extLst>
          </p:cNvPr>
          <p:cNvSpPr>
            <a:spLocks xmlns:a="http://schemas.openxmlformats.org/drawingml/2006/main" noGrp="1"/>
          </p:cNvSpPr>
          <p:nvPr/>
        </p:nvSpPr>
        <p:spPr>
          <a:xfrm xmlns:a="http://schemas.openxmlformats.org/drawingml/2006/main">
            <a:off x="552450" y="3429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12B"/>
                </a:solidFill>
                <a:latin typeface="Arial"/>
                <a:ea typeface="Arial"/>
                <a:cs typeface="Arial"/>
              </a:defRPr>
            </a:pPr>
            <a:r>
              <a:rPr sz="2550" b="1">
                <a:solidFill>
                  <a:srgbClr val="17212B"/>
                </a:solidFill>
                <a:latin typeface="Arial"/>
                <a:ea typeface="Arial"/>
                <a:cs typeface="Arial"/>
              </a:rPr>
              <a:t>La tasa de falla cambia según el tipo de producto</a:t>
            </a:r>
          </a:p>
        </p:txBody>
      </p:sp>
      <p:sp>
        <p:nvSpPr>
          <p:cNvPr id="3" name="">
            <a:extLst xmlns:a="http://schemas.openxmlformats.org/drawingml/2006/main">
              <a:ext uri="{FF2B5EF4-FFF2-40B4-BE49-F238E27FC236}">
                <a16:creationId xmlns:a16="http://schemas.microsoft.com/office/drawing/2014/main" id="{787FCA37-D727-49E2-9965-8000F9DDEE9D}"/>
              </a:ext>
            </a:extLst>
          </p:cNvPr>
          <p:cNvSpPr>
            <a:spLocks xmlns:a="http://schemas.openxmlformats.org/drawingml/2006/main" noGrp="1"/>
          </p:cNvSpPr>
          <p:nvPr/>
        </p:nvSpPr>
        <p:spPr>
          <a:xfrm xmlns:a="http://schemas.openxmlformats.org/drawingml/2006/main">
            <a:off x="11334750" y="63055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b="0">
                <a:solidFill>
                  <a:srgbClr val="5B6570"/>
                </a:solidFill>
                <a:latin typeface="Arial"/>
                <a:ea typeface="Arial"/>
                <a:cs typeface="Arial"/>
              </a:defRPr>
            </a:pPr>
            <a:r>
              <a:rPr sz="1050" b="0">
                <a:solidFill>
                  <a:srgbClr val="5B6570"/>
                </a:solidFill>
                <a:latin typeface="Arial"/>
                <a:ea typeface="Arial"/>
                <a:cs typeface="Arial"/>
              </a:rPr>
              <a:t>4</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718f04d0ae34fa4"/>
          <a:stretch xmlns:a="http://schemas.openxmlformats.org/drawingml/2006/main"/>
        </p:blipFill>
        <p:spPr>
          <a:xfrm xmlns:a="http://schemas.openxmlformats.org/drawingml/2006/main">
            <a:off x="892955" y="1143000"/>
            <a:ext cx="7119965" cy="4476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B336FBC-C14D-43E6-BFB3-A3C7CE3DBF16}"/>
              </a:ext>
            </a:extLst>
          </p:cNvPr>
          <p:cNvSpPr>
            <a:spLocks xmlns:a="http://schemas.openxmlformats.org/drawingml/2006/main" noGrp="1"/>
          </p:cNvSpPr>
          <p:nvPr/>
        </p:nvSpPr>
        <p:spPr>
          <a:xfrm xmlns:a="http://schemas.openxmlformats.org/drawingml/2006/main">
            <a:off x="8572500" y="1381125"/>
            <a:ext cx="47625" cy="3286125"/>
          </a:xfrm>
          <a:prstGeom xmlns:a="http://schemas.openxmlformats.org/drawingml/2006/main" prst="rect">
            <a:avLst/>
          </a:prstGeom>
          <a:solidFill xmlns:a="http://schemas.openxmlformats.org/drawingml/2006/main">
            <a:srgbClr val="5B8DB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47FB1B6-1D9F-414A-A0AD-2A78B30ABFED}"/>
              </a:ext>
            </a:extLst>
          </p:cNvPr>
          <p:cNvSpPr>
            <a:spLocks xmlns:a="http://schemas.openxmlformats.org/drawingml/2006/main" noGrp="1"/>
          </p:cNvSpPr>
          <p:nvPr/>
        </p:nvSpPr>
        <p:spPr>
          <a:xfrm xmlns:a="http://schemas.openxmlformats.org/drawingml/2006/main">
            <a:off x="8905875" y="1428750"/>
            <a:ext cx="247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356A96"/>
                </a:solidFill>
                <a:latin typeface="Arial"/>
                <a:ea typeface="Arial"/>
                <a:cs typeface="Arial"/>
              </a:defRPr>
            </a:pPr>
            <a:r>
              <a:rPr sz="1425" b="1">
                <a:solidFill>
                  <a:srgbClr val="356A96"/>
                </a:solidFill>
                <a:latin typeface="Arial"/>
                <a:ea typeface="Arial"/>
                <a:cs typeface="Arial"/>
              </a:rPr>
              <a:t>Lectura principal</a:t>
            </a:r>
          </a:p>
        </p:txBody>
      </p:sp>
      <p:sp>
        <p:nvSpPr>
          <p:cNvPr id="7" name="">
            <a:extLst xmlns:a="http://schemas.openxmlformats.org/drawingml/2006/main">
              <a:ext uri="{FF2B5EF4-FFF2-40B4-BE49-F238E27FC236}">
                <a16:creationId xmlns:a16="http://schemas.microsoft.com/office/drawing/2014/main" id="{2EEED014-2D8A-4352-BB80-D4718BD1E1DA}"/>
              </a:ext>
            </a:extLst>
          </p:cNvPr>
          <p:cNvSpPr>
            <a:spLocks xmlns:a="http://schemas.openxmlformats.org/drawingml/2006/main" noGrp="1"/>
          </p:cNvSpPr>
          <p:nvPr/>
        </p:nvSpPr>
        <p:spPr>
          <a:xfrm xmlns:a="http://schemas.openxmlformats.org/drawingml/2006/main">
            <a:off x="8905875" y="1905000"/>
            <a:ext cx="2619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1">
                <a:solidFill>
                  <a:srgbClr val="17212B"/>
                </a:solidFill>
                <a:latin typeface="Arial"/>
                <a:ea typeface="Arial"/>
                <a:cs typeface="Arial"/>
              </a:defRPr>
            </a:pPr>
            <a:r>
              <a:rPr sz="1950" b="1">
                <a:solidFill>
                  <a:srgbClr val="17212B"/>
                </a:solidFill>
                <a:latin typeface="Arial"/>
                <a:ea typeface="Arial"/>
                <a:cs typeface="Arial"/>
              </a:rPr>
              <a:t>El tipo L presenta la mayor tasa observada: 3,92 %.</a:t>
            </a:r>
          </a:p>
        </p:txBody>
      </p:sp>
      <p:sp>
        <p:nvSpPr>
          <p:cNvPr id="8" name="">
            <a:extLst xmlns:a="http://schemas.openxmlformats.org/drawingml/2006/main">
              <a:ext uri="{FF2B5EF4-FFF2-40B4-BE49-F238E27FC236}">
                <a16:creationId xmlns:a16="http://schemas.microsoft.com/office/drawing/2014/main" id="{350E13F4-AB57-413D-BFBE-B2CB30E3B837}"/>
              </a:ext>
            </a:extLst>
          </p:cNvPr>
          <p:cNvSpPr>
            <a:spLocks xmlns:a="http://schemas.openxmlformats.org/drawingml/2006/main" noGrp="1"/>
          </p:cNvSpPr>
          <p:nvPr/>
        </p:nvSpPr>
        <p:spPr>
          <a:xfrm xmlns:a="http://schemas.openxmlformats.org/drawingml/2006/main">
            <a:off x="8905875" y="3095625"/>
            <a:ext cx="2571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B6570"/>
                </a:solidFill>
                <a:latin typeface="Arial"/>
                <a:ea typeface="Arial"/>
                <a:cs typeface="Arial"/>
              </a:defRPr>
            </a:pPr>
            <a:r>
              <a:rPr sz="1425" b="0">
                <a:solidFill>
                  <a:srgbClr val="5B6570"/>
                </a:solidFill>
                <a:latin typeface="Arial"/>
                <a:ea typeface="Arial"/>
                <a:cs typeface="Arial"/>
              </a:rPr>
              <a:t>La diferencia describe este conjunto. No demuestra que el tipo de producto cause la falla.</a:t>
            </a:r>
          </a:p>
        </p:txBody>
      </p:sp>
      <p:sp>
        <p:nvSpPr>
          <p:cNvPr id="9" name="">
            <a:extLst xmlns:a="http://schemas.openxmlformats.org/drawingml/2006/main">
              <a:ext uri="{FF2B5EF4-FFF2-40B4-BE49-F238E27FC236}">
                <a16:creationId xmlns:a16="http://schemas.microsoft.com/office/drawing/2014/main" id="{361B13E7-AC03-4E3A-8803-A0CBE04F568A}"/>
              </a:ext>
            </a:extLst>
          </p:cNvPr>
          <p:cNvSpPr>
            <a:spLocks xmlns:a="http://schemas.openxmlformats.org/drawingml/2006/main" noGrp="1"/>
          </p:cNvSpPr>
          <p:nvPr/>
        </p:nvSpPr>
        <p:spPr>
          <a:xfrm xmlns:a="http://schemas.openxmlformats.org/drawingml/2006/main">
            <a:off x="666750" y="595312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0">
                <a:solidFill>
                  <a:srgbClr val="5B6570"/>
                </a:solidFill>
                <a:latin typeface="Arial"/>
                <a:ea typeface="Arial"/>
                <a:cs typeface="Arial"/>
              </a:defRPr>
            </a:pPr>
            <a:r>
              <a:rPr sz="1050" b="0">
                <a:solidFill>
                  <a:srgbClr val="5B6570"/>
                </a:solidFill>
                <a:latin typeface="Arial"/>
                <a:ea typeface="Arial"/>
                <a:cs typeface="Arial"/>
              </a:rPr>
              <a:t>Fuente: elaboración propia con AI4I 2020.</a:t>
            </a:r>
          </a:p>
        </p:txBody>
      </p:sp>
    </p:spTree>
    <p:extLst>
      <p:ext uri="{BB962C8B-B14F-4D97-AF65-F5344CB8AC3E}">
        <p14:creationId xmlns:p14="http://schemas.microsoft.com/office/powerpoint/2010/main" val="112570650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B722465-B099-40D9-AC3C-3F2FDA14D06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5B8DB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34560AC-9FFA-4D6F-8682-F078CF71AEE5}"/>
              </a:ext>
            </a:extLst>
          </p:cNvPr>
          <p:cNvSpPr>
            <a:spLocks xmlns:a="http://schemas.openxmlformats.org/drawingml/2006/main" noGrp="1"/>
          </p:cNvSpPr>
          <p:nvPr/>
        </p:nvSpPr>
        <p:spPr>
          <a:xfrm xmlns:a="http://schemas.openxmlformats.org/drawingml/2006/main">
            <a:off x="552450" y="3429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12B"/>
                </a:solidFill>
                <a:latin typeface="Arial"/>
                <a:ea typeface="Arial"/>
                <a:cs typeface="Arial"/>
              </a:defRPr>
            </a:pPr>
            <a:r>
              <a:rPr sz="2550" b="1">
                <a:solidFill>
                  <a:srgbClr val="17212B"/>
                </a:solidFill>
                <a:latin typeface="Arial"/>
                <a:ea typeface="Arial"/>
                <a:cs typeface="Arial"/>
              </a:rPr>
              <a:t>Velocidad, torque y desgaste concentran los contrastes más claros</a:t>
            </a:r>
          </a:p>
        </p:txBody>
      </p:sp>
      <p:sp>
        <p:nvSpPr>
          <p:cNvPr id="3" name="">
            <a:extLst xmlns:a="http://schemas.openxmlformats.org/drawingml/2006/main">
              <a:ext uri="{FF2B5EF4-FFF2-40B4-BE49-F238E27FC236}">
                <a16:creationId xmlns:a16="http://schemas.microsoft.com/office/drawing/2014/main" id="{2624795A-D7A3-4E55-8087-A2142706A3C4}"/>
              </a:ext>
            </a:extLst>
          </p:cNvPr>
          <p:cNvSpPr>
            <a:spLocks xmlns:a="http://schemas.openxmlformats.org/drawingml/2006/main" noGrp="1"/>
          </p:cNvSpPr>
          <p:nvPr/>
        </p:nvSpPr>
        <p:spPr>
          <a:xfrm xmlns:a="http://schemas.openxmlformats.org/drawingml/2006/main">
            <a:off x="11334750" y="63055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b="0">
                <a:solidFill>
                  <a:srgbClr val="5B6570"/>
                </a:solidFill>
                <a:latin typeface="Arial"/>
                <a:ea typeface="Arial"/>
                <a:cs typeface="Arial"/>
              </a:defRPr>
            </a:pPr>
            <a:r>
              <a:rPr sz="1050" b="0">
                <a:solidFill>
                  <a:srgbClr val="5B6570"/>
                </a:solidFill>
                <a:latin typeface="Arial"/>
                <a:ea typeface="Arial"/>
                <a:cs typeface="Arial"/>
              </a:rPr>
              <a:t>5</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85a08eecf024de5"/>
          <a:stretch xmlns:a="http://schemas.openxmlformats.org/drawingml/2006/main"/>
        </p:blipFill>
        <p:spPr>
          <a:xfrm xmlns:a="http://schemas.openxmlformats.org/drawingml/2006/main">
            <a:off x="3253844" y="1066800"/>
            <a:ext cx="5627163" cy="4476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2D449E6-1D0F-4496-A852-45C5C741CEC5}"/>
              </a:ext>
            </a:extLst>
          </p:cNvPr>
          <p:cNvSpPr>
            <a:spLocks xmlns:a="http://schemas.openxmlformats.org/drawingml/2006/main" noGrp="1"/>
          </p:cNvSpPr>
          <p:nvPr/>
        </p:nvSpPr>
        <p:spPr>
          <a:xfrm xmlns:a="http://schemas.openxmlformats.org/drawingml/2006/main">
            <a:off x="857250" y="5572125"/>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425" b="0">
                <a:solidFill>
                  <a:srgbClr val="17212B"/>
                </a:solidFill>
                <a:latin typeface="Arial"/>
                <a:ea typeface="Arial"/>
                <a:cs typeface="Arial"/>
              </a:defRPr>
            </a:pPr>
            <a:r>
              <a:rPr sz="1425" b="0">
                <a:solidFill>
                  <a:srgbClr val="17212B"/>
                </a:solidFill>
                <a:latin typeface="Arial"/>
                <a:ea typeface="Arial"/>
                <a:cs typeface="Arial"/>
              </a:rPr>
              <a:t>La velocidad baja alcanza 12,16 %, el torque alto 11,50 % y el desgaste alto 8,14 %. La temperatura del proceso no presenta una tendencia monotónica clara.</a:t>
            </a:r>
          </a:p>
        </p:txBody>
      </p:sp>
      <p:sp>
        <p:nvSpPr>
          <p:cNvPr id="6" name="">
            <a:extLst xmlns:a="http://schemas.openxmlformats.org/drawingml/2006/main">
              <a:ext uri="{FF2B5EF4-FFF2-40B4-BE49-F238E27FC236}">
                <a16:creationId xmlns:a16="http://schemas.microsoft.com/office/drawing/2014/main" id="{E7BB33E3-B8AC-4627-96CE-A06969AF8A23}"/>
              </a:ext>
            </a:extLst>
          </p:cNvPr>
          <p:cNvSpPr>
            <a:spLocks xmlns:a="http://schemas.openxmlformats.org/drawingml/2006/main" noGrp="1"/>
          </p:cNvSpPr>
          <p:nvPr/>
        </p:nvSpPr>
        <p:spPr>
          <a:xfrm xmlns:a="http://schemas.openxmlformats.org/drawingml/2006/main">
            <a:off x="666750" y="62103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0">
                <a:solidFill>
                  <a:srgbClr val="5B6570"/>
                </a:solidFill>
                <a:latin typeface="Arial"/>
                <a:ea typeface="Arial"/>
                <a:cs typeface="Arial"/>
              </a:defRPr>
            </a:pPr>
            <a:r>
              <a:rPr sz="1050" b="0">
                <a:solidFill>
                  <a:srgbClr val="5B6570"/>
                </a:solidFill>
                <a:latin typeface="Arial"/>
                <a:ea typeface="Arial"/>
                <a:cs typeface="Arial"/>
              </a:rPr>
              <a:t>Fuente: elaboración propia con AI4I 2020.</a:t>
            </a:r>
          </a:p>
        </p:txBody>
      </p:sp>
    </p:spTree>
    <p:extLst>
      <p:ext uri="{BB962C8B-B14F-4D97-AF65-F5344CB8AC3E}">
        <p14:creationId xmlns:p14="http://schemas.microsoft.com/office/powerpoint/2010/main" val="212110801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B18B222-3A96-4D23-B8DE-2A66455636D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5B8DB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47B32B-41A4-4E42-9FE0-71FA2F375D9D}"/>
              </a:ext>
            </a:extLst>
          </p:cNvPr>
          <p:cNvSpPr>
            <a:spLocks xmlns:a="http://schemas.openxmlformats.org/drawingml/2006/main" noGrp="1"/>
          </p:cNvSpPr>
          <p:nvPr/>
        </p:nvSpPr>
        <p:spPr>
          <a:xfrm xmlns:a="http://schemas.openxmlformats.org/drawingml/2006/main">
            <a:off x="552450" y="3429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12B"/>
                </a:solidFill>
                <a:latin typeface="Arial"/>
                <a:ea typeface="Arial"/>
                <a:cs typeface="Arial"/>
              </a:defRPr>
            </a:pPr>
            <a:r>
              <a:rPr sz="2550" b="1">
                <a:solidFill>
                  <a:srgbClr val="17212B"/>
                </a:solidFill>
                <a:latin typeface="Arial"/>
                <a:ea typeface="Arial"/>
                <a:cs typeface="Arial"/>
              </a:rPr>
              <a:t>La combinación operacional concentra una tasa de 28,61 %</a:t>
            </a:r>
          </a:p>
        </p:txBody>
      </p:sp>
      <p:sp>
        <p:nvSpPr>
          <p:cNvPr id="3" name="">
            <a:extLst xmlns:a="http://schemas.openxmlformats.org/drawingml/2006/main">
              <a:ext uri="{FF2B5EF4-FFF2-40B4-BE49-F238E27FC236}">
                <a16:creationId xmlns:a16="http://schemas.microsoft.com/office/drawing/2014/main" id="{5A2AD2A3-A79C-444B-90DB-8F448CD7AB5C}"/>
              </a:ext>
            </a:extLst>
          </p:cNvPr>
          <p:cNvSpPr>
            <a:spLocks xmlns:a="http://schemas.openxmlformats.org/drawingml/2006/main" noGrp="1"/>
          </p:cNvSpPr>
          <p:nvPr/>
        </p:nvSpPr>
        <p:spPr>
          <a:xfrm xmlns:a="http://schemas.openxmlformats.org/drawingml/2006/main">
            <a:off x="11334750" y="63055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b="0">
                <a:solidFill>
                  <a:srgbClr val="5B6570"/>
                </a:solidFill>
                <a:latin typeface="Arial"/>
                <a:ea typeface="Arial"/>
                <a:cs typeface="Arial"/>
              </a:defRPr>
            </a:pPr>
            <a:r>
              <a:rPr sz="1050" b="0">
                <a:solidFill>
                  <a:srgbClr val="5B6570"/>
                </a:solidFill>
                <a:latin typeface="Arial"/>
                <a:ea typeface="Arial"/>
                <a:cs typeface="Arial"/>
              </a:rPr>
              <a:t>6</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bb7659839f64702"/>
          <a:stretch xmlns:a="http://schemas.openxmlformats.org/drawingml/2006/main"/>
        </p:blipFill>
        <p:spPr>
          <a:xfrm xmlns:a="http://schemas.openxmlformats.org/drawingml/2006/main">
            <a:off x="523875" y="1204563"/>
            <a:ext cx="7620000" cy="4258373"/>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C960DDA-86BF-4D1E-AB65-D46EA9E416F2}"/>
              </a:ext>
            </a:extLst>
          </p:cNvPr>
          <p:cNvSpPr>
            <a:spLocks xmlns:a="http://schemas.openxmlformats.org/drawingml/2006/main" noGrp="1"/>
          </p:cNvSpPr>
          <p:nvPr/>
        </p:nvSpPr>
        <p:spPr>
          <a:xfrm xmlns:a="http://schemas.openxmlformats.org/drawingml/2006/main">
            <a:off x="8620125" y="142875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356A96"/>
                </a:solidFill>
                <a:latin typeface="Arial"/>
                <a:ea typeface="Arial"/>
                <a:cs typeface="Arial"/>
              </a:defRPr>
            </a:pPr>
            <a:r>
              <a:rPr sz="1425" b="1">
                <a:solidFill>
                  <a:srgbClr val="356A96"/>
                </a:solidFill>
                <a:latin typeface="Arial"/>
                <a:ea typeface="Arial"/>
                <a:cs typeface="Arial"/>
              </a:rPr>
              <a:t>Perfil analizado</a:t>
            </a:r>
          </a:p>
        </p:txBody>
      </p:sp>
      <p:sp>
        <p:nvSpPr>
          <p:cNvPr id="6" name="">
            <a:extLst xmlns:a="http://schemas.openxmlformats.org/drawingml/2006/main">
              <a:ext uri="{FF2B5EF4-FFF2-40B4-BE49-F238E27FC236}">
                <a16:creationId xmlns:a16="http://schemas.microsoft.com/office/drawing/2014/main" id="{89DD7F1E-CC4E-4EB0-AC8A-650BF144DCF4}"/>
              </a:ext>
            </a:extLst>
          </p:cNvPr>
          <p:cNvSpPr>
            <a:spLocks xmlns:a="http://schemas.openxmlformats.org/drawingml/2006/main" noGrp="1"/>
          </p:cNvSpPr>
          <p:nvPr/>
        </p:nvSpPr>
        <p:spPr>
          <a:xfrm xmlns:a="http://schemas.openxmlformats.org/drawingml/2006/main">
            <a:off x="8620125" y="1857375"/>
            <a:ext cx="2714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1000"/>
              </a:spcAft>
              <a:buChar char="•"/>
              <a:defRPr sz="1575">
                <a:solidFill>
                  <a:srgbClr val="17212B"/>
                </a:solidFill>
                <a:latin typeface="Arial"/>
                <a:ea typeface="Arial"/>
                <a:cs typeface="Arial"/>
              </a:defRPr>
            </a:pPr>
            <a:r>
              <a:rPr sz="1575">
                <a:solidFill>
                  <a:srgbClr val="17212B"/>
                </a:solidFill>
                <a:latin typeface="Arial"/>
                <a:ea typeface="Arial"/>
                <a:cs typeface="Arial"/>
              </a:rPr>
              <a:t>Velocidad baja</a:t>
            </a:r>
          </a:p>
          <a:p xmlns:a="http://schemas.openxmlformats.org/drawingml/2006/main">
            <a:pPr marL="228600" indent="-114300">
              <a:spcAft>
                <a:spcPts val="1000"/>
              </a:spcAft>
              <a:buChar char="•"/>
              <a:defRPr sz="1575">
                <a:solidFill>
                  <a:srgbClr val="17212B"/>
                </a:solidFill>
                <a:latin typeface="Arial"/>
                <a:ea typeface="Arial"/>
                <a:cs typeface="Arial"/>
              </a:defRPr>
            </a:pPr>
            <a:r>
              <a:rPr sz="1575">
                <a:solidFill>
                  <a:srgbClr val="17212B"/>
                </a:solidFill>
                <a:latin typeface="Arial"/>
                <a:ea typeface="Arial"/>
                <a:cs typeface="Arial"/>
              </a:rPr>
              <a:t>Torque alto</a:t>
            </a:r>
          </a:p>
          <a:p xmlns:a="http://schemas.openxmlformats.org/drawingml/2006/main">
            <a:pPr marL="228600" indent="-114300">
              <a:spcAft>
                <a:spcPts val="1000"/>
              </a:spcAft>
              <a:buChar char="•"/>
              <a:defRPr sz="1575">
                <a:solidFill>
                  <a:srgbClr val="17212B"/>
                </a:solidFill>
                <a:latin typeface="Arial"/>
                <a:ea typeface="Arial"/>
                <a:cs typeface="Arial"/>
              </a:defRPr>
            </a:pPr>
            <a:r>
              <a:rPr sz="1575">
                <a:solidFill>
                  <a:srgbClr val="17212B"/>
                </a:solidFill>
                <a:latin typeface="Arial"/>
                <a:ea typeface="Arial"/>
                <a:cs typeface="Arial"/>
              </a:rPr>
              <a:t>Desgaste alto</a:t>
            </a:r>
          </a:p>
        </p:txBody>
      </p:sp>
      <p:sp>
        <p:nvSpPr>
          <p:cNvPr id="7" name="">
            <a:extLst xmlns:a="http://schemas.openxmlformats.org/drawingml/2006/main">
              <a:ext uri="{FF2B5EF4-FFF2-40B4-BE49-F238E27FC236}">
                <a16:creationId xmlns:a16="http://schemas.microsoft.com/office/drawing/2014/main" id="{CAB2006A-9D95-4CDE-8B4C-4ACA2F5829D2}"/>
              </a:ext>
            </a:extLst>
          </p:cNvPr>
          <p:cNvSpPr>
            <a:spLocks xmlns:a="http://schemas.openxmlformats.org/drawingml/2006/main" noGrp="1"/>
          </p:cNvSpPr>
          <p:nvPr/>
        </p:nvSpPr>
        <p:spPr>
          <a:xfrm xmlns:a="http://schemas.openxmlformats.org/drawingml/2006/main">
            <a:off x="8620125" y="3571875"/>
            <a:ext cx="2714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C94C4C"/>
                </a:solidFill>
                <a:latin typeface="Arial"/>
                <a:ea typeface="Arial"/>
                <a:cs typeface="Arial"/>
              </a:defRPr>
            </a:pPr>
            <a:r>
              <a:rPr sz="2025" b="1">
                <a:solidFill>
                  <a:srgbClr val="C94C4C"/>
                </a:solidFill>
                <a:latin typeface="Arial"/>
                <a:ea typeface="Arial"/>
                <a:cs typeface="Arial"/>
              </a:rPr>
              <a:t>101 fallas en 353 registros</a:t>
            </a:r>
          </a:p>
        </p:txBody>
      </p:sp>
      <p:sp>
        <p:nvSpPr>
          <p:cNvPr id="8" name="">
            <a:extLst xmlns:a="http://schemas.openxmlformats.org/drawingml/2006/main">
              <a:ext uri="{FF2B5EF4-FFF2-40B4-BE49-F238E27FC236}">
                <a16:creationId xmlns:a16="http://schemas.microsoft.com/office/drawing/2014/main" id="{6A189713-FB1A-4585-AF6D-D2F6732B151D}"/>
              </a:ext>
            </a:extLst>
          </p:cNvPr>
          <p:cNvSpPr>
            <a:spLocks xmlns:a="http://schemas.openxmlformats.org/drawingml/2006/main" noGrp="1"/>
          </p:cNvSpPr>
          <p:nvPr/>
        </p:nvSpPr>
        <p:spPr>
          <a:xfrm xmlns:a="http://schemas.openxmlformats.org/drawingml/2006/main">
            <a:off x="8620125" y="4429125"/>
            <a:ext cx="2714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B6570"/>
                </a:solidFill>
                <a:latin typeface="Arial"/>
                <a:ea typeface="Arial"/>
                <a:cs typeface="Arial"/>
              </a:defRPr>
            </a:pPr>
            <a:r>
              <a:rPr sz="1425" b="0">
                <a:solidFill>
                  <a:srgbClr val="5B6570"/>
                </a:solidFill>
                <a:latin typeface="Arial"/>
                <a:ea typeface="Arial"/>
                <a:cs typeface="Arial"/>
              </a:rPr>
              <a:t>La combinación señala un grupo de interés para revisión. El resultado no prueba causalidad.</a:t>
            </a:r>
          </a:p>
        </p:txBody>
      </p:sp>
      <p:sp>
        <p:nvSpPr>
          <p:cNvPr id="9" name="">
            <a:extLst xmlns:a="http://schemas.openxmlformats.org/drawingml/2006/main">
              <a:ext uri="{FF2B5EF4-FFF2-40B4-BE49-F238E27FC236}">
                <a16:creationId xmlns:a16="http://schemas.microsoft.com/office/drawing/2014/main" id="{65A6AF27-DE43-4C93-92A6-27F9A5D4A991}"/>
              </a:ext>
            </a:extLst>
          </p:cNvPr>
          <p:cNvSpPr>
            <a:spLocks xmlns:a="http://schemas.openxmlformats.org/drawingml/2006/main" noGrp="1"/>
          </p:cNvSpPr>
          <p:nvPr/>
        </p:nvSpPr>
        <p:spPr>
          <a:xfrm xmlns:a="http://schemas.openxmlformats.org/drawingml/2006/main">
            <a:off x="666750" y="595312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0">
                <a:solidFill>
                  <a:srgbClr val="5B6570"/>
                </a:solidFill>
                <a:latin typeface="Arial"/>
                <a:ea typeface="Arial"/>
                <a:cs typeface="Arial"/>
              </a:defRPr>
            </a:pPr>
            <a:r>
              <a:rPr sz="1050" b="0">
                <a:solidFill>
                  <a:srgbClr val="5B6570"/>
                </a:solidFill>
                <a:latin typeface="Arial"/>
                <a:ea typeface="Arial"/>
                <a:cs typeface="Arial"/>
              </a:rPr>
              <a:t>Fuente: elaboración propia con AI4I 2020.</a:t>
            </a:r>
          </a:p>
        </p:txBody>
      </p:sp>
    </p:spTree>
    <p:extLst>
      <p:ext uri="{BB962C8B-B14F-4D97-AF65-F5344CB8AC3E}">
        <p14:creationId xmlns:p14="http://schemas.microsoft.com/office/powerpoint/2010/main" val="150118087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EC111B6-D398-439E-AC5A-85182F65E10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5B8DB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4A16426-2FF6-4E7B-A16D-1D2D4B4978AE}"/>
              </a:ext>
            </a:extLst>
          </p:cNvPr>
          <p:cNvSpPr>
            <a:spLocks xmlns:a="http://schemas.openxmlformats.org/drawingml/2006/main" noGrp="1"/>
          </p:cNvSpPr>
          <p:nvPr/>
        </p:nvSpPr>
        <p:spPr>
          <a:xfrm xmlns:a="http://schemas.openxmlformats.org/drawingml/2006/main">
            <a:off x="552450" y="3429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12B"/>
                </a:solidFill>
                <a:latin typeface="Arial"/>
                <a:ea typeface="Arial"/>
                <a:cs typeface="Arial"/>
              </a:defRPr>
            </a:pPr>
            <a:r>
              <a:rPr sz="2550" b="1">
                <a:solidFill>
                  <a:srgbClr val="17212B"/>
                </a:solidFill>
                <a:latin typeface="Arial"/>
                <a:ea typeface="Arial"/>
                <a:cs typeface="Arial"/>
              </a:rPr>
              <a:t>El perfil mantiene una diferencia similar en entrenamiento y prueba</a:t>
            </a:r>
          </a:p>
        </p:txBody>
      </p:sp>
      <p:sp>
        <p:nvSpPr>
          <p:cNvPr id="3" name="">
            <a:extLst xmlns:a="http://schemas.openxmlformats.org/drawingml/2006/main">
              <a:ext uri="{FF2B5EF4-FFF2-40B4-BE49-F238E27FC236}">
                <a16:creationId xmlns:a16="http://schemas.microsoft.com/office/drawing/2014/main" id="{2A020167-A9C7-47E3-94E6-4614A13883EE}"/>
              </a:ext>
            </a:extLst>
          </p:cNvPr>
          <p:cNvSpPr>
            <a:spLocks xmlns:a="http://schemas.openxmlformats.org/drawingml/2006/main" noGrp="1"/>
          </p:cNvSpPr>
          <p:nvPr/>
        </p:nvSpPr>
        <p:spPr>
          <a:xfrm xmlns:a="http://schemas.openxmlformats.org/drawingml/2006/main">
            <a:off x="11334750" y="63055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b="0">
                <a:solidFill>
                  <a:srgbClr val="5B6570"/>
                </a:solidFill>
                <a:latin typeface="Arial"/>
                <a:ea typeface="Arial"/>
                <a:cs typeface="Arial"/>
              </a:defRPr>
            </a:pPr>
            <a:r>
              <a:rPr sz="1050" b="0">
                <a:solidFill>
                  <a:srgbClr val="5B6570"/>
                </a:solidFill>
                <a:latin typeface="Arial"/>
                <a:ea typeface="Arial"/>
                <a:cs typeface="Arial"/>
              </a:rPr>
              <a:t>7</a:t>
            </a:r>
          </a:p>
        </p:txBody>
      </p:sp>
      <p:graphicFrame>
        <p:nvGraphicFramePr>
          <p:cNvPr id="15" name="Chart"/>
          <p:cNvGraphicFramePr/>
          <p:nvPr/>
        </p:nvGraphicFramePr>
        <p:xfrm>
          <a:off xmlns:a="http://schemas.openxmlformats.org/drawingml/2006/main" x="619125" y="1285875"/>
          <a:ext xmlns:a="http://schemas.openxmlformats.org/drawingml/2006/main" cx="7524750" cy="4333875"/>
        </p:xfrm>
        <a:graphic xmlns:a="http://schemas.openxmlformats.org/drawingml/2006/main">
          <a:graphicData uri="http://schemas.openxmlformats.org/drawingml/2006/chart">
            <c:chart xmlns:r="http://schemas.openxmlformats.org/officeDocument/2006/relationships" xmlns:c="http://schemas.openxmlformats.org/drawingml/2006/chart" r:id="R7dc1b33c5d7e4c6e"/>
          </a:graphicData>
        </a:graphic>
      </p:graphicFrame>
      <p:sp>
        <p:nvSpPr>
          <p:cNvPr id="5" name="">
            <a:extLst xmlns:a="http://schemas.openxmlformats.org/drawingml/2006/main">
              <a:ext uri="{FF2B5EF4-FFF2-40B4-BE49-F238E27FC236}">
                <a16:creationId xmlns:a16="http://schemas.microsoft.com/office/drawing/2014/main" id="{35965DC5-771C-47FB-98D3-46180E022A02}"/>
              </a:ext>
            </a:extLst>
          </p:cNvPr>
          <p:cNvSpPr>
            <a:spLocks xmlns:a="http://schemas.openxmlformats.org/drawingml/2006/main" noGrp="1"/>
          </p:cNvSpPr>
          <p:nvPr/>
        </p:nvSpPr>
        <p:spPr>
          <a:xfrm xmlns:a="http://schemas.openxmlformats.org/drawingml/2006/main">
            <a:off x="8572500" y="1524000"/>
            <a:ext cx="47625" cy="3000375"/>
          </a:xfrm>
          <a:prstGeom xmlns:a="http://schemas.openxmlformats.org/drawingml/2006/main" prst="rect">
            <a:avLst/>
          </a:prstGeom>
          <a:solidFill xmlns:a="http://schemas.openxmlformats.org/drawingml/2006/main">
            <a:srgbClr val="C94C4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075ADC8-3577-4999-9ADF-6BE5E4F28E3F}"/>
              </a:ext>
            </a:extLst>
          </p:cNvPr>
          <p:cNvSpPr>
            <a:spLocks xmlns:a="http://schemas.openxmlformats.org/drawingml/2006/main" noGrp="1"/>
          </p:cNvSpPr>
          <p:nvPr/>
        </p:nvSpPr>
        <p:spPr>
          <a:xfrm xmlns:a="http://schemas.openxmlformats.org/drawingml/2006/main">
            <a:off x="8905875" y="152400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356A96"/>
                </a:solidFill>
                <a:latin typeface="Arial"/>
                <a:ea typeface="Arial"/>
                <a:cs typeface="Arial"/>
              </a:defRPr>
            </a:pPr>
            <a:r>
              <a:rPr sz="1350" b="1">
                <a:solidFill>
                  <a:srgbClr val="356A96"/>
                </a:solidFill>
                <a:latin typeface="Arial"/>
                <a:ea typeface="Arial"/>
                <a:cs typeface="Arial"/>
              </a:rPr>
              <a:t>Entrenamiento</a:t>
            </a:r>
          </a:p>
        </p:txBody>
      </p:sp>
      <p:sp>
        <p:nvSpPr>
          <p:cNvPr id="7" name="">
            <a:extLst xmlns:a="http://schemas.openxmlformats.org/drawingml/2006/main">
              <a:ext uri="{FF2B5EF4-FFF2-40B4-BE49-F238E27FC236}">
                <a16:creationId xmlns:a16="http://schemas.microsoft.com/office/drawing/2014/main" id="{C7EA0920-193C-4AE5-A346-C5115D6547AA}"/>
              </a:ext>
            </a:extLst>
          </p:cNvPr>
          <p:cNvSpPr>
            <a:spLocks xmlns:a="http://schemas.openxmlformats.org/drawingml/2006/main" noGrp="1"/>
          </p:cNvSpPr>
          <p:nvPr/>
        </p:nvSpPr>
        <p:spPr>
          <a:xfrm xmlns:a="http://schemas.openxmlformats.org/drawingml/2006/main">
            <a:off x="8905875" y="1905000"/>
            <a:ext cx="2619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7212B"/>
                </a:solidFill>
                <a:latin typeface="Arial"/>
                <a:ea typeface="Arial"/>
                <a:cs typeface="Arial"/>
              </a:defRPr>
            </a:pPr>
            <a:r>
              <a:rPr sz="2025" b="1">
                <a:solidFill>
                  <a:srgbClr val="17212B"/>
                </a:solidFill>
                <a:latin typeface="Arial"/>
                <a:ea typeface="Arial"/>
                <a:cs typeface="Arial"/>
              </a:rPr>
              <a:t>28,94 % frente a 2,48 %</a:t>
            </a:r>
          </a:p>
        </p:txBody>
      </p:sp>
      <p:sp>
        <p:nvSpPr>
          <p:cNvPr id="8" name="">
            <a:extLst xmlns:a="http://schemas.openxmlformats.org/drawingml/2006/main">
              <a:ext uri="{FF2B5EF4-FFF2-40B4-BE49-F238E27FC236}">
                <a16:creationId xmlns:a16="http://schemas.microsoft.com/office/drawing/2014/main" id="{E4222474-270E-468E-96DF-D6C876135A96}"/>
              </a:ext>
            </a:extLst>
          </p:cNvPr>
          <p:cNvSpPr>
            <a:spLocks xmlns:a="http://schemas.openxmlformats.org/drawingml/2006/main" noGrp="1"/>
          </p:cNvSpPr>
          <p:nvPr/>
        </p:nvSpPr>
        <p:spPr>
          <a:xfrm xmlns:a="http://schemas.openxmlformats.org/drawingml/2006/main">
            <a:off x="8905875" y="285750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356A96"/>
                </a:solidFill>
                <a:latin typeface="Arial"/>
                <a:ea typeface="Arial"/>
                <a:cs typeface="Arial"/>
              </a:defRPr>
            </a:pPr>
            <a:r>
              <a:rPr sz="1350" b="1">
                <a:solidFill>
                  <a:srgbClr val="356A96"/>
                </a:solidFill>
                <a:latin typeface="Arial"/>
                <a:ea typeface="Arial"/>
                <a:cs typeface="Arial"/>
              </a:rPr>
              <a:t>Prueba</a:t>
            </a:r>
          </a:p>
        </p:txBody>
      </p:sp>
      <p:sp>
        <p:nvSpPr>
          <p:cNvPr id="9" name="">
            <a:extLst xmlns:a="http://schemas.openxmlformats.org/drawingml/2006/main">
              <a:ext uri="{FF2B5EF4-FFF2-40B4-BE49-F238E27FC236}">
                <a16:creationId xmlns:a16="http://schemas.microsoft.com/office/drawing/2014/main" id="{405757CE-98E0-48F7-A04D-046923A385F0}"/>
              </a:ext>
            </a:extLst>
          </p:cNvPr>
          <p:cNvSpPr>
            <a:spLocks xmlns:a="http://schemas.openxmlformats.org/drawingml/2006/main" noGrp="1"/>
          </p:cNvSpPr>
          <p:nvPr/>
        </p:nvSpPr>
        <p:spPr>
          <a:xfrm xmlns:a="http://schemas.openxmlformats.org/drawingml/2006/main">
            <a:off x="8905875" y="3238500"/>
            <a:ext cx="2619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7212B"/>
                </a:solidFill>
                <a:latin typeface="Arial"/>
                <a:ea typeface="Arial"/>
                <a:cs typeface="Arial"/>
              </a:defRPr>
            </a:pPr>
            <a:r>
              <a:rPr sz="2025" b="1">
                <a:solidFill>
                  <a:srgbClr val="17212B"/>
                </a:solidFill>
                <a:latin typeface="Arial"/>
                <a:ea typeface="Arial"/>
                <a:cs typeface="Arial"/>
              </a:rPr>
              <a:t>27,50 % frente a 2,40 %</a:t>
            </a:r>
          </a:p>
        </p:txBody>
      </p:sp>
      <p:sp>
        <p:nvSpPr>
          <p:cNvPr id="10" name="">
            <a:extLst xmlns:a="http://schemas.openxmlformats.org/drawingml/2006/main">
              <a:ext uri="{FF2B5EF4-FFF2-40B4-BE49-F238E27FC236}">
                <a16:creationId xmlns:a16="http://schemas.microsoft.com/office/drawing/2014/main" id="{31A85856-BA18-40C8-B0A8-5DDA394861B3}"/>
              </a:ext>
            </a:extLst>
          </p:cNvPr>
          <p:cNvSpPr>
            <a:spLocks xmlns:a="http://schemas.openxmlformats.org/drawingml/2006/main" noGrp="1"/>
          </p:cNvSpPr>
          <p:nvPr/>
        </p:nvSpPr>
        <p:spPr>
          <a:xfrm xmlns:a="http://schemas.openxmlformats.org/drawingml/2006/main">
            <a:off x="8905875" y="4238625"/>
            <a:ext cx="257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B6570"/>
                </a:solidFill>
                <a:latin typeface="Arial"/>
                <a:ea typeface="Arial"/>
                <a:cs typeface="Arial"/>
              </a:defRPr>
            </a:pPr>
            <a:r>
              <a:rPr sz="1425" b="0">
                <a:solidFill>
                  <a:srgbClr val="5B6570"/>
                </a:solidFill>
                <a:latin typeface="Arial"/>
                <a:ea typeface="Arial"/>
                <a:cs typeface="Arial"/>
              </a:rPr>
              <a:t>La estabilidad respalda la asociación descriptiva. Todavía no mide capacidad predictiva.</a:t>
            </a:r>
          </a:p>
        </p:txBody>
      </p:sp>
      <p:sp>
        <p:nvSpPr>
          <p:cNvPr id="11" name="">
            <a:extLst xmlns:a="http://schemas.openxmlformats.org/drawingml/2006/main">
              <a:ext uri="{FF2B5EF4-FFF2-40B4-BE49-F238E27FC236}">
                <a16:creationId xmlns:a16="http://schemas.microsoft.com/office/drawing/2014/main" id="{A94A37D8-F2C7-4C82-8A71-316DBFCFBD51}"/>
              </a:ext>
            </a:extLst>
          </p:cNvPr>
          <p:cNvSpPr>
            <a:spLocks xmlns:a="http://schemas.openxmlformats.org/drawingml/2006/main" noGrp="1"/>
          </p:cNvSpPr>
          <p:nvPr/>
        </p:nvSpPr>
        <p:spPr>
          <a:xfrm xmlns:a="http://schemas.openxmlformats.org/drawingml/2006/main">
            <a:off x="666750" y="5953125"/>
            <a:ext cx="933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0">
                <a:solidFill>
                  <a:srgbClr val="5B6570"/>
                </a:solidFill>
                <a:latin typeface="Arial"/>
                <a:ea typeface="Arial"/>
                <a:cs typeface="Arial"/>
              </a:defRPr>
            </a:pPr>
            <a:r>
              <a:rPr sz="1050" b="0">
                <a:solidFill>
                  <a:srgbClr val="5B6570"/>
                </a:solidFill>
                <a:latin typeface="Arial"/>
                <a:ea typeface="Arial"/>
                <a:cs typeface="Arial"/>
              </a:rPr>
              <a:t>Fuente: elaboración propia con la partición 80/20 de la Fase 2.</a:t>
            </a:r>
          </a:p>
        </p:txBody>
      </p:sp>
    </p:spTree>
    <p:extLst>
      <p:ext uri="{BB962C8B-B14F-4D97-AF65-F5344CB8AC3E}">
        <p14:creationId xmlns:p14="http://schemas.microsoft.com/office/powerpoint/2010/main" val="174712028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394791A-F53D-4FB3-9206-23DC44D4315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5B8DB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CD3F2BD-9BD9-4445-AFE1-2F562D15890F}"/>
              </a:ext>
            </a:extLst>
          </p:cNvPr>
          <p:cNvSpPr>
            <a:spLocks xmlns:a="http://schemas.openxmlformats.org/drawingml/2006/main" noGrp="1"/>
          </p:cNvSpPr>
          <p:nvPr/>
        </p:nvSpPr>
        <p:spPr>
          <a:xfrm xmlns:a="http://schemas.openxmlformats.org/drawingml/2006/main">
            <a:off x="552450" y="3429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12B"/>
                </a:solidFill>
                <a:latin typeface="Arial"/>
                <a:ea typeface="Arial"/>
                <a:cs typeface="Arial"/>
              </a:defRPr>
            </a:pPr>
            <a:r>
              <a:rPr sz="2550" b="1">
                <a:solidFill>
                  <a:srgbClr val="17212B"/>
                </a:solidFill>
                <a:latin typeface="Arial"/>
                <a:ea typeface="Arial"/>
                <a:cs typeface="Arial"/>
              </a:rPr>
              <a:t>Conclusiones y siguiente paso</a:t>
            </a:r>
          </a:p>
        </p:txBody>
      </p:sp>
      <p:sp>
        <p:nvSpPr>
          <p:cNvPr id="3" name="">
            <a:extLst xmlns:a="http://schemas.openxmlformats.org/drawingml/2006/main">
              <a:ext uri="{FF2B5EF4-FFF2-40B4-BE49-F238E27FC236}">
                <a16:creationId xmlns:a16="http://schemas.microsoft.com/office/drawing/2014/main" id="{22C16029-8621-49C0-A566-C99A62FB632E}"/>
              </a:ext>
            </a:extLst>
          </p:cNvPr>
          <p:cNvSpPr>
            <a:spLocks xmlns:a="http://schemas.openxmlformats.org/drawingml/2006/main" noGrp="1"/>
          </p:cNvSpPr>
          <p:nvPr/>
        </p:nvSpPr>
        <p:spPr>
          <a:xfrm xmlns:a="http://schemas.openxmlformats.org/drawingml/2006/main">
            <a:off x="11334750" y="63055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b="0">
                <a:solidFill>
                  <a:srgbClr val="5B6570"/>
                </a:solidFill>
                <a:latin typeface="Arial"/>
                <a:ea typeface="Arial"/>
                <a:cs typeface="Arial"/>
              </a:defRPr>
            </a:pPr>
            <a:r>
              <a:rPr sz="1050" b="0">
                <a:solidFill>
                  <a:srgbClr val="5B6570"/>
                </a:solidFill>
                <a:latin typeface="Arial"/>
                <a:ea typeface="Arial"/>
                <a:cs typeface="Arial"/>
              </a:rPr>
              <a:t>8</a:t>
            </a:r>
          </a:p>
        </p:txBody>
      </p:sp>
      <p:sp>
        <p:nvSpPr>
          <p:cNvPr id="4" name="">
            <a:extLst xmlns:a="http://schemas.openxmlformats.org/drawingml/2006/main">
              <a:ext uri="{FF2B5EF4-FFF2-40B4-BE49-F238E27FC236}">
                <a16:creationId xmlns:a16="http://schemas.microsoft.com/office/drawing/2014/main" id="{3D948796-ACD1-4E5D-974A-8BBB76FE5D4C}"/>
              </a:ext>
            </a:extLst>
          </p:cNvPr>
          <p:cNvSpPr>
            <a:spLocks xmlns:a="http://schemas.openxmlformats.org/drawingml/2006/main" noGrp="1"/>
          </p:cNvSpPr>
          <p:nvPr/>
        </p:nvSpPr>
        <p:spPr>
          <a:xfrm xmlns:a="http://schemas.openxmlformats.org/drawingml/2006/main">
            <a:off x="857250" y="1381125"/>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356A96"/>
                </a:solidFill>
                <a:latin typeface="Arial"/>
                <a:ea typeface="Arial"/>
                <a:cs typeface="Arial"/>
              </a:defRPr>
            </a:pPr>
            <a:r>
              <a:rPr sz="1650" b="1">
                <a:solidFill>
                  <a:srgbClr val="356A96"/>
                </a:solidFill>
                <a:latin typeface="Arial"/>
                <a:ea typeface="Arial"/>
                <a:cs typeface="Arial"/>
              </a:rPr>
              <a:t>Conclusión</a:t>
            </a:r>
          </a:p>
        </p:txBody>
      </p:sp>
      <p:sp>
        <p:nvSpPr>
          <p:cNvPr id="5" name="">
            <a:extLst xmlns:a="http://schemas.openxmlformats.org/drawingml/2006/main">
              <a:ext uri="{FF2B5EF4-FFF2-40B4-BE49-F238E27FC236}">
                <a16:creationId xmlns:a16="http://schemas.microsoft.com/office/drawing/2014/main" id="{E1FB3DD4-CBBC-4D59-97B2-21A2ADA49448}"/>
              </a:ext>
            </a:extLst>
          </p:cNvPr>
          <p:cNvSpPr>
            <a:spLocks xmlns:a="http://schemas.openxmlformats.org/drawingml/2006/main" noGrp="1"/>
          </p:cNvSpPr>
          <p:nvPr/>
        </p:nvSpPr>
        <p:spPr>
          <a:xfrm xmlns:a="http://schemas.openxmlformats.org/drawingml/2006/main">
            <a:off x="857250" y="1809750"/>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1">
                <a:solidFill>
                  <a:srgbClr val="17212B"/>
                </a:solidFill>
                <a:latin typeface="Arial"/>
                <a:ea typeface="Arial"/>
                <a:cs typeface="Arial"/>
              </a:defRPr>
            </a:pPr>
            <a:r>
              <a:rPr sz="1950" b="1">
                <a:solidFill>
                  <a:srgbClr val="17212B"/>
                </a:solidFill>
                <a:latin typeface="Arial"/>
                <a:ea typeface="Arial"/>
                <a:cs typeface="Arial"/>
              </a:rPr>
              <a:t>La baja velocidad, el torque alto y el desgaste alto forman el perfil con la asociación más marcada con las fallas del conjunto.</a:t>
            </a:r>
          </a:p>
        </p:txBody>
      </p:sp>
      <p:sp>
        <p:nvSpPr>
          <p:cNvPr id="6" name="">
            <a:extLst xmlns:a="http://schemas.openxmlformats.org/drawingml/2006/main">
              <a:ext uri="{FF2B5EF4-FFF2-40B4-BE49-F238E27FC236}">
                <a16:creationId xmlns:a16="http://schemas.microsoft.com/office/drawing/2014/main" id="{E4ACC0AD-CA1C-4716-BECA-0D5583284D64}"/>
              </a:ext>
            </a:extLst>
          </p:cNvPr>
          <p:cNvSpPr>
            <a:spLocks xmlns:a="http://schemas.openxmlformats.org/drawingml/2006/main" noGrp="1"/>
          </p:cNvSpPr>
          <p:nvPr/>
        </p:nvSpPr>
        <p:spPr>
          <a:xfrm xmlns:a="http://schemas.openxmlformats.org/drawingml/2006/main">
            <a:off x="857250" y="2781300"/>
            <a:ext cx="10287000" cy="19050"/>
          </a:xfrm>
          <a:prstGeom xmlns:a="http://schemas.openxmlformats.org/drawingml/2006/main" prst="rect">
            <a:avLst/>
          </a:prstGeom>
          <a:solidFill xmlns:a="http://schemas.openxmlformats.org/drawingml/2006/main">
            <a:srgbClr val="D7DCE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38CBB3D-4C1F-403D-9A78-D7470BE96B30}"/>
              </a:ext>
            </a:extLst>
          </p:cNvPr>
          <p:cNvSpPr>
            <a:spLocks xmlns:a="http://schemas.openxmlformats.org/drawingml/2006/main" noGrp="1"/>
          </p:cNvSpPr>
          <p:nvPr/>
        </p:nvSpPr>
        <p:spPr>
          <a:xfrm xmlns:a="http://schemas.openxmlformats.org/drawingml/2006/main">
            <a:off x="857250" y="3095625"/>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C94C4C"/>
                </a:solidFill>
                <a:latin typeface="Arial"/>
                <a:ea typeface="Arial"/>
                <a:cs typeface="Arial"/>
              </a:defRPr>
            </a:pPr>
            <a:r>
              <a:rPr sz="1650" b="1">
                <a:solidFill>
                  <a:srgbClr val="C94C4C"/>
                </a:solidFill>
                <a:latin typeface="Arial"/>
                <a:ea typeface="Arial"/>
                <a:cs typeface="Arial"/>
              </a:rPr>
              <a:t>Límites</a:t>
            </a:r>
          </a:p>
        </p:txBody>
      </p:sp>
      <p:sp>
        <p:nvSpPr>
          <p:cNvPr id="8" name="">
            <a:extLst xmlns:a="http://schemas.openxmlformats.org/drawingml/2006/main">
              <a:ext uri="{FF2B5EF4-FFF2-40B4-BE49-F238E27FC236}">
                <a16:creationId xmlns:a16="http://schemas.microsoft.com/office/drawing/2014/main" id="{8D4F7D02-3A3B-4BF3-B89E-33721FA4D645}"/>
              </a:ext>
            </a:extLst>
          </p:cNvPr>
          <p:cNvSpPr>
            <a:spLocks xmlns:a="http://schemas.openxmlformats.org/drawingml/2006/main" noGrp="1"/>
          </p:cNvSpPr>
          <p:nvPr/>
        </p:nvSpPr>
        <p:spPr>
          <a:xfrm xmlns:a="http://schemas.openxmlformats.org/drawingml/2006/main">
            <a:off x="857250" y="35242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AI4I 2020 es sintético y presenta pocos problemas de calidad. El análisis describe asociaciones y no demuestra causalidad ni rendimiento predictivo.</a:t>
            </a:r>
          </a:p>
        </p:txBody>
      </p:sp>
      <p:sp>
        <p:nvSpPr>
          <p:cNvPr id="9" name="">
            <a:extLst xmlns:a="http://schemas.openxmlformats.org/drawingml/2006/main">
              <a:ext uri="{FF2B5EF4-FFF2-40B4-BE49-F238E27FC236}">
                <a16:creationId xmlns:a16="http://schemas.microsoft.com/office/drawing/2014/main" id="{3269AE5D-AB17-4512-B1FF-E7BEDA89AB20}"/>
              </a:ext>
            </a:extLst>
          </p:cNvPr>
          <p:cNvSpPr>
            <a:spLocks xmlns:a="http://schemas.openxmlformats.org/drawingml/2006/main" noGrp="1"/>
          </p:cNvSpPr>
          <p:nvPr/>
        </p:nvSpPr>
        <p:spPr>
          <a:xfrm xmlns:a="http://schemas.openxmlformats.org/drawingml/2006/main">
            <a:off x="857250" y="4476750"/>
            <a:ext cx="10287000" cy="19050"/>
          </a:xfrm>
          <a:prstGeom xmlns:a="http://schemas.openxmlformats.org/drawingml/2006/main" prst="rect">
            <a:avLst/>
          </a:prstGeom>
          <a:solidFill xmlns:a="http://schemas.openxmlformats.org/drawingml/2006/main">
            <a:srgbClr val="D7DCE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D4C83AB-A42D-4E43-B266-8BB09BC4798A}"/>
              </a:ext>
            </a:extLst>
          </p:cNvPr>
          <p:cNvSpPr>
            <a:spLocks xmlns:a="http://schemas.openxmlformats.org/drawingml/2006/main" noGrp="1"/>
          </p:cNvSpPr>
          <p:nvPr/>
        </p:nvSpPr>
        <p:spPr>
          <a:xfrm xmlns:a="http://schemas.openxmlformats.org/drawingml/2006/main">
            <a:off x="857250" y="4810125"/>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447A5A"/>
                </a:solidFill>
                <a:latin typeface="Arial"/>
                <a:ea typeface="Arial"/>
                <a:cs typeface="Arial"/>
              </a:defRPr>
            </a:pPr>
            <a:r>
              <a:rPr sz="1650" b="1">
                <a:solidFill>
                  <a:srgbClr val="447A5A"/>
                </a:solidFill>
                <a:latin typeface="Arial"/>
                <a:ea typeface="Arial"/>
                <a:cs typeface="Arial"/>
              </a:rPr>
              <a:t>Siguiente paso</a:t>
            </a:r>
          </a:p>
        </p:txBody>
      </p:sp>
      <p:sp>
        <p:nvSpPr>
          <p:cNvPr id="11" name="">
            <a:extLst xmlns:a="http://schemas.openxmlformats.org/drawingml/2006/main">
              <a:ext uri="{FF2B5EF4-FFF2-40B4-BE49-F238E27FC236}">
                <a16:creationId xmlns:a16="http://schemas.microsoft.com/office/drawing/2014/main" id="{7D03B6FD-3B2F-4235-B9F9-1FCD81B25E46}"/>
              </a:ext>
            </a:extLst>
          </p:cNvPr>
          <p:cNvSpPr>
            <a:spLocks xmlns:a="http://schemas.openxmlformats.org/drawingml/2006/main" noGrp="1"/>
          </p:cNvSpPr>
          <p:nvPr/>
        </p:nvSpPr>
        <p:spPr>
          <a:xfrm xmlns:a="http://schemas.openxmlformats.org/drawingml/2006/main">
            <a:off x="857250" y="52387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Contrastar el perfil con datos reales de mantenimiento y, después, evaluar un modelo supervisado con métricas adecuadas para clases desbalanceadas.</a:t>
            </a:r>
          </a:p>
        </p:txBody>
      </p:sp>
    </p:spTree>
    <p:extLst>
      <p:ext uri="{BB962C8B-B14F-4D97-AF65-F5344CB8AC3E}">
        <p14:creationId xmlns:p14="http://schemas.microsoft.com/office/powerpoint/2010/main" val="4961841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2026-10-04T23:00:41.1990000Z</dcterms:created>
  <dcterms:modified xsi:type="dcterms:W3CDTF">2026-10-04T23:00:41.1990000Z</dcterms:modified>
</coreProperties>
</file>