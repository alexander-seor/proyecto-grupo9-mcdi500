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3c6a88949a945c0" Type="http://schemas.openxmlformats.org/officeDocument/2006/relationships/officeDocument" Target="ppt/presentation.xml"/><Relationship Id="R45234c7df07640d8" Type="http://schemas.openxmlformats.org/officeDocument/2006/relationships/extended-properties" Target="docProps/app.xml"/><Relationship Id="Rab806df151f1488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752defd37b24b70"/>
  </p:sldMasterIdLst>
  <p:notesMasterIdLst>
    <p:notesMasterId xmlns:r="http://schemas.openxmlformats.org/officeDocument/2006/relationships" r:id="R312393077bf4417d"/>
  </p:notesMasterIdLst>
  <p:sldIdLst>
    <p:sldId xmlns:r="http://schemas.openxmlformats.org/officeDocument/2006/relationships" id="256" r:id="Rc2ffebf808ff4ac5"/>
    <p:sldId xmlns:r="http://schemas.openxmlformats.org/officeDocument/2006/relationships" id="257" r:id="R7f2d411074894e7f"/>
    <p:sldId xmlns:r="http://schemas.openxmlformats.org/officeDocument/2006/relationships" id="258" r:id="R6eaea5ac48f94374"/>
    <p:sldId xmlns:ns0="http://schemas.openxmlformats.org/officeDocument/2006/relationships" id="264" ns0:id="rId14"/>
    <p:sldId xmlns:ns0="http://schemas.openxmlformats.org/officeDocument/2006/relationships" id="265" ns0:id="rId15"/>
    <p:sldId xmlns:ns0="http://schemas.openxmlformats.org/officeDocument/2006/relationships" id="266" ns0:id="rId16"/>
    <p:sldId xmlns:ns0="http://schemas.openxmlformats.org/officeDocument/2006/relationships" id="267" ns0:id="rId17"/>
    <p:sldId xmlns:ns0="http://schemas.openxmlformats.org/officeDocument/2006/relationships" id="268" ns0:id="rId18"/>
    <p:sldId xmlns:r="http://schemas.openxmlformats.org/officeDocument/2006/relationships" id="259" r:id="R55aa6675601c4d8d"/>
    <p:sldId xmlns:r="http://schemas.openxmlformats.org/officeDocument/2006/relationships" id="260" r:id="Ra4db219e04324ab1"/>
    <p:sldId xmlns:r="http://schemas.openxmlformats.org/officeDocument/2006/relationships" id="261" r:id="Rfe928034f8c44ea5"/>
    <p:sldId xmlns:ns0="http://schemas.openxmlformats.org/officeDocument/2006/relationships" id="269" ns0:id="rId19"/>
    <p:sldId xmlns:r="http://schemas.openxmlformats.org/officeDocument/2006/relationships" id="263" r:id="R046840983d694b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6840983d694bfe" Type="http://schemas.openxmlformats.org/officeDocument/2006/relationships/slide" Target="slides/slide8.xml"/><Relationship Id="R312393077bf4417d" Type="http://schemas.openxmlformats.org/officeDocument/2006/relationships/notesMaster" Target="notesMasters/notesMaster1.xml"/><Relationship Id="R55aa6675601c4d8d" Type="http://schemas.openxmlformats.org/officeDocument/2006/relationships/slide" Target="slides/slide4.xml"/><Relationship Id="R6e77abd857754734" Type="http://schemas.openxmlformats.org/officeDocument/2006/relationships/presProps" Target="presProps.xml"/><Relationship Id="R6eaea5ac48f94374" Type="http://schemas.openxmlformats.org/officeDocument/2006/relationships/slide" Target="slides/slide3.xml"/><Relationship Id="R7f2d411074894e7f" Type="http://schemas.openxmlformats.org/officeDocument/2006/relationships/slide" Target="slides/slide2.xml"/><Relationship Id="Ra4db219e04324ab1" Type="http://schemas.openxmlformats.org/officeDocument/2006/relationships/slide" Target="slides/slide5.xml"/><Relationship Id="Rae02a3bc7960474c" Type="http://schemas.openxmlformats.org/officeDocument/2006/relationships/tableStyles" Target="tableStyles.xml"/><Relationship Id="Rc2ffebf808ff4ac5" Type="http://schemas.openxmlformats.org/officeDocument/2006/relationships/slide" Target="slides/slide1.xml"/><Relationship Id="Rd752defd37b24b70" Type="http://schemas.openxmlformats.org/officeDocument/2006/relationships/slideMaster" Target="slideMasters/slideMaster1.xml"/><Relationship Id="Refc620a06a6141a4" Type="http://schemas.openxmlformats.org/officeDocument/2006/relationships/theme" Target="theme/theme1.xml"/><Relationship Id="Rfe928034f8c44ea5" Type="http://schemas.openxmlformats.org/officeDocument/2006/relationships/slide" Target="slides/slide6.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cf35d4275b7c471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d3411ee8b544103" Type="http://schemas.openxmlformats.org/officeDocument/2006/relationships/notesMaster" Target="../notesMasters/notesMaster1.xml"/><Relationship Id="R38b33711aae8401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937a9a402734fc7" Type="http://schemas.openxmlformats.org/officeDocument/2006/relationships/slide" Target="../slides/slide2.xml"/><Relationship Id="Rd23924f0e4ad4959"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bea2dee864b47d5" Type="http://schemas.openxmlformats.org/officeDocument/2006/relationships/slide" Target="../slides/slide3.xml"/><Relationship Id="R96ac82e5a3144025"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5cf6774a81594197" Type="http://schemas.openxmlformats.org/officeDocument/2006/relationships/slide" Target="../slides/slide4.xml"/><Relationship Id="Rf8f1cf24810f47cf"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ffd82a266534452" Type="http://schemas.openxmlformats.org/officeDocument/2006/relationships/slide" Target="../slides/slide5.xml"/><Relationship Id="R667fc092f1f541cb"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a182e6441a014826" Type="http://schemas.openxmlformats.org/officeDocument/2006/relationships/slide" Target="../slides/slide6.xml"/><Relationship Id="Rd881167be09a414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ed6dfa889024195" Type="http://schemas.openxmlformats.org/officeDocument/2006/relationships/notesMaster" Target="../notesMasters/notesMaster1.xml"/><Relationship Id="Re72fe41c8111408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Hola, soy Alexander Sepúlveda. Voy a presentar mi proyecto de la asignatura, que desarrollé de forma individual en cuatro fases. El trabajo analiza qué condiciones de operación aparecen junto con las fallas de maquinaria en el conjunto AI4I 2020. Más que mostrar solo el resultado, quiero mostrar el proceso: qué decisiones tomé, cómo las comprobé y qué aprendí.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pregunta del proyecto es qué condiciones de operación aparecen con más frecuencia junto con las fallas. Esto sirve para decidir qué revisar primero. El conjunto tiene diez mil registros y catorce variables, y solo 339 son fallas, un 3,39 %. Dos aclaraciones: es un conjunto sintético, es decir, generado por simulación para parecerse a una operación real, no medido en una planta. Y la variable Type indica la calidad del producto: L es baja, M media y H alta.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proyecto avanzó en cuatro fases conectadas. En la primera definí el problema y el entorno reproducible. En la segunda preparé los datos. En la tercera convertí ese proceso en código modular, con pruebas y mediciones. Y en la cuarta integré todo para analizar y comunicar. Ahora muestro las decisiones de cada etapa.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 los datos ya interpretables, el primer resultado compara los tipos de producto. El tipo L, de calidad baja, tiene la mayor tasa de falla, con 3,92 %. M llega a 2,77 % y H a 2,09 %. Es una diferencia descriptiva: no prueba que el tipo cause la falla.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Luego dividí cada variable en quintiles, es decir, cinco grupos del mismo tamaño, de los valores más bajos a los más altos. La velocidad baja alcanza 12,16 % de fallas, el torque alto 11,50 % y el desgaste alto 8,14 %. La temperatura del proceso, en cambio, no muestra una tendencia clara. Estos cortes describen este conjunto, no son límites para una máquina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Después combiné las tres condiciones más marcadas: velocidad baja, torque alto y desgaste alto. Los cortes se calcularon solo con entrenamiento. En ese perfil hay 101 fallas en 353 registros, un 28,61 %, frente al 3,39 % general. Al aplicar los mismos cortes a prueba, el resultado se mantuvo: 28,94 % en entrenamiento y 27,50 % en prueba, contra cerca de 2,4 % en el resto. Esto refuerza el hallazgo, pero no es una evaluación predictiva: no entrené un 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 cerrar: la combinación de velocidad baja, torque alto y desgaste alto es la que más se asocia con las fallas, y se mantiene entre entrenamiento y prueba. El límite principal es que el conjunto es sintético y que esto describe asociaciones, no causas. El siguiente paso sería probar el perfil con datos reales y luego entrenar un modelo con métricas para clases desbalanceadas. Gracias.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Fase 2 tomé varias decisiones antes de transformar. Primero, el diagnóstico mostró cero valores faltantes y cero duplicados, así que no imputé ni eliminé filas: inventar errores habría sido peor. Segundo, excluí UDI y Product ID, porque solo identifican el registro. Tercero, excluí los cinco modos de falla, como TWF o HDF. Esos campos ya dicen qué falló, y usarlos sería fuga de información: es como entregar la respuesta junto con la pregunta. También conservé los valores extremos de velocidad y torque, porque pueden estar ligados a la falla. Y algo importante: como solo el 3,39 % falla, alguien que dijera siempre «no falla» acertaría el 96,61 % sin detectar ninguna falla. Por eso la exactitud no sirve aquí.</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Luego vienen las transformaciones. El orden importa: primero dividí los datos en 80 % entrenamiento y 20 % prueba, estratificando para que ambas partes tengan la misma proporción de fallas, y con semilla 42 para repetirlo. Después, Type se transformó con One Hot Encoding: la letra L, M o H se convierte en tres columnas con ceros y unos. Así el código entiende la categoría sin suponer un orden falso entre ellas. Las cinco variables numéricas se escalaron con RobustScaler, que resta la mediana y divide por el rango intercuartílico. Lo elegí porque los valores extremos lo afectan menos. La clave es que estos parámetros se aprenden solo con entrenamiento y se aplican igual a prueba. El resultado son nueve columnas.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Fase 3 reorganicé ese mismo procesamiento con programación orientada a objetos. Hay una clase base, Transformador, con dos métodos: ajustar y transformar. De ella heredan CodificadorOneHot y EscaladorRobusto; eso es herencia, porque reutilizan la validación de la base. El pipeline llama los mismos métodos en cada objeto, sin saber cuál es: eso es polimorfismo. Y cada objeto guarda internamente lo que aprendió, por eso no se puede transformar sin ajustar antes: eso es encapsulamiento. Además usé el patrón Factory, que crea el transformador correcto según el tipo de variable. El pipeline usa un ciclo, porque los pasos van uno tras otro y no hacía falta recursividad.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confiar en el nuevo diseño, lo probé. Hice un caso normal con el pipeline completo, un caso límite con una sola fila y dos excepciones: transformar antes de ajustar y usar una categoría que no se había aprendido. En ambos casos el código responde con un error claro. La prueba más importante fue assert_frame_equal, que confirmó que F3 entrega exactamente lo mismo que F2. Para la eficiencia usé timeit, que repite la medición y se queda con el menor tiempo, y tracemalloc, que mide la memoria máxima. La versión funcional fue más rápida y usó menos memoria. Aun así, conservé la POO porque es más fácil de mantener, y ambas crecen de forma lineal.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Fase 4 apareció un problema práctico. Los datos de F3 estaban listos para el código, pero no para una persona: los valores estaban escalados y Type estaba repartido en tres columnas. Por eso revertí el escalamiento: multipliqué por el IQR y sumé la mediana guardados en F3, y así volví a revoluciones por minuto, newton metro y minutos. Type se reconstruyó tomando la columna que vale uno. Luego comprobé que las diez mil filas coincidían con el archivo original. Aquí aprendí que los datos para el código y los datos para graficar no son los mismos.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Más allá del resultado, el proceso dejó aprendizajes concretos. Dividir antes de transformar evita la fuga de información. Un conjunto limpio también es un resultado, y corresponde documentarlo en vez de inventar errores. Con pocas fallas, la exactitud engaña. Comprobar la equivalencia entre fases da seguridad al cambiar el diseño. Lo más rápido no siempre es lo más conveniente. Y para interpretar resultados hay que volver a las unidades reales.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20501a655a645f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2c9f9961054b27" Type="http://schemas.openxmlformats.org/officeDocument/2006/relationships/theme" Target="theme/theme2.xml"/><Relationship Id="Ra3d14addf5ce488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d14addf5ce48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2ffe2c6fab740e1" Type="http://schemas.openxmlformats.org/officeDocument/2006/relationships/slideLayout" Target="../slideLayouts/slideLayout1.xml"/><Relationship Id="Rfcd716b7ceb54aef"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ce3201dcd1414332" Type="http://schemas.openxmlformats.org/officeDocument/2006/relationships/notesSlide" Target="../notesSlides/notesSlide2.xml"/><Relationship Id="Rf7dfd4c098994924"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b3bbdada9fd4dc8" Type="http://schemas.openxmlformats.org/officeDocument/2006/relationships/slideLayout" Target="../slideLayouts/slideLayout1.xml"/><Relationship Id="Rda6358604adc452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6e677d209644ac6" Type="http://schemas.openxmlformats.org/officeDocument/2006/relationships/slideLayout" Target="../slideLayouts/slideLayout1.xml"/><Relationship Id="R2718f04d0ae34fa4" Type="http://schemas.openxmlformats.org/officeDocument/2006/relationships/image" Target="../media/image.png"/><Relationship Id="R49a4e8fc645f4a8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45631926d3b494d" Type="http://schemas.openxmlformats.org/officeDocument/2006/relationships/slideLayout" Target="../slideLayouts/slideLayout1.xml"/><Relationship Id="R885a08eecf024de5" Type="http://schemas.openxmlformats.org/officeDocument/2006/relationships/image" Target="../media/image2.png"/><Relationship Id="Re71687b830b1460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568f3619c00452d" Type="http://schemas.openxmlformats.org/officeDocument/2006/relationships/slideLayout" Target="../slideLayouts/slideLayout1.xml"/><Relationship Id="Ra49d8d872fbe43ca" Type="http://schemas.openxmlformats.org/officeDocument/2006/relationships/notesSlide" Target="../notesSlides/notesSlide6.xml"/><Relationship Id="Rebb7659839f64702" Type="http://schemas.openxmlformats.org/officeDocument/2006/relationships/image" Target="../media/image3.png"/></Relationships>
</file>

<file path=ppt/slides/_rels/slide8.xml.rels><?xml version='1.0' encoding='UTF-8' standalone='yes'?>
<Relationships xmlns="http://schemas.openxmlformats.org/package/2006/relationships"><Relationship Id="R3a0b9f041c5c45fa" Type="http://schemas.openxmlformats.org/officeDocument/2006/relationships/slideLayout" Target="../slideLayouts/slideLayout1.xml"/><Relationship Id="Rd6104b7ebd0e4f6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BC71C1-8341-4B40-B4F2-3978F7DC818C}"/>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9D8C9F-CCA8-491C-8617-AFAA087DBE89}"/>
              </a:ext>
            </a:extLst>
          </p:cNvPr>
          <p:cNvSpPr>
            <a:spLocks xmlns:a="http://schemas.openxmlformats.org/drawingml/2006/main" noGrp="1"/>
          </p:cNvSpPr>
          <p:nvPr/>
        </p:nvSpPr>
        <p:spPr>
          <a:xfrm xmlns:a="http://schemas.openxmlformats.org/drawingml/2006/main">
            <a:off x="742950" y="120015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356A96"/>
                </a:solidFill>
                <a:latin typeface="Arial"/>
                <a:ea typeface="Arial"/>
                <a:cs typeface="Arial"/>
              </a:defRPr>
            </a:pPr>
            <a:r>
              <a:rPr sz="1650" b="1">
                <a:solidFill>
                  <a:srgbClr val="356A96"/>
                </a:solidFill>
                <a:latin typeface="Arial"/>
                <a:ea typeface="Arial"/>
                <a:cs typeface="Arial"/>
              </a:rPr>
              <a:t>Proyecto final integrador</a:t>
            </a:r>
          </a:p>
        </p:txBody>
      </p:sp>
      <p:sp>
        <p:nvSpPr>
          <p:cNvPr id="3" name="">
            <a:extLst xmlns:a="http://schemas.openxmlformats.org/drawingml/2006/main">
              <a:ext uri="{FF2B5EF4-FFF2-40B4-BE49-F238E27FC236}">
                <a16:creationId xmlns:a16="http://schemas.microsoft.com/office/drawing/2014/main" id="{FD50B361-2ED5-4BE6-8A64-3B90E471798E}"/>
              </a:ext>
            </a:extLst>
          </p:cNvPr>
          <p:cNvSpPr>
            <a:spLocks xmlns:a="http://schemas.openxmlformats.org/drawingml/2006/main" noGrp="1"/>
          </p:cNvSpPr>
          <p:nvPr/>
        </p:nvSpPr>
        <p:spPr>
          <a:xfrm xmlns:a="http://schemas.openxmlformats.org/drawingml/2006/main">
            <a:off x="742950" y="1857375"/>
            <a:ext cx="10001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375" b="1">
                <a:solidFill>
                  <a:srgbClr val="17212B"/>
                </a:solidFill>
                <a:latin typeface="Arial"/>
                <a:ea typeface="Arial"/>
                <a:cs typeface="Arial"/>
              </a:defRPr>
            </a:pPr>
            <a:r>
              <a:rPr sz="3375" b="1">
                <a:solidFill>
                  <a:srgbClr val="17212B"/>
                </a:solidFill>
                <a:latin typeface="Arial"/>
                <a:ea typeface="Arial"/>
                <a:cs typeface="Arial"/>
              </a:rPr>
              <a:t>Condiciones operacionales asociadas a fallas en maquinaria</a:t>
            </a:r>
          </a:p>
        </p:txBody>
      </p:sp>
      <p:sp>
        <p:nvSpPr>
          <p:cNvPr id="4" name="">
            <a:extLst xmlns:a="http://schemas.openxmlformats.org/drawingml/2006/main">
              <a:ext uri="{FF2B5EF4-FFF2-40B4-BE49-F238E27FC236}">
                <a16:creationId xmlns:a16="http://schemas.microsoft.com/office/drawing/2014/main" id="{780BDF26-5B1D-4A6C-AECE-BEC0CEB33E3B}"/>
              </a:ext>
            </a:extLst>
          </p:cNvPr>
          <p:cNvSpPr>
            <a:spLocks xmlns:a="http://schemas.openxmlformats.org/drawingml/2006/main" noGrp="1"/>
          </p:cNvSpPr>
          <p:nvPr/>
        </p:nvSpPr>
        <p:spPr>
          <a:xfrm xmlns:a="http://schemas.openxmlformats.org/drawingml/2006/main">
            <a:off x="781050" y="3429000"/>
            <a:ext cx="809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5B6570"/>
                </a:solidFill>
                <a:latin typeface="Arial"/>
                <a:ea typeface="Arial"/>
                <a:cs typeface="Arial"/>
              </a:defRPr>
            </a:pPr>
            <a:r>
              <a:rPr sz="1875" b="0">
                <a:solidFill>
                  <a:srgbClr val="5B6570"/>
                </a:solidFill>
                <a:latin typeface="Arial"/>
                <a:ea typeface="Arial"/>
                <a:cs typeface="Arial"/>
              </a:rPr>
              <a:t>Análisis descriptivo del conjunto AI4I 2020</a:t>
            </a:r>
          </a:p>
        </p:txBody>
      </p:sp>
      <p:sp>
        <p:nvSpPr>
          <p:cNvPr id="5" name="">
            <a:extLst xmlns:a="http://schemas.openxmlformats.org/drawingml/2006/main">
              <a:ext uri="{FF2B5EF4-FFF2-40B4-BE49-F238E27FC236}">
                <a16:creationId xmlns:a16="http://schemas.microsoft.com/office/drawing/2014/main" id="{175572DC-FA06-4390-865D-E4BB0EF584AD}"/>
              </a:ext>
            </a:extLst>
          </p:cNvPr>
          <p:cNvSpPr>
            <a:spLocks xmlns:a="http://schemas.openxmlformats.org/drawingml/2006/main" noGrp="1"/>
          </p:cNvSpPr>
          <p:nvPr/>
        </p:nvSpPr>
        <p:spPr>
          <a:xfrm xmlns:a="http://schemas.openxmlformats.org/drawingml/2006/main">
            <a:off x="781050" y="4171950"/>
            <a:ext cx="1428750" cy="47625"/>
          </a:xfrm>
          <a:prstGeom xmlns:a="http://schemas.openxmlformats.org/drawingml/2006/main" prst="rect">
            <a:avLst/>
          </a:prstGeom>
          <a:solidFill xmlns:a="http://schemas.openxmlformats.org/drawingml/2006/main">
            <a:srgbClr val="C94C4C"/>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AF7F77C-02B9-424C-A940-BD10A11AF760}"/>
              </a:ext>
            </a:extLst>
          </p:cNvPr>
          <p:cNvSpPr>
            <a:spLocks xmlns:a="http://schemas.openxmlformats.org/drawingml/2006/main" noGrp="1"/>
          </p:cNvSpPr>
          <p:nvPr/>
        </p:nvSpPr>
        <p:spPr>
          <a:xfrm xmlns:a="http://schemas.openxmlformats.org/drawingml/2006/main">
            <a:off x="781050" y="4495800"/>
            <a:ext cx="7810500" cy="1234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17212B"/>
                </a:solidFill>
                <a:latin typeface="Arial"/>
                <a:ea typeface="Arial"/>
                <a:cs typeface="Arial"/>
              </a:defRPr>
            </a:pPr>
            <a:r>
              <a:rPr sz="1425" b="0">
                <a:solidFill>
                  <a:srgbClr val="17212B"/>
                </a:solidFill>
                <a:latin typeface="Arial"/>
                <a:ea typeface="Arial"/>
                <a:cs typeface="Arial"/>
              </a:rPr>
              <a:t>Alexander Sepúlveda Ormazábal · Grupo 9 (trabajo individual)</a:t>
            </a:r>
          </a:p>
          <a:p xmlns:a="http://schemas.openxmlformats.org/drawingml/2006/main">
            <a:pPr algn="l">
              <a:defRPr sz="1425" b="0">
                <a:solidFill>
                  <a:srgbClr val="17212B"/>
                </a:solidFill>
                <a:latin typeface="Arial"/>
                <a:ea typeface="Arial"/>
                <a:cs typeface="Arial"/>
              </a:defRPr>
            </a:pPr>
            <a:r>
              <a:rPr sz="1425" b="0">
                <a:solidFill>
                  <a:srgbClr val="17212B"/>
                </a:solidFill>
                <a:latin typeface="Arial"/>
                <a:ea typeface="Arial"/>
                <a:cs typeface="Arial"/>
              </a:rPr>
              <a:t>Docente: Omar Salinas Silva</a:t>
            </a:r>
          </a:p>
          <a:p xmlns:a="http://schemas.openxmlformats.org/drawingml/2006/main">
            <a:pPr algn="l">
              <a:defRPr sz="1425" b="0">
                <a:solidFill>
                  <a:srgbClr val="17212B"/>
                </a:solidFill>
                <a:latin typeface="Arial"/>
                <a:ea typeface="Arial"/>
                <a:cs typeface="Arial"/>
              </a:defRPr>
            </a:pPr>
            <a:r>
              <a:rPr sz="1425" b="0">
                <a:solidFill>
                  <a:srgbClr val="17212B"/>
                </a:solidFill>
                <a:latin typeface="Arial"/>
                <a:ea typeface="Arial"/>
                <a:cs typeface="Arial"/>
              </a:rPr>
              <a:t>MCDI500 Programación para la Ciencia de Datos · 2026</a:t>
            </a:r>
          </a:p>
          <a:p xmlns:a="http://schemas.openxmlformats.org/drawingml/2006/main">
            <a:pPr algn="l">
              <a:defRPr sz="1425" b="0">
                <a:solidFill>
                  <a:srgbClr val="17212B"/>
                </a:solidFill>
                <a:latin typeface="Arial"/>
                <a:ea typeface="Arial"/>
                <a:cs typeface="Arial"/>
              </a:defRPr>
            </a:pPr>
            <a:r>
              <a:rPr sz="1425" b="0">
                <a:solidFill>
                  <a:srgbClr val="17212B"/>
                </a:solidFill>
                <a:latin typeface="Arial"/>
                <a:ea typeface="Arial"/>
                <a:cs typeface="Arial"/>
              </a:rPr>
              <a:t>github.com/alexander-seor/proyecto-grupo9-mcdi500</a:t>
            </a:r>
          </a:p>
        </p:txBody>
      </p:sp>
      <p:sp>
        <p:nvSpPr>
          <p:cNvPr id="7" name="">
            <a:extLst xmlns:a="http://schemas.openxmlformats.org/drawingml/2006/main">
              <a:ext uri="{FF2B5EF4-FFF2-40B4-BE49-F238E27FC236}">
                <a16:creationId xmlns:a16="http://schemas.microsoft.com/office/drawing/2014/main" id="{7351F4AA-F373-4045-B63B-80CEC6D9E616}"/>
              </a:ext>
            </a:extLst>
          </p:cNvPr>
          <p:cNvSpPr>
            <a:spLocks xmlns:a="http://schemas.openxmlformats.org/drawingml/2006/main" noGrp="1"/>
          </p:cNvSpPr>
          <p:nvPr/>
        </p:nvSpPr>
        <p:spPr>
          <a:xfrm xmlns:a="http://schemas.openxmlformats.org/drawingml/2006/main">
            <a:off x="10001250" y="5715000"/>
            <a:ext cx="142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950" b="1">
                <a:solidFill>
                  <a:srgbClr val="356A96"/>
                </a:solidFill>
                <a:latin typeface="Arial"/>
                <a:ea typeface="Arial"/>
                <a:cs typeface="Arial"/>
              </a:defRPr>
            </a:pPr>
            <a:r>
              <a:rPr sz="1950" b="1">
                <a:solidFill>
                  <a:srgbClr val="356A96"/>
                </a:solidFill>
                <a:latin typeface="Arial"/>
                <a:ea typeface="Arial"/>
                <a:cs typeface="Arial"/>
              </a:rPr>
              <a:t>Fase 4</a:t>
            </a:r>
          </a:p>
        </p:txBody>
      </p:sp>
      <p:pic xmlns:a="http://schemas.openxmlformats.org/drawingml/2006/main" xmlns:r="http://schemas.openxmlformats.org/officeDocument/2006/relationships">
        <p:nvPicPr>
          <p:cNvPr id="9" name="Picture 8" descr="image1.png"/>
          <p:cNvPicPr>
            <a:picLocks noChangeAspect="1"/>
          </p:cNvPicPr>
          <p:nvPr/>
        </p:nvPicPr>
        <p:blipFill>
          <a:blip r:embed="rId3"/>
          <a:stretch>
            <a:fillRect/>
          </a:stretch>
        </p:blipFill>
        <p:spPr>
          <a:xfrm>
            <a:off x="9144000" y="502920"/>
            <a:ext cx="2048608" cy="685800"/>
          </a:xfrm>
          <a:prstGeom prst="rect">
            <a:avLst/>
          </a:prstGeom>
        </p:spPr>
      </p:pic>
    </p:spTree>
    <p:extLst>
      <p:ext uri="{BB962C8B-B14F-4D97-AF65-F5344CB8AC3E}">
        <p14:creationId xmlns:p14="http://schemas.microsoft.com/office/powerpoint/2010/main" val="4812774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40A214B-139E-489D-8DB2-330C791B738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120BDF-C2C5-4FD2-9893-2B1E96F00E56}"/>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Problema y datos analizados</a:t>
            </a:r>
          </a:p>
        </p:txBody>
      </p:sp>
      <p:sp>
        <p:nvSpPr>
          <p:cNvPr id="3" name="">
            <a:extLst xmlns:a="http://schemas.openxmlformats.org/drawingml/2006/main">
              <a:ext uri="{FF2B5EF4-FFF2-40B4-BE49-F238E27FC236}">
                <a16:creationId xmlns:a16="http://schemas.microsoft.com/office/drawing/2014/main" id="{1FA29806-A059-499A-9EE2-8ABD2DCC8A8B}"/>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55F8128C-DF6B-499B-B224-C4430784F5B6}"/>
              </a:ext>
            </a:extLst>
          </p:cNvPr>
          <p:cNvSpPr>
            <a:spLocks xmlns:a="http://schemas.openxmlformats.org/drawingml/2006/main" noGrp="1"/>
          </p:cNvSpPr>
          <p:nvPr/>
        </p:nvSpPr>
        <p:spPr>
          <a:xfrm xmlns:a="http://schemas.openxmlformats.org/drawingml/2006/main">
            <a:off x="666750" y="1285875"/>
            <a:ext cx="457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1">
                <a:solidFill>
                  <a:srgbClr val="356A96"/>
                </a:solidFill>
                <a:latin typeface="Arial"/>
                <a:ea typeface="Arial"/>
                <a:cs typeface="Arial"/>
              </a:defRPr>
            </a:pPr>
            <a:r>
              <a:rPr sz="1350" b="1">
                <a:solidFill>
                  <a:srgbClr val="356A96"/>
                </a:solidFill>
                <a:latin typeface="Arial"/>
                <a:ea typeface="Arial"/>
                <a:cs typeface="Arial"/>
              </a:rPr>
              <a:t>Pregunta que orienta el proyecto</a:t>
            </a:r>
          </a:p>
        </p:txBody>
      </p:sp>
      <p:sp>
        <p:nvSpPr>
          <p:cNvPr id="5" name="">
            <a:extLst xmlns:a="http://schemas.openxmlformats.org/drawingml/2006/main">
              <a:ext uri="{FF2B5EF4-FFF2-40B4-BE49-F238E27FC236}">
                <a16:creationId xmlns:a16="http://schemas.microsoft.com/office/drawing/2014/main" id="{F2F2D68E-D02F-40D9-AD83-BF30856BCD5D}"/>
              </a:ext>
            </a:extLst>
          </p:cNvPr>
          <p:cNvSpPr>
            <a:spLocks xmlns:a="http://schemas.openxmlformats.org/drawingml/2006/main" noGrp="1"/>
          </p:cNvSpPr>
          <p:nvPr/>
        </p:nvSpPr>
        <p:spPr>
          <a:xfrm xmlns:a="http://schemas.openxmlformats.org/drawingml/2006/main">
            <a:off x="666750" y="1733550"/>
            <a:ext cx="46196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17212B"/>
                </a:solidFill>
                <a:latin typeface="Arial"/>
                <a:ea typeface="Arial"/>
                <a:cs typeface="Arial"/>
              </a:defRPr>
            </a:pPr>
            <a:r>
              <a:rPr sz="2325" b="1">
                <a:solidFill>
                  <a:srgbClr val="17212B"/>
                </a:solidFill>
                <a:latin typeface="Arial"/>
                <a:ea typeface="Arial"/>
                <a:cs typeface="Arial"/>
              </a:rPr>
              <a:t>¿Qué condiciones de operación presentan una mayor asociación con la ocurrencia de fallas?</a:t>
            </a:r>
          </a:p>
        </p:txBody>
      </p:sp>
      <p:sp>
        <p:nvSpPr>
          <p:cNvPr id="6" name="">
            <a:extLst xmlns:a="http://schemas.openxmlformats.org/drawingml/2006/main">
              <a:ext uri="{FF2B5EF4-FFF2-40B4-BE49-F238E27FC236}">
                <a16:creationId xmlns:a16="http://schemas.microsoft.com/office/drawing/2014/main" id="{6B2C67D3-C19E-499F-A2B6-743E7E8B6818}"/>
              </a:ext>
            </a:extLst>
          </p:cNvPr>
          <p:cNvSpPr>
            <a:spLocks xmlns:a="http://schemas.openxmlformats.org/drawingml/2006/main" noGrp="1"/>
          </p:cNvSpPr>
          <p:nvPr/>
        </p:nvSpPr>
        <p:spPr>
          <a:xfrm xmlns:a="http://schemas.openxmlformats.org/drawingml/2006/main">
            <a:off x="685800" y="3383280"/>
            <a:ext cx="4476750" cy="2560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spcAft>
                <a:spcPts val="900"/>
              </a:spcAft>
              <a:defRPr sz="1500" b="0">
                <a:solidFill>
                  <a:srgbClr val="5B6570"/>
                </a:solidFill>
                <a:latin typeface="Arial"/>
                <a:ea typeface="Arial"/>
                <a:cs typeface="Arial"/>
              </a:defRPr>
            </a:pPr>
            <a:r>
              <a:rPr sz="1400" b="1">
                <a:solidFill>
                  <a:srgbClr val="17212B"/>
                </a:solidFill>
                <a:latin typeface="Arial"/>
                <a:ea typeface="Arial"/>
                <a:cs typeface="Arial"/>
              </a:rPr>
              <a:t>Conjunto sintético:</a:t>
            </a:r>
            <a:r>
              <a:rPr sz="1400" b="0">
                <a:solidFill>
                  <a:srgbClr val="5B6570"/>
                </a:solidFill>
                <a:latin typeface="Arial"/>
                <a:ea typeface="Arial"/>
                <a:cs typeface="Arial"/>
              </a:rPr>
              <a:t> datos generados por simulación para parecerse a una operación real. No provienen de sensores de una planta.</a:t>
            </a:r>
          </a:p>
          <a:p xmlns:a="http://schemas.openxmlformats.org/drawingml/2006/main">
            <a:pPr algn="l">
              <a:spcAft>
                <a:spcPts val="900"/>
              </a:spcAft>
              <a:defRPr sz="1500" b="0">
                <a:solidFill>
                  <a:srgbClr val="5B6570"/>
                </a:solidFill>
                <a:latin typeface="Arial"/>
                <a:ea typeface="Arial"/>
                <a:cs typeface="Arial"/>
              </a:defRPr>
            </a:pPr>
            <a:r>
              <a:rPr sz="1400" b="1">
                <a:solidFill>
                  <a:srgbClr val="17212B"/>
                </a:solidFill>
                <a:latin typeface="Arial"/>
                <a:ea typeface="Arial"/>
                <a:cs typeface="Arial"/>
              </a:rPr>
              <a:t>Type:</a:t>
            </a:r>
            <a:r>
              <a:rPr sz="1400" b="0">
                <a:solidFill>
                  <a:srgbClr val="5B6570"/>
                </a:solidFill>
                <a:latin typeface="Arial"/>
                <a:ea typeface="Arial"/>
                <a:cs typeface="Arial"/>
              </a:rPr>
              <a:t> variante de calidad del producto. L baja (6.000), M media (2.997) y H alta (1.003).</a:t>
            </a:r>
          </a:p>
          <a:p xmlns:a="http://schemas.openxmlformats.org/drawingml/2006/main">
            <a:pPr algn="l">
              <a:spcAft>
                <a:spcPts val="900"/>
              </a:spcAft>
              <a:defRPr sz="1500" b="0">
                <a:solidFill>
                  <a:srgbClr val="5B6570"/>
                </a:solidFill>
                <a:latin typeface="Arial"/>
                <a:ea typeface="Arial"/>
                <a:cs typeface="Arial"/>
              </a:defRPr>
            </a:pPr>
            <a:r>
              <a:rPr sz="1400" b="1">
                <a:solidFill>
                  <a:srgbClr val="17212B"/>
                </a:solidFill>
                <a:latin typeface="Arial"/>
                <a:ea typeface="Arial"/>
                <a:cs typeface="Arial"/>
              </a:rPr>
              <a:t>Utilidad:</a:t>
            </a:r>
            <a:r>
              <a:rPr sz="1400" b="0">
                <a:solidFill>
                  <a:srgbClr val="5B6570"/>
                </a:solidFill>
                <a:latin typeface="Arial"/>
                <a:ea typeface="Arial"/>
                <a:cs typeface="Arial"/>
              </a:rPr>
              <a:t> saber qué condiciones concentran fallas ayuda a decidir qué revisar primero.</a:t>
            </a:r>
          </a:p>
        </p:txBody>
      </p:sp>
      <p:sp>
        <p:nvSpPr>
          <p:cNvPr id="7" name="">
            <a:extLst xmlns:a="http://schemas.openxmlformats.org/drawingml/2006/main">
              <a:ext uri="{FF2B5EF4-FFF2-40B4-BE49-F238E27FC236}">
                <a16:creationId xmlns:a16="http://schemas.microsoft.com/office/drawing/2014/main" id="{66539F07-7A77-4B48-A696-86A200A63E8D}"/>
              </a:ext>
            </a:extLst>
          </p:cNvPr>
          <p:cNvSpPr>
            <a:spLocks xmlns:a="http://schemas.openxmlformats.org/drawingml/2006/main" noGrp="1"/>
          </p:cNvSpPr>
          <p:nvPr/>
        </p:nvSpPr>
        <p:spPr>
          <a:xfrm xmlns:a="http://schemas.openxmlformats.org/drawingml/2006/main">
            <a:off x="5810250" y="1381125"/>
            <a:ext cx="19050" cy="3476625"/>
          </a:xfrm>
          <a:prstGeom xmlns:a="http://schemas.openxmlformats.org/drawingml/2006/main" prst="rect">
            <a:avLst/>
          </a:prstGeom>
          <a:solidFill xmlns:a="http://schemas.openxmlformats.org/drawingml/2006/main">
            <a:srgbClr val="D7DCE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47FD8F2-BD65-47AD-BB0A-B5911258FC81}"/>
              </a:ext>
            </a:extLst>
          </p:cNvPr>
          <p:cNvSpPr>
            <a:spLocks xmlns:a="http://schemas.openxmlformats.org/drawingml/2006/main" noGrp="1"/>
          </p:cNvSpPr>
          <p:nvPr/>
        </p:nvSpPr>
        <p:spPr>
          <a:xfrm xmlns:a="http://schemas.openxmlformats.org/drawingml/2006/main">
            <a:off x="6334125" y="1466850"/>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356A96"/>
                </a:solidFill>
                <a:latin typeface="Arial"/>
                <a:ea typeface="Arial"/>
                <a:cs typeface="Arial"/>
              </a:defRPr>
            </a:pPr>
            <a:r>
              <a:rPr sz="3600" b="1">
                <a:solidFill>
                  <a:srgbClr val="356A96"/>
                </a:solidFill>
                <a:latin typeface="Arial"/>
                <a:ea typeface="Arial"/>
                <a:cs typeface="Arial"/>
              </a:rPr>
              <a:t>10.000</a:t>
            </a:r>
          </a:p>
        </p:txBody>
      </p:sp>
      <p:sp>
        <p:nvSpPr>
          <p:cNvPr id="9" name="">
            <a:extLst xmlns:a="http://schemas.openxmlformats.org/drawingml/2006/main">
              <a:ext uri="{FF2B5EF4-FFF2-40B4-BE49-F238E27FC236}">
                <a16:creationId xmlns:a16="http://schemas.microsoft.com/office/drawing/2014/main" id="{7F1DB110-16E9-4BFF-BC41-D611241024E6}"/>
              </a:ext>
            </a:extLst>
          </p:cNvPr>
          <p:cNvSpPr>
            <a:spLocks xmlns:a="http://schemas.openxmlformats.org/drawingml/2006/main" noGrp="1"/>
          </p:cNvSpPr>
          <p:nvPr/>
        </p:nvSpPr>
        <p:spPr>
          <a:xfrm xmlns:a="http://schemas.openxmlformats.org/drawingml/2006/main">
            <a:off x="6381750" y="211455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B6570"/>
                </a:solidFill>
                <a:latin typeface="Arial"/>
                <a:ea typeface="Arial"/>
                <a:cs typeface="Arial"/>
              </a:defRPr>
            </a:pPr>
            <a:r>
              <a:rPr sz="1500" b="0">
                <a:solidFill>
                  <a:srgbClr val="5B6570"/>
                </a:solidFill>
                <a:latin typeface="Arial"/>
                <a:ea typeface="Arial"/>
                <a:cs typeface="Arial"/>
              </a:rPr>
              <a:t>registros</a:t>
            </a:r>
          </a:p>
        </p:txBody>
      </p:sp>
      <p:sp>
        <p:nvSpPr>
          <p:cNvPr id="10" name="">
            <a:extLst xmlns:a="http://schemas.openxmlformats.org/drawingml/2006/main">
              <a:ext uri="{FF2B5EF4-FFF2-40B4-BE49-F238E27FC236}">
                <a16:creationId xmlns:a16="http://schemas.microsoft.com/office/drawing/2014/main" id="{7DF1AC4E-C54E-4C33-85F3-65A05E7AFE4A}"/>
              </a:ext>
            </a:extLst>
          </p:cNvPr>
          <p:cNvSpPr>
            <a:spLocks xmlns:a="http://schemas.openxmlformats.org/drawingml/2006/main" noGrp="1"/>
          </p:cNvSpPr>
          <p:nvPr/>
        </p:nvSpPr>
        <p:spPr>
          <a:xfrm xmlns:a="http://schemas.openxmlformats.org/drawingml/2006/main">
            <a:off x="8810625" y="1466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356A96"/>
                </a:solidFill>
                <a:latin typeface="Arial"/>
                <a:ea typeface="Arial"/>
                <a:cs typeface="Arial"/>
              </a:defRPr>
            </a:pPr>
            <a:r>
              <a:rPr sz="3600" b="1">
                <a:solidFill>
                  <a:srgbClr val="356A96"/>
                </a:solidFill>
                <a:latin typeface="Arial"/>
                <a:ea typeface="Arial"/>
                <a:cs typeface="Arial"/>
              </a:rPr>
              <a:t>14</a:t>
            </a:r>
          </a:p>
        </p:txBody>
      </p:sp>
      <p:sp>
        <p:nvSpPr>
          <p:cNvPr id="11" name="">
            <a:extLst xmlns:a="http://schemas.openxmlformats.org/drawingml/2006/main">
              <a:ext uri="{FF2B5EF4-FFF2-40B4-BE49-F238E27FC236}">
                <a16:creationId xmlns:a16="http://schemas.microsoft.com/office/drawing/2014/main" id="{E0AF11F0-A556-4ECF-9F7D-57A292303315}"/>
              </a:ext>
            </a:extLst>
          </p:cNvPr>
          <p:cNvSpPr>
            <a:spLocks xmlns:a="http://schemas.openxmlformats.org/drawingml/2006/main" noGrp="1"/>
          </p:cNvSpPr>
          <p:nvPr/>
        </p:nvSpPr>
        <p:spPr>
          <a:xfrm xmlns:a="http://schemas.openxmlformats.org/drawingml/2006/main">
            <a:off x="8858250" y="211455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B6570"/>
                </a:solidFill>
                <a:latin typeface="Arial"/>
                <a:ea typeface="Arial"/>
                <a:cs typeface="Arial"/>
              </a:defRPr>
            </a:pPr>
            <a:r>
              <a:rPr sz="1500" b="0">
                <a:solidFill>
                  <a:srgbClr val="5B6570"/>
                </a:solidFill>
                <a:latin typeface="Arial"/>
                <a:ea typeface="Arial"/>
                <a:cs typeface="Arial"/>
              </a:rPr>
              <a:t>variables originales</a:t>
            </a:r>
          </a:p>
        </p:txBody>
      </p:sp>
      <p:sp>
        <p:nvSpPr>
          <p:cNvPr id="12" name="">
            <a:extLst xmlns:a="http://schemas.openxmlformats.org/drawingml/2006/main">
              <a:ext uri="{FF2B5EF4-FFF2-40B4-BE49-F238E27FC236}">
                <a16:creationId xmlns:a16="http://schemas.microsoft.com/office/drawing/2014/main" id="{57375D04-A1D3-4816-A8F5-A831298431A9}"/>
              </a:ext>
            </a:extLst>
          </p:cNvPr>
          <p:cNvSpPr>
            <a:spLocks xmlns:a="http://schemas.openxmlformats.org/drawingml/2006/main" noGrp="1"/>
          </p:cNvSpPr>
          <p:nvPr/>
        </p:nvSpPr>
        <p:spPr>
          <a:xfrm xmlns:a="http://schemas.openxmlformats.org/drawingml/2006/main">
            <a:off x="6286500" y="2714625"/>
            <a:ext cx="4667250" cy="19050"/>
          </a:xfrm>
          <a:prstGeom xmlns:a="http://schemas.openxmlformats.org/drawingml/2006/main" prst="rect">
            <a:avLst/>
          </a:prstGeom>
          <a:solidFill xmlns:a="http://schemas.openxmlformats.org/drawingml/2006/main">
            <a:srgbClr val="D7DCE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DE2491-ECEB-425B-95A2-B7E02750D2C2}"/>
              </a:ext>
            </a:extLst>
          </p:cNvPr>
          <p:cNvSpPr>
            <a:spLocks xmlns:a="http://schemas.openxmlformats.org/drawingml/2006/main" noGrp="1"/>
          </p:cNvSpPr>
          <p:nvPr/>
        </p:nvSpPr>
        <p:spPr>
          <a:xfrm xmlns:a="http://schemas.openxmlformats.org/drawingml/2006/main">
            <a:off x="6334125" y="300037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C94C4C"/>
                </a:solidFill>
                <a:latin typeface="Arial"/>
                <a:ea typeface="Arial"/>
                <a:cs typeface="Arial"/>
              </a:defRPr>
            </a:pPr>
            <a:r>
              <a:rPr sz="3600" b="1">
                <a:solidFill>
                  <a:srgbClr val="C94C4C"/>
                </a:solidFill>
                <a:latin typeface="Arial"/>
                <a:ea typeface="Arial"/>
                <a:cs typeface="Arial"/>
              </a:rPr>
              <a:t>339</a:t>
            </a:r>
          </a:p>
        </p:txBody>
      </p:sp>
      <p:sp>
        <p:nvSpPr>
          <p:cNvPr id="14" name="">
            <a:extLst xmlns:a="http://schemas.openxmlformats.org/drawingml/2006/main">
              <a:ext uri="{FF2B5EF4-FFF2-40B4-BE49-F238E27FC236}">
                <a16:creationId xmlns:a16="http://schemas.microsoft.com/office/drawing/2014/main" id="{7063E3BA-F4F4-4A64-84A1-1A155658E995}"/>
              </a:ext>
            </a:extLst>
          </p:cNvPr>
          <p:cNvSpPr>
            <a:spLocks xmlns:a="http://schemas.openxmlformats.org/drawingml/2006/main" noGrp="1"/>
          </p:cNvSpPr>
          <p:nvPr/>
        </p:nvSpPr>
        <p:spPr>
          <a:xfrm xmlns:a="http://schemas.openxmlformats.org/drawingml/2006/main">
            <a:off x="6381750" y="3648075"/>
            <a:ext cx="2190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B6570"/>
                </a:solidFill>
                <a:latin typeface="Arial"/>
                <a:ea typeface="Arial"/>
                <a:cs typeface="Arial"/>
              </a:defRPr>
            </a:pPr>
            <a:r>
              <a:rPr sz="1500" b="0">
                <a:solidFill>
                  <a:srgbClr val="5B6570"/>
                </a:solidFill>
                <a:latin typeface="Arial"/>
                <a:ea typeface="Arial"/>
                <a:cs typeface="Arial"/>
              </a:rPr>
              <a:t>registros con falla</a:t>
            </a:r>
          </a:p>
        </p:txBody>
      </p:sp>
      <p:sp>
        <p:nvSpPr>
          <p:cNvPr id="15" name="">
            <a:extLst xmlns:a="http://schemas.openxmlformats.org/drawingml/2006/main">
              <a:ext uri="{FF2B5EF4-FFF2-40B4-BE49-F238E27FC236}">
                <a16:creationId xmlns:a16="http://schemas.microsoft.com/office/drawing/2014/main" id="{790C0631-2C37-4C04-B37B-A618CA45A833}"/>
              </a:ext>
            </a:extLst>
          </p:cNvPr>
          <p:cNvSpPr>
            <a:spLocks xmlns:a="http://schemas.openxmlformats.org/drawingml/2006/main" noGrp="1"/>
          </p:cNvSpPr>
          <p:nvPr/>
        </p:nvSpPr>
        <p:spPr>
          <a:xfrm xmlns:a="http://schemas.openxmlformats.org/drawingml/2006/main">
            <a:off x="8810625" y="3000375"/>
            <a:ext cx="2333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C94C4C"/>
                </a:solidFill>
                <a:latin typeface="Arial"/>
                <a:ea typeface="Arial"/>
                <a:cs typeface="Arial"/>
              </a:defRPr>
            </a:pPr>
            <a:r>
              <a:rPr sz="3600" b="1">
                <a:solidFill>
                  <a:srgbClr val="C94C4C"/>
                </a:solidFill>
                <a:latin typeface="Arial"/>
                <a:ea typeface="Arial"/>
                <a:cs typeface="Arial"/>
              </a:rPr>
              <a:t>3,39 %</a:t>
            </a:r>
          </a:p>
        </p:txBody>
      </p:sp>
      <p:sp>
        <p:nvSpPr>
          <p:cNvPr id="16" name="">
            <a:extLst xmlns:a="http://schemas.openxmlformats.org/drawingml/2006/main">
              <a:ext uri="{FF2B5EF4-FFF2-40B4-BE49-F238E27FC236}">
                <a16:creationId xmlns:a16="http://schemas.microsoft.com/office/drawing/2014/main" id="{ADADF064-186D-4D65-8B9C-D06D787ECD85}"/>
              </a:ext>
            </a:extLst>
          </p:cNvPr>
          <p:cNvSpPr>
            <a:spLocks xmlns:a="http://schemas.openxmlformats.org/drawingml/2006/main" noGrp="1"/>
          </p:cNvSpPr>
          <p:nvPr/>
        </p:nvSpPr>
        <p:spPr>
          <a:xfrm xmlns:a="http://schemas.openxmlformats.org/drawingml/2006/main">
            <a:off x="8858250" y="3648075"/>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B6570"/>
                </a:solidFill>
                <a:latin typeface="Arial"/>
                <a:ea typeface="Arial"/>
                <a:cs typeface="Arial"/>
              </a:defRPr>
            </a:pPr>
            <a:r>
              <a:rPr sz="1500" b="0">
                <a:solidFill>
                  <a:srgbClr val="5B6570"/>
                </a:solidFill>
                <a:latin typeface="Arial"/>
                <a:ea typeface="Arial"/>
                <a:cs typeface="Arial"/>
              </a:rPr>
              <a:t>tasa global</a:t>
            </a:r>
          </a:p>
        </p:txBody>
      </p:sp>
      <p:sp>
        <p:nvSpPr>
          <p:cNvPr id="17" name="">
            <a:extLst xmlns:a="http://schemas.openxmlformats.org/drawingml/2006/main">
              <a:ext uri="{FF2B5EF4-FFF2-40B4-BE49-F238E27FC236}">
                <a16:creationId xmlns:a16="http://schemas.microsoft.com/office/drawing/2014/main" id="{9D326F30-BF12-4338-B154-2D72C66BE7F8}"/>
              </a:ext>
            </a:extLst>
          </p:cNvPr>
          <p:cNvSpPr>
            <a:spLocks xmlns:a="http://schemas.openxmlformats.org/drawingml/2006/main" noGrp="1"/>
          </p:cNvSpPr>
          <p:nvPr/>
        </p:nvSpPr>
        <p:spPr>
          <a:xfrm xmlns:a="http://schemas.openxmlformats.org/drawingml/2006/main">
            <a:off x="6334125" y="4410075"/>
            <a:ext cx="457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17212B"/>
                </a:solidFill>
                <a:latin typeface="Arial"/>
                <a:ea typeface="Arial"/>
                <a:cs typeface="Arial"/>
              </a:defRPr>
            </a:pPr>
            <a:r>
              <a:rPr sz="1575" b="1">
                <a:solidFill>
                  <a:srgbClr val="17212B"/>
                </a:solidFill>
                <a:latin typeface="Arial"/>
                <a:ea typeface="Arial"/>
                <a:cs typeface="Arial"/>
              </a:rPr>
              <a:t>Variable objetivo: Machine failure</a:t>
            </a:r>
          </a:p>
        </p:txBody>
      </p:sp>
      <p:sp>
        <p:nvSpPr>
          <p:cNvPr id="18" name="">
            <a:extLst xmlns:a="http://schemas.openxmlformats.org/drawingml/2006/main">
              <a:ext uri="{FF2B5EF4-FFF2-40B4-BE49-F238E27FC236}">
                <a16:creationId xmlns:a16="http://schemas.microsoft.com/office/drawing/2014/main" id="{6C06889E-1DC1-400E-95BC-8F0EAE0B9CAF}"/>
              </a:ext>
            </a:extLst>
          </p:cNvPr>
          <p:cNvSpPr>
            <a:spLocks xmlns:a="http://schemas.openxmlformats.org/drawingml/2006/main" noGrp="1"/>
          </p:cNvSpPr>
          <p:nvPr/>
        </p:nvSpPr>
        <p:spPr>
          <a:xfrm xmlns:a="http://schemas.openxmlformats.org/drawingml/2006/main">
            <a:off x="666750" y="595312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050" b="0">
                <a:solidFill>
                  <a:srgbClr val="5B6570"/>
                </a:solidFill>
                <a:latin typeface="Arial"/>
                <a:ea typeface="Arial"/>
                <a:cs typeface="Arial"/>
              </a:defRPr>
            </a:pPr>
            <a:r>
              <a:rPr sz="1050" b="0">
                <a:solidFill>
                  <a:srgbClr val="5B6570"/>
                </a:solidFill>
                <a:latin typeface="Arial"/>
                <a:ea typeface="Arial"/>
                <a:cs typeface="Arial"/>
              </a:rPr>
              <a:t>Fuente: AI4I 2020, UCI Machine Learning Repository.</a:t>
            </a:r>
          </a:p>
        </p:txBody>
      </p:sp>
    </p:spTree>
    <p:extLst>
      <p:ext uri="{BB962C8B-B14F-4D97-AF65-F5344CB8AC3E}">
        <p14:creationId xmlns:p14="http://schemas.microsoft.com/office/powerpoint/2010/main" val="18725603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475794D-3ACF-4D3B-AC14-B8C3A3080F2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6C04CF-9457-4F2B-826C-FB3BF8B4076E}"/>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Continuidad entre las cuatro fases</a:t>
            </a:r>
          </a:p>
        </p:txBody>
      </p:sp>
      <p:sp>
        <p:nvSpPr>
          <p:cNvPr id="3" name="">
            <a:extLst xmlns:a="http://schemas.openxmlformats.org/drawingml/2006/main">
              <a:ext uri="{FF2B5EF4-FFF2-40B4-BE49-F238E27FC236}">
                <a16:creationId xmlns:a16="http://schemas.microsoft.com/office/drawing/2014/main" id="{98671201-6C46-4F79-B987-A17D6D4B46EE}"/>
              </a:ext>
            </a:extLst>
          </p:cNvPr>
          <p:cNvSpPr>
            <a:spLocks xmlns:a="http://schemas.openxmlformats.org/drawingml/2006/main" noGrp="1"/>
          </p:cNvSpPr>
          <p:nvPr/>
        </p:nvSpPr>
        <p:spPr>
          <a:xfrm xmlns:a="http://schemas.openxmlformats.org/drawingml/2006/main">
            <a:off x="571500" y="8382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275" b="0">
                <a:solidFill>
                  <a:srgbClr val="5B6570"/>
                </a:solidFill>
                <a:latin typeface="Arial"/>
                <a:ea typeface="Arial"/>
                <a:cs typeface="Arial"/>
              </a:defRPr>
            </a:pPr>
            <a:r>
              <a:rPr sz="1275" b="0">
                <a:solidFill>
                  <a:srgbClr val="5B6570"/>
                </a:solidFill>
                <a:latin typeface="Arial"/>
                <a:ea typeface="Arial"/>
                <a:cs typeface="Arial"/>
              </a:rPr>
              <a:t>Cada etapa reutiliza resultados ya verificados en la etapa anterior.</a:t>
            </a:r>
          </a:p>
        </p:txBody>
      </p:sp>
      <p:sp>
        <p:nvSpPr>
          <p:cNvPr id="4" name="">
            <a:extLst xmlns:a="http://schemas.openxmlformats.org/drawingml/2006/main">
              <a:ext uri="{FF2B5EF4-FFF2-40B4-BE49-F238E27FC236}">
                <a16:creationId xmlns:a16="http://schemas.microsoft.com/office/drawing/2014/main" id="{C522EE83-870A-4994-9A56-F0D2BCE74BF3}"/>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A1D888A-1E4D-4D70-8C95-60112C56A6B7}"/>
              </a:ext>
            </a:extLst>
          </p:cNvPr>
          <p:cNvSpPr>
            <a:spLocks xmlns:a="http://schemas.openxmlformats.org/drawingml/2006/main" noGrp="1"/>
          </p:cNvSpPr>
          <p:nvPr/>
        </p:nvSpPr>
        <p:spPr>
          <a:xfrm xmlns:a="http://schemas.openxmlformats.org/drawingml/2006/main">
            <a:off x="619125" y="2000250"/>
            <a:ext cx="2333625" cy="1857375"/>
          </a:xfrm>
          <a:prstGeom xmlns:a="http://schemas.openxmlformats.org/drawingml/2006/main" prst="roundRect">
            <a:avLst>
              <a:gd name="adj" fmla="val 9231"/>
            </a:avLst>
          </a:prstGeom>
          <a:solidFill xmlns:a="http://schemas.openxmlformats.org/drawingml/2006/main">
            <a:srgbClr val="F5F7F8"/>
          </a:solidFill>
          <a:ln xmlns:a="http://schemas.openxmlformats.org/drawingml/2006/main" w="9525">
            <a:solidFill>
              <a:srgbClr val="D7DCE1"/>
            </a:solidFill>
            <a:prstDash val="solid"/>
          </a:ln>
        </p:spPr>
      </p:sp>
      <p:sp>
        <p:nvSpPr>
          <p:cNvPr id="6" name="">
            <a:extLst xmlns:a="http://schemas.openxmlformats.org/drawingml/2006/main">
              <a:ext uri="{FF2B5EF4-FFF2-40B4-BE49-F238E27FC236}">
                <a16:creationId xmlns:a16="http://schemas.microsoft.com/office/drawing/2014/main" id="{8FDE6075-00AA-4FCB-8950-DE560CF2420B}"/>
              </a:ext>
            </a:extLst>
          </p:cNvPr>
          <p:cNvSpPr>
            <a:spLocks xmlns:a="http://schemas.openxmlformats.org/drawingml/2006/main" noGrp="1"/>
          </p:cNvSpPr>
          <p:nvPr/>
        </p:nvSpPr>
        <p:spPr>
          <a:xfrm xmlns:a="http://schemas.openxmlformats.org/drawingml/2006/main">
            <a:off x="828675" y="223837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5B6570"/>
                </a:solidFill>
                <a:latin typeface="Arial"/>
                <a:ea typeface="Arial"/>
                <a:cs typeface="Arial"/>
              </a:defRPr>
            </a:pPr>
            <a:r>
              <a:rPr sz="2025" b="1">
                <a:solidFill>
                  <a:srgbClr val="5B6570"/>
                </a:solidFill>
                <a:latin typeface="Arial"/>
                <a:ea typeface="Arial"/>
                <a:cs typeface="Arial"/>
              </a:rPr>
              <a:t>Fase 1</a:t>
            </a:r>
          </a:p>
        </p:txBody>
      </p:sp>
      <p:sp>
        <p:nvSpPr>
          <p:cNvPr id="7" name="">
            <a:extLst xmlns:a="http://schemas.openxmlformats.org/drawingml/2006/main">
              <a:ext uri="{FF2B5EF4-FFF2-40B4-BE49-F238E27FC236}">
                <a16:creationId xmlns:a16="http://schemas.microsoft.com/office/drawing/2014/main" id="{9CB71A33-E916-4BA9-AB10-1AEFC6AB6234}"/>
              </a:ext>
            </a:extLst>
          </p:cNvPr>
          <p:cNvSpPr>
            <a:spLocks xmlns:a="http://schemas.openxmlformats.org/drawingml/2006/main" noGrp="1"/>
          </p:cNvSpPr>
          <p:nvPr/>
        </p:nvSpPr>
        <p:spPr>
          <a:xfrm xmlns:a="http://schemas.openxmlformats.org/drawingml/2006/main">
            <a:off x="828675" y="2781300"/>
            <a:ext cx="1905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17212B"/>
                </a:solidFill>
                <a:latin typeface="Arial"/>
                <a:ea typeface="Arial"/>
                <a:cs typeface="Arial"/>
              </a:defRPr>
            </a:pPr>
            <a:r>
              <a:rPr sz="1500" b="0">
                <a:solidFill>
                  <a:srgbClr val="17212B"/>
                </a:solidFill>
                <a:latin typeface="Arial"/>
                <a:ea typeface="Arial"/>
                <a:cs typeface="Arial"/>
              </a:rPr>
              <a:t>Problema, objetivos y entorno reproducible</a:t>
            </a:r>
          </a:p>
        </p:txBody>
      </p:sp>
      <p:sp>
        <p:nvSpPr>
          <p:cNvPr id="8" name="">
            <a:extLst xmlns:a="http://schemas.openxmlformats.org/drawingml/2006/main">
              <a:ext uri="{FF2B5EF4-FFF2-40B4-BE49-F238E27FC236}">
                <a16:creationId xmlns:a16="http://schemas.microsoft.com/office/drawing/2014/main" id="{B7AA97D7-1F24-46CA-8D37-8DEC9D266EF7}"/>
              </a:ext>
            </a:extLst>
          </p:cNvPr>
          <p:cNvSpPr>
            <a:spLocks xmlns:a="http://schemas.openxmlformats.org/drawingml/2006/main" noGrp="1"/>
          </p:cNvSpPr>
          <p:nvPr/>
        </p:nvSpPr>
        <p:spPr>
          <a:xfrm xmlns:a="http://schemas.openxmlformats.org/drawingml/2006/main">
            <a:off x="3476625" y="2000250"/>
            <a:ext cx="2333625" cy="1857375"/>
          </a:xfrm>
          <a:prstGeom xmlns:a="http://schemas.openxmlformats.org/drawingml/2006/main" prst="roundRect">
            <a:avLst>
              <a:gd name="adj" fmla="val 9231"/>
            </a:avLst>
          </a:prstGeom>
          <a:solidFill xmlns:a="http://schemas.openxmlformats.org/drawingml/2006/main">
            <a:srgbClr val="EAF2F8"/>
          </a:solidFill>
          <a:ln xmlns:a="http://schemas.openxmlformats.org/drawingml/2006/main" w="9525">
            <a:solidFill>
              <a:srgbClr val="5B8DB8"/>
            </a:solidFill>
            <a:prstDash val="solid"/>
          </a:ln>
        </p:spPr>
      </p:sp>
      <p:sp>
        <p:nvSpPr>
          <p:cNvPr id="9" name="">
            <a:extLst xmlns:a="http://schemas.openxmlformats.org/drawingml/2006/main">
              <a:ext uri="{FF2B5EF4-FFF2-40B4-BE49-F238E27FC236}">
                <a16:creationId xmlns:a16="http://schemas.microsoft.com/office/drawing/2014/main" id="{21B94CC2-C4AD-460C-9B41-EB6B4367A4A7}"/>
              </a:ext>
            </a:extLst>
          </p:cNvPr>
          <p:cNvSpPr>
            <a:spLocks xmlns:a="http://schemas.openxmlformats.org/drawingml/2006/main" noGrp="1"/>
          </p:cNvSpPr>
          <p:nvPr/>
        </p:nvSpPr>
        <p:spPr>
          <a:xfrm xmlns:a="http://schemas.openxmlformats.org/drawingml/2006/main">
            <a:off x="3686175" y="223837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5B8DB8"/>
                </a:solidFill>
                <a:latin typeface="Arial"/>
                <a:ea typeface="Arial"/>
                <a:cs typeface="Arial"/>
              </a:defRPr>
            </a:pPr>
            <a:r>
              <a:rPr sz="2025" b="1">
                <a:solidFill>
                  <a:srgbClr val="5B8DB8"/>
                </a:solidFill>
                <a:latin typeface="Arial"/>
                <a:ea typeface="Arial"/>
                <a:cs typeface="Arial"/>
              </a:rPr>
              <a:t>Fase 2</a:t>
            </a:r>
          </a:p>
        </p:txBody>
      </p:sp>
      <p:sp>
        <p:nvSpPr>
          <p:cNvPr id="10" name="">
            <a:extLst xmlns:a="http://schemas.openxmlformats.org/drawingml/2006/main">
              <a:ext uri="{FF2B5EF4-FFF2-40B4-BE49-F238E27FC236}">
                <a16:creationId xmlns:a16="http://schemas.microsoft.com/office/drawing/2014/main" id="{92C245E6-D934-4518-98B7-1B2BCA7F1DCD}"/>
              </a:ext>
            </a:extLst>
          </p:cNvPr>
          <p:cNvSpPr>
            <a:spLocks xmlns:a="http://schemas.openxmlformats.org/drawingml/2006/main" noGrp="1"/>
          </p:cNvSpPr>
          <p:nvPr/>
        </p:nvSpPr>
        <p:spPr>
          <a:xfrm xmlns:a="http://schemas.openxmlformats.org/drawingml/2006/main">
            <a:off x="3686175" y="2781300"/>
            <a:ext cx="1905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17212B"/>
                </a:solidFill>
                <a:latin typeface="Arial"/>
                <a:ea typeface="Arial"/>
                <a:cs typeface="Arial"/>
              </a:defRPr>
            </a:pPr>
            <a:r>
              <a:rPr sz="1500" b="0">
                <a:solidFill>
                  <a:srgbClr val="17212B"/>
                </a:solidFill>
                <a:latin typeface="Arial"/>
                <a:ea typeface="Arial"/>
                <a:cs typeface="Arial"/>
              </a:rPr>
              <a:t>Obtención, limpieza y transformación</a:t>
            </a:r>
          </a:p>
        </p:txBody>
      </p:sp>
      <p:sp>
        <p:nvSpPr>
          <p:cNvPr id="11" name="">
            <a:extLst xmlns:a="http://schemas.openxmlformats.org/drawingml/2006/main">
              <a:ext uri="{FF2B5EF4-FFF2-40B4-BE49-F238E27FC236}">
                <a16:creationId xmlns:a16="http://schemas.microsoft.com/office/drawing/2014/main" id="{63CF12DF-F3EC-424D-8161-1F9F33EEC78F}"/>
              </a:ext>
            </a:extLst>
          </p:cNvPr>
          <p:cNvSpPr>
            <a:spLocks xmlns:a="http://schemas.openxmlformats.org/drawingml/2006/main" noGrp="1"/>
          </p:cNvSpPr>
          <p:nvPr/>
        </p:nvSpPr>
        <p:spPr>
          <a:xfrm xmlns:a="http://schemas.openxmlformats.org/drawingml/2006/main">
            <a:off x="6334125" y="2000250"/>
            <a:ext cx="2333625" cy="1857375"/>
          </a:xfrm>
          <a:prstGeom xmlns:a="http://schemas.openxmlformats.org/drawingml/2006/main" prst="roundRect">
            <a:avLst>
              <a:gd name="adj" fmla="val 9231"/>
            </a:avLst>
          </a:prstGeom>
          <a:solidFill xmlns:a="http://schemas.openxmlformats.org/drawingml/2006/main">
            <a:srgbClr val="F5F7F8"/>
          </a:solidFill>
          <a:ln xmlns:a="http://schemas.openxmlformats.org/drawingml/2006/main" w="9525">
            <a:solidFill>
              <a:srgbClr val="D7DCE1"/>
            </a:solidFill>
            <a:prstDash val="solid"/>
          </a:ln>
        </p:spPr>
      </p:sp>
      <p:sp>
        <p:nvSpPr>
          <p:cNvPr id="12" name="">
            <a:extLst xmlns:a="http://schemas.openxmlformats.org/drawingml/2006/main">
              <a:ext uri="{FF2B5EF4-FFF2-40B4-BE49-F238E27FC236}">
                <a16:creationId xmlns:a16="http://schemas.microsoft.com/office/drawing/2014/main" id="{4C393A81-7D42-4BF0-B6F9-B65E34E5C4B9}"/>
              </a:ext>
            </a:extLst>
          </p:cNvPr>
          <p:cNvSpPr>
            <a:spLocks xmlns:a="http://schemas.openxmlformats.org/drawingml/2006/main" noGrp="1"/>
          </p:cNvSpPr>
          <p:nvPr/>
        </p:nvSpPr>
        <p:spPr>
          <a:xfrm xmlns:a="http://schemas.openxmlformats.org/drawingml/2006/main">
            <a:off x="6543675" y="223837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5B6570"/>
                </a:solidFill>
                <a:latin typeface="Arial"/>
                <a:ea typeface="Arial"/>
                <a:cs typeface="Arial"/>
              </a:defRPr>
            </a:pPr>
            <a:r>
              <a:rPr sz="2025" b="1">
                <a:solidFill>
                  <a:srgbClr val="5B6570"/>
                </a:solidFill>
                <a:latin typeface="Arial"/>
                <a:ea typeface="Arial"/>
                <a:cs typeface="Arial"/>
              </a:rPr>
              <a:t>Fase 3</a:t>
            </a:r>
          </a:p>
        </p:txBody>
      </p:sp>
      <p:sp>
        <p:nvSpPr>
          <p:cNvPr id="13" name="">
            <a:extLst xmlns:a="http://schemas.openxmlformats.org/drawingml/2006/main">
              <a:ext uri="{FF2B5EF4-FFF2-40B4-BE49-F238E27FC236}">
                <a16:creationId xmlns:a16="http://schemas.microsoft.com/office/drawing/2014/main" id="{13FAE175-275D-4FB5-B32C-8941B6994B93}"/>
              </a:ext>
            </a:extLst>
          </p:cNvPr>
          <p:cNvSpPr>
            <a:spLocks xmlns:a="http://schemas.openxmlformats.org/drawingml/2006/main" noGrp="1"/>
          </p:cNvSpPr>
          <p:nvPr/>
        </p:nvSpPr>
        <p:spPr>
          <a:xfrm xmlns:a="http://schemas.openxmlformats.org/drawingml/2006/main">
            <a:off x="6543675" y="2781300"/>
            <a:ext cx="1905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17212B"/>
                </a:solidFill>
                <a:latin typeface="Arial"/>
                <a:ea typeface="Arial"/>
                <a:cs typeface="Arial"/>
              </a:defRPr>
            </a:pPr>
            <a:r>
              <a:rPr sz="1500" b="0">
                <a:solidFill>
                  <a:srgbClr val="17212B"/>
                </a:solidFill>
                <a:latin typeface="Arial"/>
                <a:ea typeface="Arial"/>
                <a:cs typeface="Arial"/>
              </a:rPr>
              <a:t>Módulos, clases, pruebas y eficiencia</a:t>
            </a:r>
          </a:p>
        </p:txBody>
      </p:sp>
      <p:sp>
        <p:nvSpPr>
          <p:cNvPr id="14" name="">
            <a:extLst xmlns:a="http://schemas.openxmlformats.org/drawingml/2006/main">
              <a:ext uri="{FF2B5EF4-FFF2-40B4-BE49-F238E27FC236}">
                <a16:creationId xmlns:a16="http://schemas.microsoft.com/office/drawing/2014/main" id="{5461D1E4-70FB-4592-A6A9-873578D46D6A}"/>
              </a:ext>
            </a:extLst>
          </p:cNvPr>
          <p:cNvSpPr>
            <a:spLocks xmlns:a="http://schemas.openxmlformats.org/drawingml/2006/main" noGrp="1"/>
          </p:cNvSpPr>
          <p:nvPr/>
        </p:nvSpPr>
        <p:spPr>
          <a:xfrm xmlns:a="http://schemas.openxmlformats.org/drawingml/2006/main">
            <a:off x="9191625" y="2000250"/>
            <a:ext cx="2333625" cy="1857375"/>
          </a:xfrm>
          <a:prstGeom xmlns:a="http://schemas.openxmlformats.org/drawingml/2006/main" prst="roundRect">
            <a:avLst>
              <a:gd name="adj" fmla="val 9231"/>
            </a:avLst>
          </a:prstGeom>
          <a:solidFill xmlns:a="http://schemas.openxmlformats.org/drawingml/2006/main">
            <a:srgbClr val="F9EAEA"/>
          </a:solidFill>
          <a:ln xmlns:a="http://schemas.openxmlformats.org/drawingml/2006/main" w="9525">
            <a:solidFill>
              <a:srgbClr val="C94C4C"/>
            </a:solidFill>
            <a:prstDash val="solid"/>
          </a:ln>
        </p:spPr>
      </p:sp>
      <p:sp>
        <p:nvSpPr>
          <p:cNvPr id="15" name="">
            <a:extLst xmlns:a="http://schemas.openxmlformats.org/drawingml/2006/main">
              <a:ext uri="{FF2B5EF4-FFF2-40B4-BE49-F238E27FC236}">
                <a16:creationId xmlns:a16="http://schemas.microsoft.com/office/drawing/2014/main" id="{71D44BB9-DFD7-4AD1-8BAE-4D6EED4AF751}"/>
              </a:ext>
            </a:extLst>
          </p:cNvPr>
          <p:cNvSpPr>
            <a:spLocks xmlns:a="http://schemas.openxmlformats.org/drawingml/2006/main" noGrp="1"/>
          </p:cNvSpPr>
          <p:nvPr/>
        </p:nvSpPr>
        <p:spPr>
          <a:xfrm xmlns:a="http://schemas.openxmlformats.org/drawingml/2006/main">
            <a:off x="9401175" y="2238375"/>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C94C4C"/>
                </a:solidFill>
                <a:latin typeface="Arial"/>
                <a:ea typeface="Arial"/>
                <a:cs typeface="Arial"/>
              </a:defRPr>
            </a:pPr>
            <a:r>
              <a:rPr sz="2025" b="1">
                <a:solidFill>
                  <a:srgbClr val="C94C4C"/>
                </a:solidFill>
                <a:latin typeface="Arial"/>
                <a:ea typeface="Arial"/>
                <a:cs typeface="Arial"/>
              </a:rPr>
              <a:t>Fase 4</a:t>
            </a:r>
          </a:p>
        </p:txBody>
      </p:sp>
      <p:sp>
        <p:nvSpPr>
          <p:cNvPr id="16" name="">
            <a:extLst xmlns:a="http://schemas.openxmlformats.org/drawingml/2006/main">
              <a:ext uri="{FF2B5EF4-FFF2-40B4-BE49-F238E27FC236}">
                <a16:creationId xmlns:a16="http://schemas.microsoft.com/office/drawing/2014/main" id="{B502F59A-3A0F-42C8-B813-496932655220}"/>
              </a:ext>
            </a:extLst>
          </p:cNvPr>
          <p:cNvSpPr>
            <a:spLocks xmlns:a="http://schemas.openxmlformats.org/drawingml/2006/main" noGrp="1"/>
          </p:cNvSpPr>
          <p:nvPr/>
        </p:nvSpPr>
        <p:spPr>
          <a:xfrm xmlns:a="http://schemas.openxmlformats.org/drawingml/2006/main">
            <a:off x="9401175" y="2781300"/>
            <a:ext cx="1905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17212B"/>
                </a:solidFill>
                <a:latin typeface="Arial"/>
                <a:ea typeface="Arial"/>
                <a:cs typeface="Arial"/>
              </a:defRPr>
            </a:pPr>
            <a:r>
              <a:rPr sz="1500" b="0">
                <a:solidFill>
                  <a:srgbClr val="17212B"/>
                </a:solidFill>
                <a:latin typeface="Arial"/>
                <a:ea typeface="Arial"/>
                <a:cs typeface="Arial"/>
              </a:rPr>
              <a:t>Integración, visualización y comunicación</a:t>
            </a:r>
          </a:p>
        </p:txBody>
      </p:sp>
      <p:sp>
        <p:nvSpPr>
          <p:cNvPr id="17" name="">
            <a:extLst xmlns:a="http://schemas.openxmlformats.org/drawingml/2006/main">
              <a:ext uri="{FF2B5EF4-FFF2-40B4-BE49-F238E27FC236}">
                <a16:creationId xmlns:a16="http://schemas.microsoft.com/office/drawing/2014/main" id="{37F2A969-97F0-4195-AD11-C66021C0246D}"/>
              </a:ext>
            </a:extLst>
          </p:cNvPr>
          <p:cNvSpPr>
            <a:spLocks xmlns:a="http://schemas.openxmlformats.org/drawingml/2006/main" noGrp="1"/>
          </p:cNvSpPr>
          <p:nvPr/>
        </p:nvSpPr>
        <p:spPr>
          <a:xfrm xmlns:a="http://schemas.openxmlformats.org/drawingml/2006/main">
            <a:off x="3048000" y="2819400"/>
            <a:ext cx="342900" cy="228600"/>
          </a:xfrm>
          <a:prstGeom xmlns:a="http://schemas.openxmlformats.org/drawingml/2006/main" prst="rightArrow">
            <a:avLst/>
          </a:prstGeom>
          <a:solidFill xmlns:a="http://schemas.openxmlformats.org/drawingml/2006/main">
            <a:srgbClr val="5B657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86CE0A4-B261-4685-948F-240E0A747CC3}"/>
              </a:ext>
            </a:extLst>
          </p:cNvPr>
          <p:cNvSpPr>
            <a:spLocks xmlns:a="http://schemas.openxmlformats.org/drawingml/2006/main" noGrp="1"/>
          </p:cNvSpPr>
          <p:nvPr/>
        </p:nvSpPr>
        <p:spPr>
          <a:xfrm xmlns:a="http://schemas.openxmlformats.org/drawingml/2006/main">
            <a:off x="5905500" y="2819400"/>
            <a:ext cx="342900" cy="228600"/>
          </a:xfrm>
          <a:prstGeom xmlns:a="http://schemas.openxmlformats.org/drawingml/2006/main" prst="rightArrow">
            <a:avLst/>
          </a:prstGeom>
          <a:solidFill xmlns:a="http://schemas.openxmlformats.org/drawingml/2006/main">
            <a:srgbClr val="5B657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4652045-82DC-4891-A399-316D0C8648A4}"/>
              </a:ext>
            </a:extLst>
          </p:cNvPr>
          <p:cNvSpPr>
            <a:spLocks xmlns:a="http://schemas.openxmlformats.org/drawingml/2006/main" noGrp="1"/>
          </p:cNvSpPr>
          <p:nvPr/>
        </p:nvSpPr>
        <p:spPr>
          <a:xfrm xmlns:a="http://schemas.openxmlformats.org/drawingml/2006/main">
            <a:off x="8763000" y="2819400"/>
            <a:ext cx="342900" cy="228600"/>
          </a:xfrm>
          <a:prstGeom xmlns:a="http://schemas.openxmlformats.org/drawingml/2006/main" prst="rightArrow">
            <a:avLst/>
          </a:prstGeom>
          <a:solidFill xmlns:a="http://schemas.openxmlformats.org/drawingml/2006/main">
            <a:srgbClr val="5B657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E65E0AD-DE18-4A1B-B174-4F7FE870CA9F}"/>
              </a:ext>
            </a:extLst>
          </p:cNvPr>
          <p:cNvSpPr>
            <a:spLocks xmlns:a="http://schemas.openxmlformats.org/drawingml/2006/main" noGrp="1"/>
          </p:cNvSpPr>
          <p:nvPr/>
        </p:nvSpPr>
        <p:spPr>
          <a:xfrm xmlns:a="http://schemas.openxmlformats.org/drawingml/2006/main">
            <a:off x="1143000" y="46672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725" b="0">
                <a:solidFill>
                  <a:srgbClr val="17212B"/>
                </a:solidFill>
                <a:latin typeface="Arial"/>
                <a:ea typeface="Arial"/>
                <a:cs typeface="Arial"/>
              </a:defRPr>
            </a:pPr>
            <a:r>
              <a:rPr sz="1725" b="0">
                <a:solidFill>
                  <a:srgbClr val="17212B"/>
                </a:solidFill>
                <a:latin typeface="Arial"/>
                <a:ea typeface="Arial"/>
                <a:cs typeface="Arial"/>
              </a:rPr>
              <a:t>Los archivos procesados de F2 alimentan el pipeline de F3. La F4 recupera variables interpretables para comunicar los resultados en sus unidades originales.</a:t>
            </a:r>
          </a:p>
        </p:txBody>
      </p:sp>
    </p:spTree>
    <p:extLst>
      <p:ext uri="{BB962C8B-B14F-4D97-AF65-F5344CB8AC3E}">
        <p14:creationId xmlns:p14="http://schemas.microsoft.com/office/powerpoint/2010/main" val="6867424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048089-8EF2-4C0A-9878-EFFFE8A9A22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25CA30-C539-4CC1-A2DE-ABFE0540ED33}"/>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La tasa de falla cambia según el tipo de producto</a:t>
            </a:r>
          </a:p>
        </p:txBody>
      </p:sp>
      <p:sp>
        <p:nvSpPr>
          <p:cNvPr id="3" name="">
            <a:extLst xmlns:a="http://schemas.openxmlformats.org/drawingml/2006/main">
              <a:ext uri="{FF2B5EF4-FFF2-40B4-BE49-F238E27FC236}">
                <a16:creationId xmlns:a16="http://schemas.microsoft.com/office/drawing/2014/main" id="{787FCA37-D727-49E2-9965-8000F9DDEE9D}"/>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9</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718f04d0ae34fa4"/>
          <a:stretch xmlns:a="http://schemas.openxmlformats.org/drawingml/2006/main"/>
        </p:blipFill>
        <p:spPr>
          <a:xfrm xmlns:a="http://schemas.openxmlformats.org/drawingml/2006/main">
            <a:off x="892955" y="1143000"/>
            <a:ext cx="7119965" cy="4476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B336FBC-C14D-43E6-BFB3-A3C7CE3DBF16}"/>
              </a:ext>
            </a:extLst>
          </p:cNvPr>
          <p:cNvSpPr>
            <a:spLocks xmlns:a="http://schemas.openxmlformats.org/drawingml/2006/main" noGrp="1"/>
          </p:cNvSpPr>
          <p:nvPr/>
        </p:nvSpPr>
        <p:spPr>
          <a:xfrm xmlns:a="http://schemas.openxmlformats.org/drawingml/2006/main">
            <a:off x="8572500" y="1381125"/>
            <a:ext cx="47625" cy="3286125"/>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47FB1B6-1D9F-414A-A0AD-2A78B30ABFED}"/>
              </a:ext>
            </a:extLst>
          </p:cNvPr>
          <p:cNvSpPr>
            <a:spLocks xmlns:a="http://schemas.openxmlformats.org/drawingml/2006/main" noGrp="1"/>
          </p:cNvSpPr>
          <p:nvPr/>
        </p:nvSpPr>
        <p:spPr>
          <a:xfrm xmlns:a="http://schemas.openxmlformats.org/drawingml/2006/main">
            <a:off x="8905875" y="1428750"/>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1">
                <a:solidFill>
                  <a:srgbClr val="356A96"/>
                </a:solidFill>
                <a:latin typeface="Arial"/>
                <a:ea typeface="Arial"/>
                <a:cs typeface="Arial"/>
              </a:defRPr>
            </a:pPr>
            <a:r>
              <a:rPr sz="1425" b="1">
                <a:solidFill>
                  <a:srgbClr val="356A96"/>
                </a:solidFill>
                <a:latin typeface="Arial"/>
                <a:ea typeface="Arial"/>
                <a:cs typeface="Arial"/>
              </a:rPr>
              <a:t>Lectura principal</a:t>
            </a:r>
          </a:p>
        </p:txBody>
      </p:sp>
      <p:sp>
        <p:nvSpPr>
          <p:cNvPr id="7" name="">
            <a:extLst xmlns:a="http://schemas.openxmlformats.org/drawingml/2006/main">
              <a:ext uri="{FF2B5EF4-FFF2-40B4-BE49-F238E27FC236}">
                <a16:creationId xmlns:a16="http://schemas.microsoft.com/office/drawing/2014/main" id="{2EEED014-2D8A-4352-BB80-D4718BD1E1DA}"/>
              </a:ext>
            </a:extLst>
          </p:cNvPr>
          <p:cNvSpPr>
            <a:spLocks xmlns:a="http://schemas.openxmlformats.org/drawingml/2006/main" noGrp="1"/>
          </p:cNvSpPr>
          <p:nvPr/>
        </p:nvSpPr>
        <p:spPr>
          <a:xfrm xmlns:a="http://schemas.openxmlformats.org/drawingml/2006/main">
            <a:off x="8905875" y="1905000"/>
            <a:ext cx="2619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17212B"/>
                </a:solidFill>
                <a:latin typeface="Arial"/>
                <a:ea typeface="Arial"/>
                <a:cs typeface="Arial"/>
              </a:defRPr>
            </a:pPr>
            <a:r>
              <a:rPr sz="1950" b="1">
                <a:solidFill>
                  <a:srgbClr val="17212B"/>
                </a:solidFill>
                <a:latin typeface="Arial"/>
                <a:ea typeface="Arial"/>
                <a:cs typeface="Arial"/>
              </a:rPr>
              <a:t>El tipo L presenta la mayor tasa observada: 3,92 %.</a:t>
            </a:r>
          </a:p>
        </p:txBody>
      </p:sp>
      <p:sp>
        <p:nvSpPr>
          <p:cNvPr id="8" name="">
            <a:extLst xmlns:a="http://schemas.openxmlformats.org/drawingml/2006/main">
              <a:ext uri="{FF2B5EF4-FFF2-40B4-BE49-F238E27FC236}">
                <a16:creationId xmlns:a16="http://schemas.microsoft.com/office/drawing/2014/main" id="{350E13F4-AB57-413D-BFBE-B2CB30E3B837}"/>
              </a:ext>
            </a:extLst>
          </p:cNvPr>
          <p:cNvSpPr>
            <a:spLocks xmlns:a="http://schemas.openxmlformats.org/drawingml/2006/main" noGrp="1"/>
          </p:cNvSpPr>
          <p:nvPr/>
        </p:nvSpPr>
        <p:spPr>
          <a:xfrm xmlns:a="http://schemas.openxmlformats.org/drawingml/2006/main">
            <a:off x="8905875" y="3095625"/>
            <a:ext cx="2571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5B6570"/>
                </a:solidFill>
                <a:latin typeface="Arial"/>
                <a:ea typeface="Arial"/>
                <a:cs typeface="Arial"/>
              </a:defRPr>
            </a:pPr>
            <a:r>
              <a:rPr sz="1425" b="0">
                <a:solidFill>
                  <a:srgbClr val="5B6570"/>
                </a:solidFill>
                <a:latin typeface="Arial"/>
                <a:ea typeface="Arial"/>
                <a:cs typeface="Arial"/>
              </a:rPr>
              <a:t>La diferencia describe este conjunto. No demuestra que el tipo de producto cause la falla.</a:t>
            </a:r>
          </a:p>
        </p:txBody>
      </p:sp>
    </p:spTree>
    <p:extLst>
      <p:ext uri="{BB962C8B-B14F-4D97-AF65-F5344CB8AC3E}">
        <p14:creationId xmlns:p14="http://schemas.microsoft.com/office/powerpoint/2010/main" val="11257065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722465-B099-40D9-AC3C-3F2FDA14D06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4560AC-9FFA-4D6F-8682-F078CF71AEE5}"/>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Velocidad, torque y desgaste concentran los contrastes más claros</a:t>
            </a:r>
          </a:p>
        </p:txBody>
      </p:sp>
      <p:sp>
        <p:nvSpPr>
          <p:cNvPr id="3" name="">
            <a:extLst xmlns:a="http://schemas.openxmlformats.org/drawingml/2006/main">
              <a:ext uri="{FF2B5EF4-FFF2-40B4-BE49-F238E27FC236}">
                <a16:creationId xmlns:a16="http://schemas.microsoft.com/office/drawing/2014/main" id="{2624795A-D7A3-4E55-8087-A2142706A3C4}"/>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10</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85a08eecf024de5"/>
          <a:stretch xmlns:a="http://schemas.openxmlformats.org/drawingml/2006/main"/>
        </p:blipFill>
        <p:spPr>
          <a:xfrm xmlns:a="http://schemas.openxmlformats.org/drawingml/2006/main">
            <a:off x="3366227" y="960120"/>
            <a:ext cx="5459545" cy="4343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2D449E6-1D0F-4496-A852-45C5C741CEC5}"/>
              </a:ext>
            </a:extLst>
          </p:cNvPr>
          <p:cNvSpPr>
            <a:spLocks xmlns:a="http://schemas.openxmlformats.org/drawingml/2006/main" noGrp="1"/>
          </p:cNvSpPr>
          <p:nvPr/>
        </p:nvSpPr>
        <p:spPr>
          <a:xfrm xmlns:a="http://schemas.openxmlformats.org/drawingml/2006/main">
            <a:off x="667512" y="5440680"/>
            <a:ext cx="1078992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0">
                <a:solidFill>
                  <a:srgbClr val="17212B"/>
                </a:solidFill>
                <a:latin typeface="Arial"/>
                <a:ea typeface="Arial"/>
                <a:cs typeface="Arial"/>
              </a:defRPr>
            </a:pPr>
            <a:r>
              <a:rPr sz="1425" b="0">
                <a:solidFill>
                  <a:srgbClr val="17212B"/>
                </a:solidFill>
                <a:latin typeface="Arial"/>
                <a:ea typeface="Arial"/>
                <a:cs typeface="Arial"/>
              </a:rPr>
              <a:t>La velocidad baja alcanza 12,16 %, el torque alto 11,50 % y el desgaste alto 8,14 %. La temperatura del proceso no presenta una tendencia monotónica clara.</a:t>
            </a:r>
          </a:p>
        </p:txBody>
      </p:sp>
    </p:spTree>
    <p:extLst>
      <p:ext uri="{BB962C8B-B14F-4D97-AF65-F5344CB8AC3E}">
        <p14:creationId xmlns:p14="http://schemas.microsoft.com/office/powerpoint/2010/main" val="21211080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18B222-3A96-4D23-B8DE-2A66455636D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47B32B-41A4-4E42-9FE0-71FA2F375D9D}"/>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La combinación operacional concentra una tasa de 28,61 %</a:t>
            </a:r>
          </a:p>
        </p:txBody>
      </p:sp>
      <p:sp>
        <p:nvSpPr>
          <p:cNvPr id="3" name="">
            <a:extLst xmlns:a="http://schemas.openxmlformats.org/drawingml/2006/main">
              <a:ext uri="{FF2B5EF4-FFF2-40B4-BE49-F238E27FC236}">
                <a16:creationId xmlns:a16="http://schemas.microsoft.com/office/drawing/2014/main" id="{5A2AD2A3-A79C-444B-90DB-8F448CD7AB5C}"/>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11</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bb7659839f64702"/>
          <a:stretch xmlns:a="http://schemas.openxmlformats.org/drawingml/2006/main"/>
        </p:blipFill>
        <p:spPr>
          <a:xfrm xmlns:a="http://schemas.openxmlformats.org/drawingml/2006/main">
            <a:off x="523875" y="1204563"/>
            <a:ext cx="7620000" cy="425837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C960DDA-86BF-4D1E-AB65-D46EA9E416F2}"/>
              </a:ext>
            </a:extLst>
          </p:cNvPr>
          <p:cNvSpPr>
            <a:spLocks xmlns:a="http://schemas.openxmlformats.org/drawingml/2006/main" noGrp="1"/>
          </p:cNvSpPr>
          <p:nvPr/>
        </p:nvSpPr>
        <p:spPr>
          <a:xfrm xmlns:a="http://schemas.openxmlformats.org/drawingml/2006/main">
            <a:off x="8620125" y="14287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1">
                <a:solidFill>
                  <a:srgbClr val="356A96"/>
                </a:solidFill>
                <a:latin typeface="Arial"/>
                <a:ea typeface="Arial"/>
                <a:cs typeface="Arial"/>
              </a:defRPr>
            </a:pPr>
            <a:r>
              <a:rPr sz="1425" b="1">
                <a:solidFill>
                  <a:srgbClr val="356A96"/>
                </a:solidFill>
                <a:latin typeface="Arial"/>
                <a:ea typeface="Arial"/>
                <a:cs typeface="Arial"/>
              </a:rPr>
              <a:t>Perfil analizado</a:t>
            </a:r>
          </a:p>
        </p:txBody>
      </p:sp>
      <p:sp>
        <p:nvSpPr>
          <p:cNvPr id="6" name="">
            <a:extLst xmlns:a="http://schemas.openxmlformats.org/drawingml/2006/main">
              <a:ext uri="{FF2B5EF4-FFF2-40B4-BE49-F238E27FC236}">
                <a16:creationId xmlns:a16="http://schemas.microsoft.com/office/drawing/2014/main" id="{89DD7F1E-CC4E-4EB0-AC8A-650BF144DCF4}"/>
              </a:ext>
            </a:extLst>
          </p:cNvPr>
          <p:cNvSpPr>
            <a:spLocks xmlns:a="http://schemas.openxmlformats.org/drawingml/2006/main" noGrp="1"/>
          </p:cNvSpPr>
          <p:nvPr/>
        </p:nvSpPr>
        <p:spPr>
          <a:xfrm xmlns:a="http://schemas.openxmlformats.org/drawingml/2006/main">
            <a:off x="8620125" y="1857375"/>
            <a:ext cx="27146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228600" indent="-114300">
              <a:spcAft>
                <a:spcPts val="1000"/>
              </a:spcAft>
              <a:buChar char="•"/>
              <a:defRPr sz="1575">
                <a:solidFill>
                  <a:srgbClr val="17212B"/>
                </a:solidFill>
                <a:latin typeface="Arial"/>
                <a:ea typeface="Arial"/>
                <a:cs typeface="Arial"/>
              </a:defRPr>
            </a:pPr>
            <a:r>
              <a:rPr sz="1575">
                <a:solidFill>
                  <a:srgbClr val="17212B"/>
                </a:solidFill>
                <a:latin typeface="Arial"/>
                <a:ea typeface="Arial"/>
                <a:cs typeface="Arial"/>
              </a:rPr>
              <a:t>Velocidad baja</a:t>
            </a:r>
          </a:p>
          <a:p xmlns:a="http://schemas.openxmlformats.org/drawingml/2006/main">
            <a:pPr marL="228600" indent="-114300">
              <a:spcAft>
                <a:spcPts val="1000"/>
              </a:spcAft>
              <a:buChar char="•"/>
              <a:defRPr sz="1575">
                <a:solidFill>
                  <a:srgbClr val="17212B"/>
                </a:solidFill>
                <a:latin typeface="Arial"/>
                <a:ea typeface="Arial"/>
                <a:cs typeface="Arial"/>
              </a:defRPr>
            </a:pPr>
            <a:r>
              <a:rPr sz="1575">
                <a:solidFill>
                  <a:srgbClr val="17212B"/>
                </a:solidFill>
                <a:latin typeface="Arial"/>
                <a:ea typeface="Arial"/>
                <a:cs typeface="Arial"/>
              </a:rPr>
              <a:t>Torque alto</a:t>
            </a:r>
          </a:p>
          <a:p xmlns:a="http://schemas.openxmlformats.org/drawingml/2006/main">
            <a:pPr marL="228600" indent="-114300">
              <a:spcAft>
                <a:spcPts val="1000"/>
              </a:spcAft>
              <a:buChar char="•"/>
              <a:defRPr sz="1575">
                <a:solidFill>
                  <a:srgbClr val="17212B"/>
                </a:solidFill>
                <a:latin typeface="Arial"/>
                <a:ea typeface="Arial"/>
                <a:cs typeface="Arial"/>
              </a:defRPr>
            </a:pPr>
            <a:r>
              <a:rPr sz="1575">
                <a:solidFill>
                  <a:srgbClr val="17212B"/>
                </a:solidFill>
                <a:latin typeface="Arial"/>
                <a:ea typeface="Arial"/>
                <a:cs typeface="Arial"/>
              </a:rPr>
              <a:t>Desgaste alto</a:t>
            </a:r>
          </a:p>
        </p:txBody>
      </p:sp>
      <p:sp>
        <p:nvSpPr>
          <p:cNvPr id="7" name="">
            <a:extLst xmlns:a="http://schemas.openxmlformats.org/drawingml/2006/main">
              <a:ext uri="{FF2B5EF4-FFF2-40B4-BE49-F238E27FC236}">
                <a16:creationId xmlns:a16="http://schemas.microsoft.com/office/drawing/2014/main" id="{CAB2006A-9D95-4CDE-8B4C-4ACA2F5829D2}"/>
              </a:ext>
            </a:extLst>
          </p:cNvPr>
          <p:cNvSpPr>
            <a:spLocks xmlns:a="http://schemas.openxmlformats.org/drawingml/2006/main" noGrp="1"/>
          </p:cNvSpPr>
          <p:nvPr/>
        </p:nvSpPr>
        <p:spPr>
          <a:xfrm xmlns:a="http://schemas.openxmlformats.org/drawingml/2006/main">
            <a:off x="8620125" y="3571875"/>
            <a:ext cx="2714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C94C4C"/>
                </a:solidFill>
                <a:latin typeface="Arial"/>
                <a:ea typeface="Arial"/>
                <a:cs typeface="Arial"/>
              </a:defRPr>
            </a:pPr>
            <a:r>
              <a:rPr sz="2025" b="1">
                <a:solidFill>
                  <a:srgbClr val="C94C4C"/>
                </a:solidFill>
                <a:latin typeface="Arial"/>
                <a:ea typeface="Arial"/>
                <a:cs typeface="Arial"/>
              </a:rPr>
              <a:t>101 fallas en 353 registros</a:t>
            </a:r>
          </a:p>
        </p:txBody>
      </p:sp>
      <p:sp>
        <p:nvSpPr>
          <p:cNvPr id="8" name="">
            <a:extLst xmlns:a="http://schemas.openxmlformats.org/drawingml/2006/main">
              <a:ext uri="{FF2B5EF4-FFF2-40B4-BE49-F238E27FC236}">
                <a16:creationId xmlns:a16="http://schemas.microsoft.com/office/drawing/2014/main" id="{6A189713-FB1A-4585-AF6D-D2F6732B151D}"/>
              </a:ext>
            </a:extLst>
          </p:cNvPr>
          <p:cNvSpPr>
            <a:spLocks xmlns:a="http://schemas.openxmlformats.org/drawingml/2006/main" noGrp="1"/>
          </p:cNvSpPr>
          <p:nvPr/>
        </p:nvSpPr>
        <p:spPr>
          <a:xfrm xmlns:a="http://schemas.openxmlformats.org/drawingml/2006/main">
            <a:off x="8620125" y="4434840"/>
            <a:ext cx="2714625"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5B6570"/>
                </a:solidFill>
                <a:latin typeface="Arial"/>
                <a:ea typeface="Arial"/>
                <a:cs typeface="Arial"/>
              </a:defRPr>
            </a:pPr>
            <a:r>
              <a:rPr sz="1425" b="1">
                <a:solidFill>
                  <a:srgbClr val="356A96"/>
                </a:solidFill>
                <a:latin typeface="Arial"/>
                <a:ea typeface="Arial"/>
                <a:cs typeface="Arial"/>
              </a:rPr>
              <a:t>Se mantiene en prueba:</a:t>
            </a:r>
          </a:p>
          <a:p xmlns:a="http://schemas.openxmlformats.org/drawingml/2006/main">
            <a:pPr algn="l">
              <a:defRPr sz="1425" b="0">
                <a:solidFill>
                  <a:srgbClr val="5B6570"/>
                </a:solidFill>
                <a:latin typeface="Arial"/>
                <a:ea typeface="Arial"/>
                <a:cs typeface="Arial"/>
              </a:defRPr>
            </a:pPr>
            <a:r>
              <a:rPr sz="1425" b="0">
                <a:solidFill>
                  <a:srgbClr val="17212B"/>
                </a:solidFill>
                <a:latin typeface="Arial"/>
                <a:ea typeface="Arial"/>
                <a:cs typeface="Arial"/>
              </a:rPr>
              <a:t>Entrenamiento: 28,94 %</a:t>
            </a:r>
          </a:p>
          <a:p xmlns:a="http://schemas.openxmlformats.org/drawingml/2006/main">
            <a:pPr algn="l">
              <a:defRPr sz="1425" b="0">
                <a:solidFill>
                  <a:srgbClr val="5B6570"/>
                </a:solidFill>
                <a:latin typeface="Arial"/>
                <a:ea typeface="Arial"/>
                <a:cs typeface="Arial"/>
              </a:defRPr>
            </a:pPr>
            <a:r>
              <a:rPr sz="1425" b="0">
                <a:solidFill>
                  <a:srgbClr val="17212B"/>
                </a:solidFill>
                <a:latin typeface="Arial"/>
                <a:ea typeface="Arial"/>
                <a:cs typeface="Arial"/>
              </a:rPr>
              <a:t>Prueba: 27,50 %</a:t>
            </a:r>
          </a:p>
          <a:p xmlns:a="http://schemas.openxmlformats.org/drawingml/2006/main">
            <a:pPr algn="l">
              <a:defRPr sz="1425" b="0">
                <a:solidFill>
                  <a:srgbClr val="5B6570"/>
                </a:solidFill>
                <a:latin typeface="Arial"/>
                <a:ea typeface="Arial"/>
                <a:cs typeface="Arial"/>
              </a:defRPr>
            </a:pPr>
            <a:r>
              <a:rPr sz="1425" b="0">
                <a:solidFill>
                  <a:srgbClr val="17212B"/>
                </a:solidFill>
                <a:latin typeface="Arial"/>
                <a:ea typeface="Arial"/>
                <a:cs typeface="Arial"/>
              </a:rPr>
              <a:t>Resto: cerca de 2,4 %</a:t>
            </a:r>
          </a:p>
        </p:txBody>
      </p:sp>
    </p:spTree>
    <p:extLst>
      <p:ext uri="{BB962C8B-B14F-4D97-AF65-F5344CB8AC3E}">
        <p14:creationId xmlns:p14="http://schemas.microsoft.com/office/powerpoint/2010/main" val="15011808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94791A-F53D-4FB3-9206-23DC44D4315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5B8DB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D3F2BD-9BD9-4445-AFE1-2F562D15890F}"/>
              </a:ext>
            </a:extLst>
          </p:cNvPr>
          <p:cNvSpPr>
            <a:spLocks xmlns:a="http://schemas.openxmlformats.org/drawingml/2006/main" noGrp="1"/>
          </p:cNvSpPr>
          <p:nvPr/>
        </p:nvSpPr>
        <p:spPr>
          <a:xfrm xmlns:a="http://schemas.openxmlformats.org/drawingml/2006/main">
            <a:off x="552450" y="3429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17212B"/>
                </a:solidFill>
                <a:latin typeface="Arial"/>
                <a:ea typeface="Arial"/>
                <a:cs typeface="Arial"/>
              </a:defRPr>
            </a:pPr>
            <a:r>
              <a:rPr sz="2550" b="1">
                <a:solidFill>
                  <a:srgbClr val="17212B"/>
                </a:solidFill>
                <a:latin typeface="Arial"/>
                <a:ea typeface="Arial"/>
                <a:cs typeface="Arial"/>
              </a:rPr>
              <a:t>Conclusiones y siguiente paso</a:t>
            </a:r>
          </a:p>
        </p:txBody>
      </p:sp>
      <p:sp>
        <p:nvSpPr>
          <p:cNvPr id="3" name="">
            <a:extLst xmlns:a="http://schemas.openxmlformats.org/drawingml/2006/main">
              <a:ext uri="{FF2B5EF4-FFF2-40B4-BE49-F238E27FC236}">
                <a16:creationId xmlns:a16="http://schemas.microsoft.com/office/drawing/2014/main" id="{22C16029-8621-49C0-A566-C99A62FB632E}"/>
              </a:ext>
            </a:extLst>
          </p:cNvPr>
          <p:cNvSpPr>
            <a:spLocks xmlns:a="http://schemas.openxmlformats.org/drawingml/2006/main" noGrp="1"/>
          </p:cNvSpPr>
          <p:nvPr/>
        </p:nvSpPr>
        <p:spPr>
          <a:xfrm xmlns:a="http://schemas.openxmlformats.org/drawingml/2006/main">
            <a:off x="11334750" y="63055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050" b="0">
                <a:solidFill>
                  <a:srgbClr val="5B6570"/>
                </a:solidFill>
                <a:latin typeface="Arial"/>
                <a:ea typeface="Arial"/>
                <a:cs typeface="Arial"/>
              </a:defRPr>
            </a:pPr>
            <a:r>
              <a:rPr sz="1050" b="0">
                <a:solidFill>
                  <a:srgbClr val="5B6570"/>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3D948796-ACD1-4E5D-974A-8BBB76FE5D4C}"/>
              </a:ext>
            </a:extLst>
          </p:cNvPr>
          <p:cNvSpPr>
            <a:spLocks xmlns:a="http://schemas.openxmlformats.org/drawingml/2006/main" noGrp="1"/>
          </p:cNvSpPr>
          <p:nvPr/>
        </p:nvSpPr>
        <p:spPr>
          <a:xfrm xmlns:a="http://schemas.openxmlformats.org/drawingml/2006/main">
            <a:off x="857250" y="13811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356A96"/>
                </a:solidFill>
                <a:latin typeface="Arial"/>
                <a:ea typeface="Arial"/>
                <a:cs typeface="Arial"/>
              </a:defRPr>
            </a:pPr>
            <a:r>
              <a:rPr sz="1650" b="1">
                <a:solidFill>
                  <a:srgbClr val="356A96"/>
                </a:solidFill>
                <a:latin typeface="Arial"/>
                <a:ea typeface="Arial"/>
                <a:cs typeface="Arial"/>
              </a:rPr>
              <a:t>Conclusión</a:t>
            </a:r>
          </a:p>
        </p:txBody>
      </p:sp>
      <p:sp>
        <p:nvSpPr>
          <p:cNvPr id="5" name="">
            <a:extLst xmlns:a="http://schemas.openxmlformats.org/drawingml/2006/main">
              <a:ext uri="{FF2B5EF4-FFF2-40B4-BE49-F238E27FC236}">
                <a16:creationId xmlns:a16="http://schemas.microsoft.com/office/drawing/2014/main" id="{E1FB3DD4-CBBC-4D59-97B2-21A2ADA49448}"/>
              </a:ext>
            </a:extLst>
          </p:cNvPr>
          <p:cNvSpPr>
            <a:spLocks xmlns:a="http://schemas.openxmlformats.org/drawingml/2006/main" noGrp="1"/>
          </p:cNvSpPr>
          <p:nvPr/>
        </p:nvSpPr>
        <p:spPr>
          <a:xfrm xmlns:a="http://schemas.openxmlformats.org/drawingml/2006/main">
            <a:off x="857250" y="1809750"/>
            <a:ext cx="1028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17212B"/>
                </a:solidFill>
                <a:latin typeface="Arial"/>
                <a:ea typeface="Arial"/>
                <a:cs typeface="Arial"/>
              </a:defRPr>
            </a:pPr>
            <a:r>
              <a:rPr sz="1950" b="1">
                <a:solidFill>
                  <a:srgbClr val="17212B"/>
                </a:solidFill>
                <a:latin typeface="Arial"/>
                <a:ea typeface="Arial"/>
                <a:cs typeface="Arial"/>
              </a:rPr>
              <a:t>La baja velocidad, el torque alto y el desgaste alto forman el perfil con la asociación más marcada con las fallas del conjunto.</a:t>
            </a:r>
          </a:p>
        </p:txBody>
      </p:sp>
      <p:sp>
        <p:nvSpPr>
          <p:cNvPr id="6" name="">
            <a:extLst xmlns:a="http://schemas.openxmlformats.org/drawingml/2006/main">
              <a:ext uri="{FF2B5EF4-FFF2-40B4-BE49-F238E27FC236}">
                <a16:creationId xmlns:a16="http://schemas.microsoft.com/office/drawing/2014/main" id="{E4ACC0AD-CA1C-4716-BECA-0D5583284D64}"/>
              </a:ext>
            </a:extLst>
          </p:cNvPr>
          <p:cNvSpPr>
            <a:spLocks xmlns:a="http://schemas.openxmlformats.org/drawingml/2006/main" noGrp="1"/>
          </p:cNvSpPr>
          <p:nvPr/>
        </p:nvSpPr>
        <p:spPr>
          <a:xfrm xmlns:a="http://schemas.openxmlformats.org/drawingml/2006/main">
            <a:off x="857250" y="2781300"/>
            <a:ext cx="10287000" cy="19050"/>
          </a:xfrm>
          <a:prstGeom xmlns:a="http://schemas.openxmlformats.org/drawingml/2006/main" prst="rect">
            <a:avLst/>
          </a:prstGeom>
          <a:solidFill xmlns:a="http://schemas.openxmlformats.org/drawingml/2006/main">
            <a:srgbClr val="D7DCE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38CBB3D-4C1F-403D-9A78-D7470BE96B30}"/>
              </a:ext>
            </a:extLst>
          </p:cNvPr>
          <p:cNvSpPr>
            <a:spLocks xmlns:a="http://schemas.openxmlformats.org/drawingml/2006/main" noGrp="1"/>
          </p:cNvSpPr>
          <p:nvPr/>
        </p:nvSpPr>
        <p:spPr>
          <a:xfrm xmlns:a="http://schemas.openxmlformats.org/drawingml/2006/main">
            <a:off x="857250" y="30956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C94C4C"/>
                </a:solidFill>
                <a:latin typeface="Arial"/>
                <a:ea typeface="Arial"/>
                <a:cs typeface="Arial"/>
              </a:defRPr>
            </a:pPr>
            <a:r>
              <a:rPr sz="1650" b="1">
                <a:solidFill>
                  <a:srgbClr val="C94C4C"/>
                </a:solidFill>
                <a:latin typeface="Arial"/>
                <a:ea typeface="Arial"/>
                <a:cs typeface="Arial"/>
              </a:rPr>
              <a:t>Límites</a:t>
            </a:r>
          </a:p>
        </p:txBody>
      </p:sp>
      <p:sp>
        <p:nvSpPr>
          <p:cNvPr id="8" name="">
            <a:extLst xmlns:a="http://schemas.openxmlformats.org/drawingml/2006/main">
              <a:ext uri="{FF2B5EF4-FFF2-40B4-BE49-F238E27FC236}">
                <a16:creationId xmlns:a16="http://schemas.microsoft.com/office/drawing/2014/main" id="{8D4F7D02-3A3B-4BF3-B89E-33721FA4D645}"/>
              </a:ext>
            </a:extLst>
          </p:cNvPr>
          <p:cNvSpPr>
            <a:spLocks xmlns:a="http://schemas.openxmlformats.org/drawingml/2006/main" noGrp="1"/>
          </p:cNvSpPr>
          <p:nvPr/>
        </p:nvSpPr>
        <p:spPr>
          <a:xfrm xmlns:a="http://schemas.openxmlformats.org/drawingml/2006/main">
            <a:off x="857250" y="35242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17212B"/>
                </a:solidFill>
                <a:latin typeface="Arial"/>
                <a:ea typeface="Arial"/>
                <a:cs typeface="Arial"/>
              </a:defRPr>
            </a:pPr>
            <a:r>
              <a:rPr sz="1725" b="0">
                <a:solidFill>
                  <a:srgbClr val="17212B"/>
                </a:solidFill>
                <a:latin typeface="Arial"/>
                <a:ea typeface="Arial"/>
                <a:cs typeface="Arial"/>
              </a:rPr>
              <a:t>AI4I 2020 es sintético y presenta pocos problemas de calidad. El análisis describe asociaciones y no demuestra causalidad ni rendimiento predictivo.</a:t>
            </a:r>
          </a:p>
        </p:txBody>
      </p:sp>
      <p:sp>
        <p:nvSpPr>
          <p:cNvPr id="9" name="">
            <a:extLst xmlns:a="http://schemas.openxmlformats.org/drawingml/2006/main">
              <a:ext uri="{FF2B5EF4-FFF2-40B4-BE49-F238E27FC236}">
                <a16:creationId xmlns:a16="http://schemas.microsoft.com/office/drawing/2014/main" id="{3269AE5D-AB17-4512-B1FF-E7BEDA89AB20}"/>
              </a:ext>
            </a:extLst>
          </p:cNvPr>
          <p:cNvSpPr>
            <a:spLocks xmlns:a="http://schemas.openxmlformats.org/drawingml/2006/main" noGrp="1"/>
          </p:cNvSpPr>
          <p:nvPr/>
        </p:nvSpPr>
        <p:spPr>
          <a:xfrm xmlns:a="http://schemas.openxmlformats.org/drawingml/2006/main">
            <a:off x="857250" y="4476750"/>
            <a:ext cx="10287000" cy="19050"/>
          </a:xfrm>
          <a:prstGeom xmlns:a="http://schemas.openxmlformats.org/drawingml/2006/main" prst="rect">
            <a:avLst/>
          </a:prstGeom>
          <a:solidFill xmlns:a="http://schemas.openxmlformats.org/drawingml/2006/main">
            <a:srgbClr val="D7DCE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D4C83AB-A42D-4E43-B266-8BB09BC4798A}"/>
              </a:ext>
            </a:extLst>
          </p:cNvPr>
          <p:cNvSpPr>
            <a:spLocks xmlns:a="http://schemas.openxmlformats.org/drawingml/2006/main" noGrp="1"/>
          </p:cNvSpPr>
          <p:nvPr/>
        </p:nvSpPr>
        <p:spPr>
          <a:xfrm xmlns:a="http://schemas.openxmlformats.org/drawingml/2006/main">
            <a:off x="857250" y="48101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447A5A"/>
                </a:solidFill>
                <a:latin typeface="Arial"/>
                <a:ea typeface="Arial"/>
                <a:cs typeface="Arial"/>
              </a:defRPr>
            </a:pPr>
            <a:r>
              <a:rPr sz="1650" b="1">
                <a:solidFill>
                  <a:srgbClr val="447A5A"/>
                </a:solidFill>
                <a:latin typeface="Arial"/>
                <a:ea typeface="Arial"/>
                <a:cs typeface="Arial"/>
              </a:rPr>
              <a:t>Siguiente paso</a:t>
            </a:r>
          </a:p>
        </p:txBody>
      </p:sp>
      <p:sp>
        <p:nvSpPr>
          <p:cNvPr id="11" name="">
            <a:extLst xmlns:a="http://schemas.openxmlformats.org/drawingml/2006/main">
              <a:ext uri="{FF2B5EF4-FFF2-40B4-BE49-F238E27FC236}">
                <a16:creationId xmlns:a16="http://schemas.microsoft.com/office/drawing/2014/main" id="{7D03B6FD-3B2F-4235-B9F9-1FCD81B25E46}"/>
              </a:ext>
            </a:extLst>
          </p:cNvPr>
          <p:cNvSpPr>
            <a:spLocks xmlns:a="http://schemas.openxmlformats.org/drawingml/2006/main" noGrp="1"/>
          </p:cNvSpPr>
          <p:nvPr/>
        </p:nvSpPr>
        <p:spPr>
          <a:xfrm xmlns:a="http://schemas.openxmlformats.org/drawingml/2006/main">
            <a:off x="857250" y="523875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17212B"/>
                </a:solidFill>
                <a:latin typeface="Arial"/>
                <a:ea typeface="Arial"/>
                <a:cs typeface="Arial"/>
              </a:defRPr>
            </a:pPr>
            <a:r>
              <a:rPr sz="1725" b="0">
                <a:solidFill>
                  <a:srgbClr val="17212B"/>
                </a:solidFill>
                <a:latin typeface="Arial"/>
                <a:ea typeface="Arial"/>
                <a:cs typeface="Arial"/>
              </a:rPr>
              <a:t>Contrastar el perfil con datos reales de mantenimiento y, después, evaluar un modelo supervisado con métricas adecuadas para clases desbalanceadas.</a:t>
            </a:r>
          </a:p>
        </p:txBody>
      </p:sp>
    </p:spTree>
    <p:extLst>
      <p:ext uri="{BB962C8B-B14F-4D97-AF65-F5344CB8AC3E}">
        <p14:creationId xmlns:p14="http://schemas.microsoft.com/office/powerpoint/2010/main" val="496184153"/>
      </p:ext>
    </p:extLst>
  </p:cSld>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Decisiones sobre los datos antes de transformar</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Fase 2 · Cada decisión responde a lo que mostró el diagnóstico del conjunto.</a:t>
            </a:r>
          </a:p>
        </p:txBody>
      </p:sp>
      <p:sp>
        <p:nvSpPr>
          <p:cNvPr id="5" name="Rounded Rectangle 4"/>
          <p:cNvSpPr/>
          <p:nvPr/>
        </p:nvSpPr>
        <p:spPr>
          <a:xfrm>
            <a:off x="621792" y="1463040"/>
            <a:ext cx="3520440" cy="1874519"/>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45920"/>
            <a:ext cx="3118104" cy="365760"/>
          </a:xfrm>
          <a:prstGeom prst="rect">
            <a:avLst/>
          </a:prstGeom>
          <a:noFill/>
        </p:spPr>
        <p:txBody>
          <a:bodyPr wrap="square" lIns="45720" rIns="45720" tIns="27432" bIns="27432" anchor="t">
            <a:spAutoFit/>
          </a:bodyPr>
          <a:lstStyle/>
          <a:p>
            <a:pPr algn="l"/>
            <a:r>
              <a:rPr sz="1650" b="1" i="0">
                <a:solidFill>
                  <a:srgbClr val="356A96"/>
                </a:solidFill>
                <a:latin typeface="Arial"/>
              </a:rPr>
              <a:t>No imputar ni eliminar filas</a:t>
            </a:r>
          </a:p>
        </p:txBody>
      </p:sp>
      <p:sp>
        <p:nvSpPr>
          <p:cNvPr id="7" name="TextBox 6"/>
          <p:cNvSpPr txBox="1"/>
          <p:nvPr/>
        </p:nvSpPr>
        <p:spPr>
          <a:xfrm>
            <a:off x="822960" y="2103120"/>
            <a:ext cx="3118104" cy="1143000"/>
          </a:xfrm>
          <a:prstGeom prst="rect">
            <a:avLst/>
          </a:prstGeom>
          <a:noFill/>
        </p:spPr>
        <p:txBody>
          <a:bodyPr wrap="square" lIns="45720" rIns="45720" tIns="27432" bIns="27432" anchor="t">
            <a:spAutoFit/>
          </a:bodyPr>
          <a:lstStyle/>
          <a:p>
            <a:pPr algn="l"/>
            <a:r>
              <a:rPr sz="1400" b="0" i="0">
                <a:solidFill>
                  <a:srgbClr val="17212B"/>
                </a:solidFill>
                <a:latin typeface="Arial"/>
              </a:rPr>
              <a:t>Hubo 0 valores faltantes y 0 duplicados. Inventar errores habría alterado datos que estaban completos.</a:t>
            </a:r>
          </a:p>
        </p:txBody>
      </p:sp>
      <p:sp>
        <p:nvSpPr>
          <p:cNvPr id="8" name="Rounded Rectangle 7"/>
          <p:cNvSpPr/>
          <p:nvPr/>
        </p:nvSpPr>
        <p:spPr>
          <a:xfrm>
            <a:off x="4416552" y="1463040"/>
            <a:ext cx="3520440" cy="1874519"/>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645920"/>
            <a:ext cx="3118104" cy="365760"/>
          </a:xfrm>
          <a:prstGeom prst="rect">
            <a:avLst/>
          </a:prstGeom>
          <a:noFill/>
        </p:spPr>
        <p:txBody>
          <a:bodyPr wrap="square" lIns="45720" rIns="45720" tIns="27432" bIns="27432" anchor="t">
            <a:spAutoFit/>
          </a:bodyPr>
          <a:lstStyle/>
          <a:p>
            <a:pPr algn="l"/>
            <a:r>
              <a:rPr sz="1650" b="1" i="0">
                <a:solidFill>
                  <a:srgbClr val="356A96"/>
                </a:solidFill>
                <a:latin typeface="Arial"/>
              </a:rPr>
              <a:t>Excluir identificadores</a:t>
            </a:r>
          </a:p>
        </p:txBody>
      </p:sp>
      <p:sp>
        <p:nvSpPr>
          <p:cNvPr id="10" name="TextBox 9"/>
          <p:cNvSpPr txBox="1"/>
          <p:nvPr/>
        </p:nvSpPr>
        <p:spPr>
          <a:xfrm>
            <a:off x="4617720" y="2103120"/>
            <a:ext cx="3118104" cy="1143000"/>
          </a:xfrm>
          <a:prstGeom prst="rect">
            <a:avLst/>
          </a:prstGeom>
          <a:noFill/>
        </p:spPr>
        <p:txBody>
          <a:bodyPr wrap="square" lIns="45720" rIns="45720" tIns="27432" bIns="27432" anchor="t">
            <a:spAutoFit/>
          </a:bodyPr>
          <a:lstStyle/>
          <a:p>
            <a:pPr algn="l"/>
            <a:r>
              <a:rPr sz="1400" b="0" i="0">
                <a:solidFill>
                  <a:srgbClr val="17212B"/>
                </a:solidFill>
                <a:latin typeface="Arial"/>
              </a:rPr>
              <a:t>UDI y Product ID solo numeran el registro. No describen cómo opera la máquina.</a:t>
            </a:r>
          </a:p>
        </p:txBody>
      </p:sp>
      <p:sp>
        <p:nvSpPr>
          <p:cNvPr id="11" name="Rounded Rectangle 10"/>
          <p:cNvSpPr/>
          <p:nvPr/>
        </p:nvSpPr>
        <p:spPr>
          <a:xfrm>
            <a:off x="621792" y="3611879"/>
            <a:ext cx="3520440" cy="1874519"/>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794759"/>
            <a:ext cx="3118104" cy="365760"/>
          </a:xfrm>
          <a:prstGeom prst="rect">
            <a:avLst/>
          </a:prstGeom>
          <a:noFill/>
        </p:spPr>
        <p:txBody>
          <a:bodyPr wrap="square" lIns="45720" rIns="45720" tIns="27432" bIns="27432" anchor="t">
            <a:spAutoFit/>
          </a:bodyPr>
          <a:lstStyle/>
          <a:p>
            <a:pPr algn="l"/>
            <a:r>
              <a:rPr sz="1650" b="1" i="0">
                <a:solidFill>
                  <a:srgbClr val="C94C4C"/>
                </a:solidFill>
                <a:latin typeface="Arial"/>
              </a:rPr>
              <a:t>Excluir modos de falla</a:t>
            </a:r>
          </a:p>
        </p:txBody>
      </p:sp>
      <p:sp>
        <p:nvSpPr>
          <p:cNvPr id="13" name="TextBox 12"/>
          <p:cNvSpPr txBox="1"/>
          <p:nvPr/>
        </p:nvSpPr>
        <p:spPr>
          <a:xfrm>
            <a:off x="822960" y="4251959"/>
            <a:ext cx="3118104" cy="1143000"/>
          </a:xfrm>
          <a:prstGeom prst="rect">
            <a:avLst/>
          </a:prstGeom>
          <a:noFill/>
        </p:spPr>
        <p:txBody>
          <a:bodyPr wrap="square" lIns="45720" rIns="45720" tIns="27432" bIns="27432" anchor="t">
            <a:spAutoFit/>
          </a:bodyPr>
          <a:lstStyle/>
          <a:p>
            <a:pPr algn="l"/>
            <a:r>
              <a:rPr sz="1400" b="0" i="0">
                <a:solidFill>
                  <a:srgbClr val="17212B"/>
                </a:solidFill>
                <a:latin typeface="Arial"/>
              </a:rPr>
              <a:t>TWF, HDF, PWF, OSF y RNF ya indican qué falló. Usarlos sería fuga de información: la respuesta entraría como dato.</a:t>
            </a:r>
          </a:p>
        </p:txBody>
      </p:sp>
      <p:sp>
        <p:nvSpPr>
          <p:cNvPr id="14" name="Rounded Rectangle 13"/>
          <p:cNvSpPr/>
          <p:nvPr/>
        </p:nvSpPr>
        <p:spPr>
          <a:xfrm>
            <a:off x="4416552" y="3611879"/>
            <a:ext cx="3520440" cy="1874519"/>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7720" y="3794759"/>
            <a:ext cx="3118104" cy="365760"/>
          </a:xfrm>
          <a:prstGeom prst="rect">
            <a:avLst/>
          </a:prstGeom>
          <a:noFill/>
        </p:spPr>
        <p:txBody>
          <a:bodyPr wrap="square" lIns="45720" rIns="45720" tIns="27432" bIns="27432" anchor="t">
            <a:spAutoFit/>
          </a:bodyPr>
          <a:lstStyle/>
          <a:p>
            <a:pPr algn="l"/>
            <a:r>
              <a:rPr sz="1650" b="1" i="0">
                <a:solidFill>
                  <a:srgbClr val="356A96"/>
                </a:solidFill>
                <a:latin typeface="Arial"/>
              </a:rPr>
              <a:t>Conservar valores extremos</a:t>
            </a:r>
          </a:p>
        </p:txBody>
      </p:sp>
      <p:sp>
        <p:nvSpPr>
          <p:cNvPr id="16" name="TextBox 15"/>
          <p:cNvSpPr txBox="1"/>
          <p:nvPr/>
        </p:nvSpPr>
        <p:spPr>
          <a:xfrm>
            <a:off x="4617720" y="4251959"/>
            <a:ext cx="3118104" cy="1143000"/>
          </a:xfrm>
          <a:prstGeom prst="rect">
            <a:avLst/>
          </a:prstGeom>
          <a:noFill/>
        </p:spPr>
        <p:txBody>
          <a:bodyPr wrap="square" lIns="45720" rIns="45720" tIns="27432" bIns="27432" anchor="t">
            <a:spAutoFit/>
          </a:bodyPr>
          <a:lstStyle/>
          <a:p>
            <a:pPr algn="l"/>
            <a:r>
              <a:rPr sz="1400" b="0" i="0">
                <a:solidFill>
                  <a:srgbClr val="17212B"/>
                </a:solidFill>
                <a:latin typeface="Arial"/>
              </a:rPr>
              <a:t>Las velocidades y torques extremos pueden estar ligados a la falla. Se mantuvieron en el análisis.</a:t>
            </a:r>
          </a:p>
        </p:txBody>
      </p:sp>
      <p:sp>
        <p:nvSpPr>
          <p:cNvPr id="17" name="Rounded Rectangle 16"/>
          <p:cNvSpPr/>
          <p:nvPr/>
        </p:nvSpPr>
        <p:spPr>
          <a:xfrm>
            <a:off x="8348472" y="1463040"/>
            <a:ext cx="3218687" cy="4023360"/>
          </a:xfrm>
          <a:prstGeom prst="roundRect">
            <a:avLst>
              <a:gd name="adj" fmla="val 8000"/>
            </a:avLst>
          </a:prstGeom>
          <a:solidFill>
            <a:srgbClr val="F9EAEA"/>
          </a:solidFill>
          <a:ln w="9525">
            <a:solidFill>
              <a:srgbClr val="C94C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77072" y="1691640"/>
            <a:ext cx="2761487" cy="320040"/>
          </a:xfrm>
          <a:prstGeom prst="rect">
            <a:avLst/>
          </a:prstGeom>
          <a:noFill/>
        </p:spPr>
        <p:txBody>
          <a:bodyPr wrap="square" lIns="45720" rIns="45720" tIns="27432" bIns="27432" anchor="t">
            <a:spAutoFit/>
          </a:bodyPr>
          <a:lstStyle/>
          <a:p>
            <a:pPr algn="l"/>
            <a:r>
              <a:rPr sz="1425" b="1" i="0">
                <a:solidFill>
                  <a:srgbClr val="C94C4C"/>
                </a:solidFill>
                <a:latin typeface="Arial"/>
              </a:rPr>
              <a:t>Clase desbalanceada</a:t>
            </a:r>
          </a:p>
        </p:txBody>
      </p:sp>
      <p:sp>
        <p:nvSpPr>
          <p:cNvPr id="19" name="TextBox 18"/>
          <p:cNvSpPr txBox="1"/>
          <p:nvPr/>
        </p:nvSpPr>
        <p:spPr>
          <a:xfrm>
            <a:off x="8577072" y="2103120"/>
            <a:ext cx="2761487" cy="731520"/>
          </a:xfrm>
          <a:prstGeom prst="rect">
            <a:avLst/>
          </a:prstGeom>
          <a:noFill/>
        </p:spPr>
        <p:txBody>
          <a:bodyPr wrap="square" lIns="45720" rIns="45720" tIns="27432" bIns="27432" anchor="t">
            <a:spAutoFit/>
          </a:bodyPr>
          <a:lstStyle/>
          <a:p>
            <a:pPr algn="l"/>
            <a:r>
              <a:rPr sz="3600" b="1" i="0">
                <a:solidFill>
                  <a:srgbClr val="C94C4C"/>
                </a:solidFill>
                <a:latin typeface="Arial"/>
              </a:rPr>
              <a:t>96,61 %</a:t>
            </a:r>
          </a:p>
        </p:txBody>
      </p:sp>
      <p:sp>
        <p:nvSpPr>
          <p:cNvPr id="20" name="TextBox 19"/>
          <p:cNvSpPr txBox="1"/>
          <p:nvPr/>
        </p:nvSpPr>
        <p:spPr>
          <a:xfrm>
            <a:off x="8577072" y="2880360"/>
            <a:ext cx="2761487" cy="2468880"/>
          </a:xfrm>
          <a:prstGeom prst="rect">
            <a:avLst/>
          </a:prstGeom>
          <a:noFill/>
        </p:spPr>
        <p:txBody>
          <a:bodyPr wrap="square" lIns="45720" rIns="45720" tIns="27432" bIns="27432" anchor="t">
            <a:spAutoFit/>
          </a:bodyPr>
          <a:lstStyle/>
          <a:p>
            <a:pPr algn="l">
              <a:spcAft>
                <a:spcPts val="800"/>
              </a:spcAft>
            </a:pPr>
            <a:r>
              <a:rPr sz="1400" b="0" i="0">
                <a:solidFill>
                  <a:srgbClr val="17212B"/>
                </a:solidFill>
                <a:latin typeface="Arial"/>
              </a:rPr>
              <a:t>Es lo que acertaría quien dijera siempre «sin falla», sin detectar ninguna.</a:t>
            </a:r>
          </a:p>
          <a:p>
            <a:pPr algn="l">
              <a:spcAft>
                <a:spcPts val="800"/>
              </a:spcAft>
            </a:pPr>
            <a:r>
              <a:rPr sz="1400" b="0" i="0">
                <a:solidFill>
                  <a:srgbClr val="17212B"/>
                </a:solidFill>
                <a:latin typeface="Arial"/>
              </a:rPr>
              <a:t>Por eso la exactitud no sirve como medida en este problema.</a:t>
            </a:r>
          </a:p>
        </p:txBody>
      </p:sp>
      <p:sp>
        <p:nvSpPr>
          <p:cNvPr id="21" name="TextBox 20"/>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One Hot Encoding y RobustScaler preparan las variables</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Fase 2 · Primero se divide y después se transforma, para que la prueba no influya en lo aprendido.</a:t>
            </a:r>
          </a:p>
        </p:txBody>
      </p:sp>
      <p:sp>
        <p:nvSpPr>
          <p:cNvPr id="5" name="Rounded Rectangle 4"/>
          <p:cNvSpPr/>
          <p:nvPr/>
        </p:nvSpPr>
        <p:spPr>
          <a:xfrm>
            <a:off x="621792" y="1463040"/>
            <a:ext cx="3429000" cy="36576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166420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1</a:t>
            </a:r>
          </a:p>
        </p:txBody>
      </p:sp>
      <p:sp>
        <p:nvSpPr>
          <p:cNvPr id="7" name="TextBox 6"/>
          <p:cNvSpPr txBox="1"/>
          <p:nvPr/>
        </p:nvSpPr>
        <p:spPr>
          <a:xfrm>
            <a:off x="1307592" y="1664208"/>
            <a:ext cx="2606040" cy="411480"/>
          </a:xfrm>
          <a:prstGeom prst="rect">
            <a:avLst/>
          </a:prstGeom>
          <a:noFill/>
        </p:spPr>
        <p:txBody>
          <a:bodyPr wrap="square" lIns="45720" rIns="45720" tIns="27432" bIns="27432" anchor="ctr">
            <a:spAutoFit/>
          </a:bodyPr>
          <a:lstStyle/>
          <a:p>
            <a:pPr algn="l"/>
            <a:r>
              <a:rPr sz="1550" b="1" i="0">
                <a:solidFill>
                  <a:srgbClr val="17212B"/>
                </a:solidFill>
                <a:latin typeface="Arial"/>
              </a:rPr>
              <a:t>Dividir primero</a:t>
            </a:r>
          </a:p>
        </p:txBody>
      </p:sp>
      <p:sp>
        <p:nvSpPr>
          <p:cNvPr id="8" name="Rounded Rectangle 7"/>
          <p:cNvSpPr/>
          <p:nvPr/>
        </p:nvSpPr>
        <p:spPr>
          <a:xfrm>
            <a:off x="4325112" y="1463040"/>
            <a:ext cx="3429000" cy="36576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26279" y="166420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2</a:t>
            </a:r>
          </a:p>
        </p:txBody>
      </p:sp>
      <p:sp>
        <p:nvSpPr>
          <p:cNvPr id="10" name="TextBox 9"/>
          <p:cNvSpPr txBox="1"/>
          <p:nvPr/>
        </p:nvSpPr>
        <p:spPr>
          <a:xfrm>
            <a:off x="5010912" y="1664208"/>
            <a:ext cx="2606040" cy="411480"/>
          </a:xfrm>
          <a:prstGeom prst="rect">
            <a:avLst/>
          </a:prstGeom>
          <a:noFill/>
        </p:spPr>
        <p:txBody>
          <a:bodyPr wrap="square" lIns="45720" rIns="45720" tIns="27432" bIns="27432" anchor="ctr">
            <a:spAutoFit/>
          </a:bodyPr>
          <a:lstStyle/>
          <a:p>
            <a:pPr algn="l"/>
            <a:r>
              <a:rPr sz="1550" b="1" i="0">
                <a:solidFill>
                  <a:srgbClr val="17212B"/>
                </a:solidFill>
                <a:latin typeface="Arial"/>
              </a:rPr>
              <a:t>One Hot Encoding · Type</a:t>
            </a:r>
          </a:p>
        </p:txBody>
      </p:sp>
      <p:sp>
        <p:nvSpPr>
          <p:cNvPr id="11" name="Rounded Rectangle 10"/>
          <p:cNvSpPr/>
          <p:nvPr/>
        </p:nvSpPr>
        <p:spPr>
          <a:xfrm>
            <a:off x="8028431" y="1463040"/>
            <a:ext cx="3429000" cy="36576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0" y="166420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3</a:t>
            </a:r>
          </a:p>
        </p:txBody>
      </p:sp>
      <p:sp>
        <p:nvSpPr>
          <p:cNvPr id="13" name="TextBox 12"/>
          <p:cNvSpPr txBox="1"/>
          <p:nvPr/>
        </p:nvSpPr>
        <p:spPr>
          <a:xfrm>
            <a:off x="8714232" y="1664208"/>
            <a:ext cx="2606040" cy="411480"/>
          </a:xfrm>
          <a:prstGeom prst="rect">
            <a:avLst/>
          </a:prstGeom>
          <a:noFill/>
        </p:spPr>
        <p:txBody>
          <a:bodyPr wrap="square" lIns="45720" rIns="45720" tIns="27432" bIns="27432" anchor="ctr">
            <a:spAutoFit/>
          </a:bodyPr>
          <a:lstStyle/>
          <a:p>
            <a:pPr algn="l"/>
            <a:r>
              <a:rPr sz="1550" b="1" i="0">
                <a:solidFill>
                  <a:srgbClr val="17212B"/>
                </a:solidFill>
                <a:latin typeface="Arial"/>
              </a:rPr>
              <a:t>RobustScaler</a:t>
            </a:r>
          </a:p>
        </p:txBody>
      </p:sp>
      <p:sp>
        <p:nvSpPr>
          <p:cNvPr id="14" name="Rectangle 13"/>
          <p:cNvSpPr/>
          <p:nvPr/>
        </p:nvSpPr>
        <p:spPr>
          <a:xfrm>
            <a:off x="850392" y="2377440"/>
            <a:ext cx="2377440" cy="50292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7832" y="2377440"/>
            <a:ext cx="594360" cy="502920"/>
          </a:xfrm>
          <a:prstGeom prst="rect">
            <a:avLst/>
          </a:prstGeom>
          <a:solidFill>
            <a:srgbClr val="C94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2377440"/>
            <a:ext cx="2377440" cy="502920"/>
          </a:xfrm>
          <a:prstGeom prst="rect">
            <a:avLst/>
          </a:prstGeom>
          <a:noFill/>
        </p:spPr>
        <p:txBody>
          <a:bodyPr wrap="square" lIns="45720" rIns="45720" tIns="27432" bIns="27432" anchor="ctr">
            <a:spAutoFit/>
          </a:bodyPr>
          <a:lstStyle/>
          <a:p>
            <a:pPr algn="ctr"/>
            <a:r>
              <a:rPr sz="1200" b="1" i="0">
                <a:solidFill>
                  <a:srgbClr val="FFFFFF"/>
                </a:solidFill>
                <a:latin typeface="Arial"/>
              </a:rPr>
              <a:t>8.000 entrenamiento</a:t>
            </a:r>
          </a:p>
        </p:txBody>
      </p:sp>
      <p:sp>
        <p:nvSpPr>
          <p:cNvPr id="17" name="TextBox 16"/>
          <p:cNvSpPr txBox="1"/>
          <p:nvPr/>
        </p:nvSpPr>
        <p:spPr>
          <a:xfrm>
            <a:off x="3227832" y="2377440"/>
            <a:ext cx="594360" cy="502920"/>
          </a:xfrm>
          <a:prstGeom prst="rect">
            <a:avLst/>
          </a:prstGeom>
          <a:noFill/>
        </p:spPr>
        <p:txBody>
          <a:bodyPr wrap="square" lIns="45720" rIns="45720" tIns="27432" bIns="27432" anchor="ctr">
            <a:spAutoFit/>
          </a:bodyPr>
          <a:lstStyle/>
          <a:p>
            <a:pPr algn="ctr"/>
            <a:r>
              <a:rPr sz="1200" b="1" i="0">
                <a:solidFill>
                  <a:srgbClr val="FFFFFF"/>
                </a:solidFill>
                <a:latin typeface="Arial"/>
              </a:rPr>
              <a:t>2.000</a:t>
            </a:r>
          </a:p>
        </p:txBody>
      </p:sp>
      <p:sp>
        <p:nvSpPr>
          <p:cNvPr id="18" name="TextBox 17"/>
          <p:cNvSpPr txBox="1"/>
          <p:nvPr/>
        </p:nvSpPr>
        <p:spPr>
          <a:xfrm>
            <a:off x="850392" y="3063240"/>
            <a:ext cx="2971800" cy="1920240"/>
          </a:xfrm>
          <a:prstGeom prst="rect">
            <a:avLst/>
          </a:prstGeom>
          <a:noFill/>
        </p:spPr>
        <p:txBody>
          <a:bodyPr wrap="square" lIns="45720" rIns="45720" tIns="27432" bIns="27432" anchor="t">
            <a:spAutoFit/>
          </a:bodyPr>
          <a:lstStyle/>
          <a:p>
            <a:pPr algn="l">
              <a:spcAft>
                <a:spcPts val="600"/>
              </a:spcAft>
            </a:pPr>
            <a:r>
              <a:rPr sz="1300" b="0" i="0">
                <a:solidFill>
                  <a:srgbClr val="17212B"/>
                </a:solidFill>
                <a:latin typeface="Arial"/>
              </a:rPr>
              <a:t>División 80/20 estratificada: ambas partes conservan 3,39 % de fallas.</a:t>
            </a:r>
          </a:p>
          <a:p>
            <a:pPr algn="l">
              <a:spcAft>
                <a:spcPts val="600"/>
              </a:spcAft>
            </a:pPr>
            <a:r>
              <a:rPr sz="1300" b="0" i="0">
                <a:solidFill>
                  <a:srgbClr val="17212B"/>
                </a:solidFill>
                <a:latin typeface="Arial"/>
              </a:rPr>
              <a:t>Semilla 42 para repetir la misma división.</a:t>
            </a:r>
          </a:p>
          <a:p>
            <a:pPr algn="l">
              <a:spcAft>
                <a:spcPts val="600"/>
              </a:spcAft>
            </a:pPr>
            <a:r>
              <a:rPr sz="1300" b="0" i="0">
                <a:solidFill>
                  <a:srgbClr val="17212B"/>
                </a:solidFill>
                <a:latin typeface="Arial"/>
              </a:rPr>
              <a:t>Medianas, IQR y categorías se aprenden solo de entrenamiento.</a:t>
            </a:r>
          </a:p>
        </p:txBody>
      </p:sp>
      <p:graphicFrame>
        <p:nvGraphicFramePr>
          <p:cNvPr id="19" name="Table 18"/>
          <p:cNvGraphicFramePr>
            <a:graphicFrameLocks noGrp="1"/>
          </p:cNvGraphicFramePr>
          <p:nvPr/>
        </p:nvGraphicFramePr>
        <p:xfrm>
          <a:off x="4553712" y="2331720"/>
          <a:ext cx="2971800" cy="1280160"/>
        </p:xfrm>
        <a:graphic>
          <a:graphicData uri="http://schemas.openxmlformats.org/drawingml/2006/table">
            <a:tbl>
              <a:tblPr firstRow="0" bandRow="0">
                <a:tableStyleId>{5C22544A-7EE6-4342-B048-85BDC9FD1C3A}</a:tableStyleId>
              </a:tblPr>
              <a:tblGrid>
                <a:gridCol w="742950"/>
                <a:gridCol w="742950"/>
                <a:gridCol w="742950"/>
                <a:gridCol w="742950"/>
              </a:tblGrid>
              <a:tr h="320040">
                <a:tc>
                  <a:txBody>
                    <a:bodyPr/>
                    <a:lstStyle/>
                    <a:p>
                      <a:pPr algn="ctr"/>
                      <a:r>
                        <a:rPr sz="1200" b="1">
                          <a:solidFill>
                            <a:srgbClr val="17212B"/>
                          </a:solidFill>
                          <a:latin typeface="Arial"/>
                        </a:rPr>
                        <a:t>Type</a:t>
                      </a:r>
                    </a:p>
                  </a:txBody>
                  <a:tcPr marL="27432" marR="27432" marT="18288" marB="18288">
                    <a:solidFill>
                      <a:srgbClr val="EAF2F8"/>
                    </a:solidFill>
                  </a:tcPr>
                </a:tc>
                <a:tc>
                  <a:txBody>
                    <a:bodyPr/>
                    <a:lstStyle/>
                    <a:p>
                      <a:pPr algn="ctr"/>
                      <a:r>
                        <a:rPr sz="1200" b="1">
                          <a:solidFill>
                            <a:srgbClr val="17212B"/>
                          </a:solidFill>
                          <a:latin typeface="Arial"/>
                        </a:rPr>
                        <a:t>Type_H</a:t>
                      </a:r>
                    </a:p>
                  </a:txBody>
                  <a:tcPr marL="27432" marR="27432" marT="18288" marB="18288">
                    <a:solidFill>
                      <a:srgbClr val="EAF2F8"/>
                    </a:solidFill>
                  </a:tcPr>
                </a:tc>
                <a:tc>
                  <a:txBody>
                    <a:bodyPr/>
                    <a:lstStyle/>
                    <a:p>
                      <a:pPr algn="ctr"/>
                      <a:r>
                        <a:rPr sz="1200" b="1">
                          <a:solidFill>
                            <a:srgbClr val="17212B"/>
                          </a:solidFill>
                          <a:latin typeface="Arial"/>
                        </a:rPr>
                        <a:t>Type_L</a:t>
                      </a:r>
                    </a:p>
                  </a:txBody>
                  <a:tcPr marL="27432" marR="27432" marT="18288" marB="18288">
                    <a:solidFill>
                      <a:srgbClr val="EAF2F8"/>
                    </a:solidFill>
                  </a:tcPr>
                </a:tc>
                <a:tc>
                  <a:txBody>
                    <a:bodyPr/>
                    <a:lstStyle/>
                    <a:p>
                      <a:pPr algn="ctr"/>
                      <a:r>
                        <a:rPr sz="1200" b="1">
                          <a:solidFill>
                            <a:srgbClr val="17212B"/>
                          </a:solidFill>
                          <a:latin typeface="Arial"/>
                        </a:rPr>
                        <a:t>Type_M</a:t>
                      </a:r>
                    </a:p>
                  </a:txBody>
                  <a:tcPr marL="27432" marR="27432" marT="18288" marB="18288">
                    <a:solidFill>
                      <a:srgbClr val="EAF2F8"/>
                    </a:solidFill>
                  </a:tcPr>
                </a:tc>
              </a:tr>
              <a:tr h="320040">
                <a:tc>
                  <a:txBody>
                    <a:bodyPr/>
                    <a:lstStyle/>
                    <a:p>
                      <a:pPr algn="ctr"/>
                      <a:r>
                        <a:rPr sz="1200" b="1">
                          <a:solidFill>
                            <a:srgbClr val="17212B"/>
                          </a:solidFill>
                          <a:latin typeface="Arial"/>
                        </a:rPr>
                        <a:t>L</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c>
                  <a:txBody>
                    <a:bodyPr/>
                    <a:lstStyle/>
                    <a:p>
                      <a:pPr algn="ctr"/>
                      <a:r>
                        <a:rPr sz="1200" b="1">
                          <a:solidFill>
                            <a:srgbClr val="C94C4C"/>
                          </a:solidFill>
                          <a:latin typeface="Arial"/>
                        </a:rPr>
                        <a:t>1</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r>
              <a:tr h="320040">
                <a:tc>
                  <a:txBody>
                    <a:bodyPr/>
                    <a:lstStyle/>
                    <a:p>
                      <a:pPr algn="ctr"/>
                      <a:r>
                        <a:rPr sz="1200" b="1">
                          <a:solidFill>
                            <a:srgbClr val="17212B"/>
                          </a:solidFill>
                          <a:latin typeface="Arial"/>
                        </a:rPr>
                        <a:t>M</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c>
                  <a:txBody>
                    <a:bodyPr/>
                    <a:lstStyle/>
                    <a:p>
                      <a:pPr algn="ctr"/>
                      <a:r>
                        <a:rPr sz="1200" b="1">
                          <a:solidFill>
                            <a:srgbClr val="C94C4C"/>
                          </a:solidFill>
                          <a:latin typeface="Arial"/>
                        </a:rPr>
                        <a:t>1</a:t>
                      </a:r>
                    </a:p>
                  </a:txBody>
                  <a:tcPr marL="27432" marR="27432" marT="18288" marB="18288">
                    <a:solidFill>
                      <a:srgbClr val="FFFFFF"/>
                    </a:solidFill>
                  </a:tcPr>
                </a:tc>
              </a:tr>
              <a:tr h="320040">
                <a:tc>
                  <a:txBody>
                    <a:bodyPr/>
                    <a:lstStyle/>
                    <a:p>
                      <a:pPr algn="ctr"/>
                      <a:r>
                        <a:rPr sz="1200" b="1">
                          <a:solidFill>
                            <a:srgbClr val="17212B"/>
                          </a:solidFill>
                          <a:latin typeface="Arial"/>
                        </a:rPr>
                        <a:t>H</a:t>
                      </a:r>
                    </a:p>
                  </a:txBody>
                  <a:tcPr marL="27432" marR="27432" marT="18288" marB="18288">
                    <a:solidFill>
                      <a:srgbClr val="FFFFFF"/>
                    </a:solidFill>
                  </a:tcPr>
                </a:tc>
                <a:tc>
                  <a:txBody>
                    <a:bodyPr/>
                    <a:lstStyle/>
                    <a:p>
                      <a:pPr algn="ctr"/>
                      <a:r>
                        <a:rPr sz="1200" b="1">
                          <a:solidFill>
                            <a:srgbClr val="C94C4C"/>
                          </a:solidFill>
                          <a:latin typeface="Arial"/>
                        </a:rPr>
                        <a:t>1</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c>
                  <a:txBody>
                    <a:bodyPr/>
                    <a:lstStyle/>
                    <a:p>
                      <a:pPr algn="ctr"/>
                      <a:r>
                        <a:rPr sz="1200" b="0">
                          <a:solidFill>
                            <a:srgbClr val="17212B"/>
                          </a:solidFill>
                          <a:latin typeface="Arial"/>
                        </a:rPr>
                        <a:t>0</a:t>
                      </a:r>
                    </a:p>
                  </a:txBody>
                  <a:tcPr marL="27432" marR="27432" marT="18288" marB="18288">
                    <a:solidFill>
                      <a:srgbClr val="FFFFFF"/>
                    </a:solidFill>
                  </a:tcPr>
                </a:tc>
              </a:tr>
            </a:tbl>
          </a:graphicData>
        </a:graphic>
      </p:graphicFrame>
      <p:sp>
        <p:nvSpPr>
          <p:cNvPr id="20" name="TextBox 19"/>
          <p:cNvSpPr txBox="1"/>
          <p:nvPr/>
        </p:nvSpPr>
        <p:spPr>
          <a:xfrm>
            <a:off x="4553712" y="3749039"/>
            <a:ext cx="2971800" cy="1280160"/>
          </a:xfrm>
          <a:prstGeom prst="rect">
            <a:avLst/>
          </a:prstGeom>
          <a:noFill/>
        </p:spPr>
        <p:txBody>
          <a:bodyPr wrap="square" lIns="45720" rIns="45720" tIns="27432" bIns="27432" anchor="t">
            <a:spAutoFit/>
          </a:bodyPr>
          <a:lstStyle/>
          <a:p>
            <a:pPr algn="l">
              <a:spcAft>
                <a:spcPts val="600"/>
              </a:spcAft>
            </a:pPr>
            <a:r>
              <a:rPr sz="1300" b="0" i="0">
                <a:solidFill>
                  <a:srgbClr val="17212B"/>
                </a:solidFill>
                <a:latin typeface="Arial"/>
              </a:rPr>
              <a:t>Convierte la letra en columnas 0/1.</a:t>
            </a:r>
          </a:p>
          <a:p>
            <a:pPr algn="l">
              <a:spcAft>
                <a:spcPts val="600"/>
              </a:spcAft>
            </a:pPr>
            <a:r>
              <a:rPr sz="1300" b="0" i="0">
                <a:solidFill>
                  <a:srgbClr val="17212B"/>
                </a:solidFill>
                <a:latin typeface="Arial"/>
              </a:rPr>
              <a:t>No inventa un orden falso entre L, M y H.</a:t>
            </a:r>
          </a:p>
        </p:txBody>
      </p:sp>
      <p:sp>
        <p:nvSpPr>
          <p:cNvPr id="21" name="Rounded Rectangle 20"/>
          <p:cNvSpPr/>
          <p:nvPr/>
        </p:nvSpPr>
        <p:spPr>
          <a:xfrm>
            <a:off x="8257031" y="2377440"/>
            <a:ext cx="2971800" cy="685800"/>
          </a:xfrm>
          <a:prstGeom prst="roundRect">
            <a:avLst>
              <a:gd name="adj" fmla="val 8000"/>
            </a:avLst>
          </a:prstGeom>
          <a:solidFill>
            <a:srgbClr val="FFFFFF"/>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377440"/>
            <a:ext cx="2971800" cy="685800"/>
          </a:xfrm>
          <a:prstGeom prst="rect">
            <a:avLst/>
          </a:prstGeom>
          <a:noFill/>
        </p:spPr>
        <p:txBody>
          <a:bodyPr wrap="square" lIns="45720" rIns="45720" tIns="27432" bIns="27432" anchor="ctr">
            <a:spAutoFit/>
          </a:bodyPr>
          <a:lstStyle/>
          <a:p>
            <a:pPr algn="ctr"/>
            <a:r>
              <a:rPr sz="1500" b="1" i="0">
                <a:solidFill>
                  <a:srgbClr val="356A96"/>
                </a:solidFill>
                <a:latin typeface="Courier New"/>
              </a:rPr>
              <a:t>(valor − mediana) / IQR</a:t>
            </a:r>
          </a:p>
        </p:txBody>
      </p:sp>
      <p:sp>
        <p:nvSpPr>
          <p:cNvPr id="23" name="TextBox 22"/>
          <p:cNvSpPr txBox="1"/>
          <p:nvPr/>
        </p:nvSpPr>
        <p:spPr>
          <a:xfrm>
            <a:off x="8257031" y="3246120"/>
            <a:ext cx="2971800" cy="1737360"/>
          </a:xfrm>
          <a:prstGeom prst="rect">
            <a:avLst/>
          </a:prstGeom>
          <a:noFill/>
        </p:spPr>
        <p:txBody>
          <a:bodyPr wrap="square" lIns="45720" rIns="45720" tIns="27432" bIns="27432" anchor="t">
            <a:spAutoFit/>
          </a:bodyPr>
          <a:lstStyle/>
          <a:p>
            <a:pPr algn="l">
              <a:spcAft>
                <a:spcPts val="600"/>
              </a:spcAft>
            </a:pPr>
            <a:r>
              <a:rPr sz="1300" b="0" i="0">
                <a:solidFill>
                  <a:srgbClr val="17212B"/>
                </a:solidFill>
                <a:latin typeface="Arial"/>
              </a:rPr>
              <a:t>Se aplica a las 5 numéricas: temperaturas, velocidad, torque y desgaste.</a:t>
            </a:r>
          </a:p>
          <a:p>
            <a:pPr algn="l">
              <a:spcAft>
                <a:spcPts val="600"/>
              </a:spcAft>
            </a:pPr>
            <a:r>
              <a:rPr sz="1300" b="0" i="0">
                <a:solidFill>
                  <a:srgbClr val="17212B"/>
                </a:solidFill>
                <a:latin typeface="Arial"/>
              </a:rPr>
              <a:t>Mediana e IQR se afectan menos por valores extremos que la media.</a:t>
            </a:r>
          </a:p>
        </p:txBody>
      </p:sp>
      <p:sp>
        <p:nvSpPr>
          <p:cNvPr id="24" name="TextBox 23"/>
          <p:cNvSpPr txBox="1"/>
          <p:nvPr/>
        </p:nvSpPr>
        <p:spPr>
          <a:xfrm>
            <a:off x="621792" y="5349240"/>
            <a:ext cx="10881360" cy="411480"/>
          </a:xfrm>
          <a:prstGeom prst="rect">
            <a:avLst/>
          </a:prstGeom>
          <a:noFill/>
        </p:spPr>
        <p:txBody>
          <a:bodyPr wrap="square" lIns="45720" rIns="45720" tIns="27432" bIns="27432" anchor="t">
            <a:spAutoFit/>
          </a:bodyPr>
          <a:lstStyle/>
          <a:p>
            <a:pPr algn="l"/>
            <a:r>
              <a:rPr sz="1400" b="1" i="0">
                <a:solidFill>
                  <a:srgbClr val="17212B"/>
                </a:solidFill>
                <a:latin typeface="Arial"/>
              </a:rPr>
              <a:t>Resultado: </a:t>
            </a:r>
            <a:r>
              <a:rPr sz="1400" b="0" i="0">
                <a:solidFill>
                  <a:srgbClr val="17212B"/>
                </a:solidFill>
                <a:latin typeface="Arial"/>
              </a:rPr>
              <a:t>3 columnas de Type + 5 numéricas + Machine failure = 9 columnas, en entrenamiento y prueba.</a:t>
            </a:r>
          </a:p>
        </p:txBody>
      </p:sp>
      <p:sp>
        <p:nvSpPr>
          <p:cNvPr id="25" name="TextBox 24"/>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El pipeline se reorganizó con programación orientada a objetos</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Fase 3 · El mismo procesamiento de F2, ahora en clases y módulos reutilizables.</a:t>
            </a:r>
          </a:p>
        </p:txBody>
      </p:sp>
      <p:sp>
        <p:nvSpPr>
          <p:cNvPr id="5" name="Rounded Rectangle 4"/>
          <p:cNvSpPr/>
          <p:nvPr/>
        </p:nvSpPr>
        <p:spPr>
          <a:xfrm>
            <a:off x="1874519" y="1508760"/>
            <a:ext cx="3108960" cy="868680"/>
          </a:xfrm>
          <a:prstGeom prst="roundRect">
            <a:avLst>
              <a:gd name="adj" fmla="val 8000"/>
            </a:avLst>
          </a:prstGeom>
          <a:solidFill>
            <a:srgbClr val="EAF2F8"/>
          </a:solidFill>
          <a:ln w="9525">
            <a:solidFill>
              <a:srgbClr val="5B8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74519" y="1554480"/>
            <a:ext cx="3108960" cy="411480"/>
          </a:xfrm>
          <a:prstGeom prst="rect">
            <a:avLst/>
          </a:prstGeom>
          <a:noFill/>
        </p:spPr>
        <p:txBody>
          <a:bodyPr wrap="square" lIns="45720" rIns="45720" tIns="27432" bIns="27432" anchor="t">
            <a:spAutoFit/>
          </a:bodyPr>
          <a:lstStyle/>
          <a:p>
            <a:pPr algn="ctr"/>
            <a:r>
              <a:rPr sz="1550" b="1" i="0">
                <a:solidFill>
                  <a:srgbClr val="356A96"/>
                </a:solidFill>
                <a:latin typeface="Arial"/>
              </a:rPr>
              <a:t>Transformador</a:t>
            </a:r>
          </a:p>
        </p:txBody>
      </p:sp>
      <p:sp>
        <p:nvSpPr>
          <p:cNvPr id="7" name="TextBox 6"/>
          <p:cNvSpPr txBox="1"/>
          <p:nvPr/>
        </p:nvSpPr>
        <p:spPr>
          <a:xfrm>
            <a:off x="1874519" y="1938528"/>
            <a:ext cx="3108960" cy="365760"/>
          </a:xfrm>
          <a:prstGeom prst="rect">
            <a:avLst/>
          </a:prstGeom>
          <a:noFill/>
        </p:spPr>
        <p:txBody>
          <a:bodyPr wrap="square" lIns="45720" rIns="45720" tIns="27432" bIns="27432" anchor="t">
            <a:spAutoFit/>
          </a:bodyPr>
          <a:lstStyle/>
          <a:p>
            <a:pPr algn="ctr"/>
            <a:r>
              <a:rPr sz="1200" b="0" i="0">
                <a:solidFill>
                  <a:srgbClr val="17212B"/>
                </a:solidFill>
                <a:latin typeface="Courier New"/>
              </a:rPr>
              <a:t>ajustar()  ·  transformar()</a:t>
            </a:r>
          </a:p>
        </p:txBody>
      </p:sp>
      <p:sp>
        <p:nvSpPr>
          <p:cNvPr id="8" name="Rounded Rectangle 7"/>
          <p:cNvSpPr/>
          <p:nvPr/>
        </p:nvSpPr>
        <p:spPr>
          <a:xfrm>
            <a:off x="685800" y="3108960"/>
            <a:ext cx="2560320" cy="685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108960"/>
            <a:ext cx="2560320" cy="685800"/>
          </a:xfrm>
          <a:prstGeom prst="rect">
            <a:avLst/>
          </a:prstGeom>
          <a:noFill/>
        </p:spPr>
        <p:txBody>
          <a:bodyPr wrap="square" lIns="45720" rIns="45720" tIns="27432" bIns="27432" anchor="ctr">
            <a:spAutoFit/>
          </a:bodyPr>
          <a:lstStyle/>
          <a:p>
            <a:pPr algn="ctr"/>
            <a:r>
              <a:rPr sz="1400" b="1" i="0">
                <a:solidFill>
                  <a:srgbClr val="17212B"/>
                </a:solidFill>
                <a:latin typeface="Arial"/>
              </a:rPr>
              <a:t>CodificadorOneHot</a:t>
            </a:r>
          </a:p>
        </p:txBody>
      </p:sp>
      <p:cxnSp>
        <p:nvCxnSpPr>
          <p:cNvPr id="10" name="Connector 9"/>
          <p:cNvCxnSpPr/>
          <p:nvPr/>
        </p:nvCxnSpPr>
        <p:spPr>
          <a:xfrm flipV="1">
            <a:off x="1965960" y="2377439"/>
            <a:ext cx="1463040" cy="731521"/>
          </a:xfrm>
          <a:prstGeom prst="line">
            <a:avLst/>
          </a:prstGeom>
          <a:ln w="15875">
            <a:solidFill>
              <a:srgbClr val="5B657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611880" y="3108960"/>
            <a:ext cx="2560320" cy="685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3108960"/>
            <a:ext cx="2560320" cy="685800"/>
          </a:xfrm>
          <a:prstGeom prst="rect">
            <a:avLst/>
          </a:prstGeom>
          <a:noFill/>
        </p:spPr>
        <p:txBody>
          <a:bodyPr wrap="square" lIns="45720" rIns="45720" tIns="27432" bIns="27432" anchor="ctr">
            <a:spAutoFit/>
          </a:bodyPr>
          <a:lstStyle/>
          <a:p>
            <a:pPr algn="ctr"/>
            <a:r>
              <a:rPr sz="1400" b="1" i="0">
                <a:solidFill>
                  <a:srgbClr val="17212B"/>
                </a:solidFill>
                <a:latin typeface="Arial"/>
              </a:rPr>
              <a:t>EscaladorRobusto</a:t>
            </a:r>
          </a:p>
        </p:txBody>
      </p:sp>
      <p:cxnSp>
        <p:nvCxnSpPr>
          <p:cNvPr id="13" name="Connector 12"/>
          <p:cNvCxnSpPr/>
          <p:nvPr/>
        </p:nvCxnSpPr>
        <p:spPr>
          <a:xfrm flipH="1" flipV="1">
            <a:off x="3429000" y="2377439"/>
            <a:ext cx="1463040" cy="731521"/>
          </a:xfrm>
          <a:prstGeom prst="line">
            <a:avLst/>
          </a:prstGeom>
          <a:ln w="15875">
            <a:solidFill>
              <a:srgbClr val="5B657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17720" y="2468880"/>
            <a:ext cx="914400" cy="274320"/>
          </a:xfrm>
          <a:prstGeom prst="rect">
            <a:avLst/>
          </a:prstGeom>
          <a:noFill/>
        </p:spPr>
        <p:txBody>
          <a:bodyPr wrap="square" lIns="45720" rIns="45720" tIns="27432" bIns="27432" anchor="t">
            <a:spAutoFit/>
          </a:bodyPr>
          <a:lstStyle/>
          <a:p>
            <a:pPr algn="l"/>
            <a:r>
              <a:rPr sz="1100" b="0" i="0">
                <a:solidFill>
                  <a:srgbClr val="5B6570"/>
                </a:solidFill>
                <a:latin typeface="Arial"/>
              </a:rPr>
              <a:t>hereda</a:t>
            </a:r>
          </a:p>
        </p:txBody>
      </p:sp>
      <p:sp>
        <p:nvSpPr>
          <p:cNvPr id="15" name="Rounded Rectangle 14"/>
          <p:cNvSpPr/>
          <p:nvPr/>
        </p:nvSpPr>
        <p:spPr>
          <a:xfrm>
            <a:off x="685800" y="4160520"/>
            <a:ext cx="5486400" cy="640080"/>
          </a:xfrm>
          <a:prstGeom prst="roundRect">
            <a:avLst>
              <a:gd name="adj" fmla="val 8000"/>
            </a:avLst>
          </a:prstGeom>
          <a:solidFill>
            <a:srgbClr val="FFFFFF"/>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160520"/>
            <a:ext cx="5212080" cy="640080"/>
          </a:xfrm>
          <a:prstGeom prst="rect">
            <a:avLst/>
          </a:prstGeom>
          <a:noFill/>
        </p:spPr>
        <p:txBody>
          <a:bodyPr wrap="square" lIns="45720" rIns="45720" tIns="27432" bIns="27432" anchor="ctr">
            <a:spAutoFit/>
          </a:bodyPr>
          <a:lstStyle/>
          <a:p>
            <a:pPr algn="l"/>
            <a:r>
              <a:rPr sz="1300" b="1" i="0">
                <a:solidFill>
                  <a:srgbClr val="17212B"/>
                </a:solidFill>
                <a:latin typeface="Arial"/>
              </a:rPr>
              <a:t>FabricaTransformadores</a:t>
            </a:r>
            <a:r>
              <a:rPr sz="1300" b="0" i="0">
                <a:solidFill>
                  <a:srgbClr val="17212B"/>
                </a:solidFill>
                <a:latin typeface="Arial"/>
              </a:rPr>
              <a:t> crea el objeto según el tipo de variable</a:t>
            </a:r>
          </a:p>
        </p:txBody>
      </p:sp>
      <p:sp>
        <p:nvSpPr>
          <p:cNvPr id="17" name="Rounded Rectangle 16"/>
          <p:cNvSpPr/>
          <p:nvPr/>
        </p:nvSpPr>
        <p:spPr>
          <a:xfrm>
            <a:off x="685800" y="4937760"/>
            <a:ext cx="5486400" cy="640080"/>
          </a:xfrm>
          <a:prstGeom prst="roundRect">
            <a:avLst>
              <a:gd name="adj" fmla="val 8000"/>
            </a:avLst>
          </a:prstGeom>
          <a:solidFill>
            <a:srgbClr val="FFFFFF"/>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5212080" cy="640080"/>
          </a:xfrm>
          <a:prstGeom prst="rect">
            <a:avLst/>
          </a:prstGeom>
          <a:noFill/>
        </p:spPr>
        <p:txBody>
          <a:bodyPr wrap="square" lIns="45720" rIns="45720" tIns="27432" bIns="27432" anchor="ctr">
            <a:spAutoFit/>
          </a:bodyPr>
          <a:lstStyle/>
          <a:p>
            <a:pPr algn="l"/>
            <a:r>
              <a:rPr sz="1300" b="1" i="0">
                <a:solidFill>
                  <a:srgbClr val="17212B"/>
                </a:solidFill>
                <a:latin typeface="Arial"/>
              </a:rPr>
              <a:t>Pipeline</a:t>
            </a:r>
            <a:r>
              <a:rPr sz="1300" b="0" i="0">
                <a:solidFill>
                  <a:srgbClr val="17212B"/>
                </a:solidFill>
                <a:latin typeface="Arial"/>
              </a:rPr>
              <a:t> recorre los pasos con un ciclo: el flujo es lineal</a:t>
            </a:r>
          </a:p>
        </p:txBody>
      </p:sp>
      <p:sp>
        <p:nvSpPr>
          <p:cNvPr id="19" name="TextBox 18"/>
          <p:cNvSpPr txBox="1"/>
          <p:nvPr/>
        </p:nvSpPr>
        <p:spPr>
          <a:xfrm>
            <a:off x="6720840" y="1508760"/>
            <a:ext cx="4754880" cy="320040"/>
          </a:xfrm>
          <a:prstGeom prst="rect">
            <a:avLst/>
          </a:prstGeom>
          <a:noFill/>
        </p:spPr>
        <p:txBody>
          <a:bodyPr wrap="square" lIns="45720" rIns="45720" tIns="27432" bIns="27432" anchor="t">
            <a:spAutoFit/>
          </a:bodyPr>
          <a:lstStyle/>
          <a:p>
            <a:pPr algn="l"/>
            <a:r>
              <a:rPr sz="1500" b="1" i="0">
                <a:solidFill>
                  <a:srgbClr val="356A96"/>
                </a:solidFill>
                <a:latin typeface="Arial"/>
              </a:rPr>
              <a:t>Herencia</a:t>
            </a:r>
          </a:p>
        </p:txBody>
      </p:sp>
      <p:sp>
        <p:nvSpPr>
          <p:cNvPr id="20" name="TextBox 19"/>
          <p:cNvSpPr txBox="1"/>
          <p:nvPr/>
        </p:nvSpPr>
        <p:spPr>
          <a:xfrm>
            <a:off x="6720840" y="1837943"/>
            <a:ext cx="4754880" cy="658368"/>
          </a:xfrm>
          <a:prstGeom prst="rect">
            <a:avLst/>
          </a:prstGeom>
          <a:noFill/>
        </p:spPr>
        <p:txBody>
          <a:bodyPr wrap="square" lIns="45720" rIns="45720" tIns="27432" bIns="27432" anchor="t">
            <a:spAutoFit/>
          </a:bodyPr>
          <a:lstStyle/>
          <a:p>
            <a:pPr algn="l"/>
            <a:r>
              <a:rPr sz="1300" b="0" i="0">
                <a:solidFill>
                  <a:srgbClr val="17212B"/>
                </a:solidFill>
                <a:latin typeface="Arial"/>
              </a:rPr>
              <a:t>Las clases hijas reutilizan la validación y el control de estado de la clase base.</a:t>
            </a:r>
          </a:p>
        </p:txBody>
      </p:sp>
      <p:sp>
        <p:nvSpPr>
          <p:cNvPr id="21" name="TextBox 20"/>
          <p:cNvSpPr txBox="1"/>
          <p:nvPr/>
        </p:nvSpPr>
        <p:spPr>
          <a:xfrm>
            <a:off x="6720840" y="2532888"/>
            <a:ext cx="4754880" cy="320040"/>
          </a:xfrm>
          <a:prstGeom prst="rect">
            <a:avLst/>
          </a:prstGeom>
          <a:noFill/>
        </p:spPr>
        <p:txBody>
          <a:bodyPr wrap="square" lIns="45720" rIns="45720" tIns="27432" bIns="27432" anchor="t">
            <a:spAutoFit/>
          </a:bodyPr>
          <a:lstStyle/>
          <a:p>
            <a:pPr algn="l"/>
            <a:r>
              <a:rPr sz="1500" b="1" i="0">
                <a:solidFill>
                  <a:srgbClr val="356A96"/>
                </a:solidFill>
                <a:latin typeface="Arial"/>
              </a:rPr>
              <a:t>Polimorfismo</a:t>
            </a:r>
          </a:p>
        </p:txBody>
      </p:sp>
      <p:sp>
        <p:nvSpPr>
          <p:cNvPr id="22" name="TextBox 21"/>
          <p:cNvSpPr txBox="1"/>
          <p:nvPr/>
        </p:nvSpPr>
        <p:spPr>
          <a:xfrm>
            <a:off x="6720840" y="2862072"/>
            <a:ext cx="4754880" cy="658368"/>
          </a:xfrm>
          <a:prstGeom prst="rect">
            <a:avLst/>
          </a:prstGeom>
          <a:noFill/>
        </p:spPr>
        <p:txBody>
          <a:bodyPr wrap="square" lIns="45720" rIns="45720" tIns="27432" bIns="27432" anchor="t">
            <a:spAutoFit/>
          </a:bodyPr>
          <a:lstStyle/>
          <a:p>
            <a:pPr algn="l"/>
            <a:r>
              <a:rPr sz="1300" b="0" i="0">
                <a:solidFill>
                  <a:srgbClr val="17212B"/>
                </a:solidFill>
                <a:latin typeface="Arial"/>
              </a:rPr>
              <a:t>El pipeline llama ajustar() y transformar() de la misma forma en cada objeto.</a:t>
            </a:r>
          </a:p>
        </p:txBody>
      </p:sp>
      <p:sp>
        <p:nvSpPr>
          <p:cNvPr id="23" name="TextBox 22"/>
          <p:cNvSpPr txBox="1"/>
          <p:nvPr/>
        </p:nvSpPr>
        <p:spPr>
          <a:xfrm>
            <a:off x="6720840" y="3557016"/>
            <a:ext cx="4754880" cy="320040"/>
          </a:xfrm>
          <a:prstGeom prst="rect">
            <a:avLst/>
          </a:prstGeom>
          <a:noFill/>
        </p:spPr>
        <p:txBody>
          <a:bodyPr wrap="square" lIns="45720" rIns="45720" tIns="27432" bIns="27432" anchor="t">
            <a:spAutoFit/>
          </a:bodyPr>
          <a:lstStyle/>
          <a:p>
            <a:pPr algn="l"/>
            <a:r>
              <a:rPr sz="1500" b="1" i="0">
                <a:solidFill>
                  <a:srgbClr val="356A96"/>
                </a:solidFill>
                <a:latin typeface="Arial"/>
              </a:rPr>
              <a:t>Encapsulamiento</a:t>
            </a:r>
          </a:p>
        </p:txBody>
      </p:sp>
      <p:sp>
        <p:nvSpPr>
          <p:cNvPr id="24" name="TextBox 23"/>
          <p:cNvSpPr txBox="1"/>
          <p:nvPr/>
        </p:nvSpPr>
        <p:spPr>
          <a:xfrm>
            <a:off x="6720840" y="3886200"/>
            <a:ext cx="4754880" cy="658368"/>
          </a:xfrm>
          <a:prstGeom prst="rect">
            <a:avLst/>
          </a:prstGeom>
          <a:noFill/>
        </p:spPr>
        <p:txBody>
          <a:bodyPr wrap="square" lIns="45720" rIns="45720" tIns="27432" bIns="27432" anchor="t">
            <a:spAutoFit/>
          </a:bodyPr>
          <a:lstStyle/>
          <a:p>
            <a:pPr algn="l"/>
            <a:r>
              <a:rPr sz="1300" b="0" i="0">
                <a:solidFill>
                  <a:srgbClr val="17212B"/>
                </a:solidFill>
                <a:latin typeface="Arial"/>
              </a:rPr>
              <a:t>_parametros y _ajustado guardan lo aprendido. No se puede transformar sin ajustar.</a:t>
            </a:r>
          </a:p>
        </p:txBody>
      </p:sp>
      <p:sp>
        <p:nvSpPr>
          <p:cNvPr id="25" name="TextBox 24"/>
          <p:cNvSpPr txBox="1"/>
          <p:nvPr/>
        </p:nvSpPr>
        <p:spPr>
          <a:xfrm>
            <a:off x="6720840" y="4581144"/>
            <a:ext cx="4754880" cy="320040"/>
          </a:xfrm>
          <a:prstGeom prst="rect">
            <a:avLst/>
          </a:prstGeom>
          <a:noFill/>
        </p:spPr>
        <p:txBody>
          <a:bodyPr wrap="square" lIns="45720" rIns="45720" tIns="27432" bIns="27432" anchor="t">
            <a:spAutoFit/>
          </a:bodyPr>
          <a:lstStyle/>
          <a:p>
            <a:pPr algn="l"/>
            <a:r>
              <a:rPr sz="1500" b="1" i="0">
                <a:solidFill>
                  <a:srgbClr val="356A96"/>
                </a:solidFill>
                <a:latin typeface="Arial"/>
              </a:rPr>
              <a:t>Patrón Factory</a:t>
            </a:r>
          </a:p>
        </p:txBody>
      </p:sp>
      <p:sp>
        <p:nvSpPr>
          <p:cNvPr id="26" name="TextBox 25"/>
          <p:cNvSpPr txBox="1"/>
          <p:nvPr/>
        </p:nvSpPr>
        <p:spPr>
          <a:xfrm>
            <a:off x="6720840" y="4910328"/>
            <a:ext cx="4754880" cy="658368"/>
          </a:xfrm>
          <a:prstGeom prst="rect">
            <a:avLst/>
          </a:prstGeom>
          <a:noFill/>
        </p:spPr>
        <p:txBody>
          <a:bodyPr wrap="square" lIns="45720" rIns="45720" tIns="27432" bIns="27432" anchor="t">
            <a:spAutoFit/>
          </a:bodyPr>
          <a:lstStyle/>
          <a:p>
            <a:pPr algn="l"/>
            <a:r>
              <a:rPr sz="1300" b="0" i="0">
                <a:solidFill>
                  <a:srgbClr val="17212B"/>
                </a:solidFill>
                <a:latin typeface="Arial"/>
              </a:rPr>
              <a:t>La creación de objetos está en un solo lugar. Agregar un paso no obliga a reescribir el pipeline.</a:t>
            </a:r>
          </a:p>
        </p:txBody>
      </p:sp>
      <p:sp>
        <p:nvSpPr>
          <p:cNvPr id="27" name="TextBox 26"/>
          <p:cNvSpPr txBox="1"/>
          <p:nvPr/>
        </p:nvSpPr>
        <p:spPr>
          <a:xfrm>
            <a:off x="685800" y="5852160"/>
            <a:ext cx="10515600" cy="274320"/>
          </a:xfrm>
          <a:prstGeom prst="rect">
            <a:avLst/>
          </a:prstGeom>
          <a:noFill/>
        </p:spPr>
        <p:txBody>
          <a:bodyPr wrap="square" lIns="45720" rIns="45720" tIns="27432" bIns="27432" anchor="t">
            <a:spAutoFit/>
          </a:bodyPr>
          <a:lstStyle/>
          <a:p>
            <a:pPr algn="l"/>
            <a:r>
              <a:rPr sz="1100" b="0" i="0">
                <a:solidFill>
                  <a:srgbClr val="5B6570"/>
                </a:solidFill>
                <a:latin typeface="Courier New"/>
              </a:rPr>
              <a:t>Módulos: carga.py · transformadores.py · pipeline.py · fabrica.py · medicion.py</a:t>
            </a:r>
          </a:p>
        </p:txBody>
      </p:sp>
      <p:sp>
        <p:nvSpPr>
          <p:cNvPr id="28" name="TextBox 27"/>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Pruebas y eficiencia: comprobar antes de confiar</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Fase 3 · El cambio de diseño solo se aceptó después de verificar que daba el mismo resultado.</a:t>
            </a:r>
          </a:p>
        </p:txBody>
      </p:sp>
      <p:sp>
        <p:nvSpPr>
          <p:cNvPr id="5" name="Rounded Rectangle 4"/>
          <p:cNvSpPr/>
          <p:nvPr/>
        </p:nvSpPr>
        <p:spPr>
          <a:xfrm>
            <a:off x="685800" y="1508760"/>
            <a:ext cx="1508760" cy="73152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1508760" cy="731520"/>
          </a:xfrm>
          <a:prstGeom prst="rect">
            <a:avLst/>
          </a:prstGeom>
          <a:noFill/>
        </p:spPr>
        <p:txBody>
          <a:bodyPr wrap="square" lIns="45720" rIns="45720" tIns="27432" bIns="27432" anchor="ctr">
            <a:spAutoFit/>
          </a:bodyPr>
          <a:lstStyle/>
          <a:p>
            <a:pPr algn="ctr"/>
            <a:r>
              <a:rPr sz="1300" b="1" i="0">
                <a:solidFill>
                  <a:srgbClr val="356A96"/>
                </a:solidFill>
                <a:latin typeface="Arial"/>
              </a:rPr>
              <a:t>Normal</a:t>
            </a:r>
          </a:p>
        </p:txBody>
      </p:sp>
      <p:sp>
        <p:nvSpPr>
          <p:cNvPr id="7" name="TextBox 6"/>
          <p:cNvSpPr txBox="1"/>
          <p:nvPr/>
        </p:nvSpPr>
        <p:spPr>
          <a:xfrm>
            <a:off x="2331720" y="1508760"/>
            <a:ext cx="3383280" cy="731520"/>
          </a:xfrm>
          <a:prstGeom prst="rect">
            <a:avLst/>
          </a:prstGeom>
          <a:noFill/>
        </p:spPr>
        <p:txBody>
          <a:bodyPr wrap="square" lIns="45720" rIns="45720" tIns="27432" bIns="27432" anchor="ctr">
            <a:spAutoFit/>
          </a:bodyPr>
          <a:lstStyle/>
          <a:p>
            <a:pPr algn="l"/>
            <a:r>
              <a:rPr sz="1300" b="0" i="0">
                <a:solidFill>
                  <a:srgbClr val="17212B"/>
                </a:solidFill>
                <a:latin typeface="Arial"/>
              </a:rPr>
              <a:t>Pipeline completo: dimensiones, columnas y sin nulos.</a:t>
            </a:r>
          </a:p>
        </p:txBody>
      </p:sp>
      <p:sp>
        <p:nvSpPr>
          <p:cNvPr id="8" name="Rounded Rectangle 7"/>
          <p:cNvSpPr/>
          <p:nvPr/>
        </p:nvSpPr>
        <p:spPr>
          <a:xfrm>
            <a:off x="685800" y="2468880"/>
            <a:ext cx="1508760" cy="73152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68880"/>
            <a:ext cx="1508760" cy="731520"/>
          </a:xfrm>
          <a:prstGeom prst="rect">
            <a:avLst/>
          </a:prstGeom>
          <a:noFill/>
        </p:spPr>
        <p:txBody>
          <a:bodyPr wrap="square" lIns="45720" rIns="45720" tIns="27432" bIns="27432" anchor="ctr">
            <a:spAutoFit/>
          </a:bodyPr>
          <a:lstStyle/>
          <a:p>
            <a:pPr algn="ctr"/>
            <a:r>
              <a:rPr sz="1300" b="1" i="0">
                <a:solidFill>
                  <a:srgbClr val="356A96"/>
                </a:solidFill>
                <a:latin typeface="Arial"/>
              </a:rPr>
              <a:t>Límite</a:t>
            </a:r>
          </a:p>
        </p:txBody>
      </p:sp>
      <p:sp>
        <p:nvSpPr>
          <p:cNvPr id="10" name="TextBox 9"/>
          <p:cNvSpPr txBox="1"/>
          <p:nvPr/>
        </p:nvSpPr>
        <p:spPr>
          <a:xfrm>
            <a:off x="2331720" y="2468880"/>
            <a:ext cx="3383280" cy="731520"/>
          </a:xfrm>
          <a:prstGeom prst="rect">
            <a:avLst/>
          </a:prstGeom>
          <a:noFill/>
        </p:spPr>
        <p:txBody>
          <a:bodyPr wrap="square" lIns="45720" rIns="45720" tIns="27432" bIns="27432" anchor="ctr">
            <a:spAutoFit/>
          </a:bodyPr>
          <a:lstStyle/>
          <a:p>
            <a:pPr algn="l"/>
            <a:r>
              <a:rPr sz="1300" b="0" i="0">
                <a:solidFill>
                  <a:srgbClr val="17212B"/>
                </a:solidFill>
                <a:latin typeface="Arial"/>
              </a:rPr>
              <a:t>Entrada mínima de una fila, sin perder registros.</a:t>
            </a:r>
          </a:p>
        </p:txBody>
      </p:sp>
      <p:sp>
        <p:nvSpPr>
          <p:cNvPr id="11" name="Rounded Rectangle 10"/>
          <p:cNvSpPr/>
          <p:nvPr/>
        </p:nvSpPr>
        <p:spPr>
          <a:xfrm>
            <a:off x="685800" y="3429000"/>
            <a:ext cx="1508760" cy="73152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29000"/>
            <a:ext cx="1508760" cy="731520"/>
          </a:xfrm>
          <a:prstGeom prst="rect">
            <a:avLst/>
          </a:prstGeom>
          <a:noFill/>
        </p:spPr>
        <p:txBody>
          <a:bodyPr wrap="square" lIns="45720" rIns="45720" tIns="27432" bIns="27432" anchor="ctr">
            <a:spAutoFit/>
          </a:bodyPr>
          <a:lstStyle/>
          <a:p>
            <a:pPr algn="ctr"/>
            <a:r>
              <a:rPr sz="1300" b="1" i="0">
                <a:solidFill>
                  <a:srgbClr val="356A96"/>
                </a:solidFill>
                <a:latin typeface="Arial"/>
              </a:rPr>
              <a:t>Excepción</a:t>
            </a:r>
          </a:p>
        </p:txBody>
      </p:sp>
      <p:sp>
        <p:nvSpPr>
          <p:cNvPr id="13" name="TextBox 12"/>
          <p:cNvSpPr txBox="1"/>
          <p:nvPr/>
        </p:nvSpPr>
        <p:spPr>
          <a:xfrm>
            <a:off x="2331720" y="3429000"/>
            <a:ext cx="3383280" cy="731520"/>
          </a:xfrm>
          <a:prstGeom prst="rect">
            <a:avLst/>
          </a:prstGeom>
          <a:noFill/>
        </p:spPr>
        <p:txBody>
          <a:bodyPr wrap="square" lIns="45720" rIns="45720" tIns="27432" bIns="27432" anchor="ctr">
            <a:spAutoFit/>
          </a:bodyPr>
          <a:lstStyle/>
          <a:p>
            <a:pPr algn="l"/>
            <a:r>
              <a:rPr sz="1300" b="0" i="0">
                <a:solidFill>
                  <a:srgbClr val="17212B"/>
                </a:solidFill>
                <a:latin typeface="Arial"/>
              </a:rPr>
              <a:t>Transformar sin ajustar o usar una categoría nueva: error controlado.</a:t>
            </a:r>
          </a:p>
        </p:txBody>
      </p:sp>
      <p:sp>
        <p:nvSpPr>
          <p:cNvPr id="14" name="Rounded Rectangle 13"/>
          <p:cNvSpPr/>
          <p:nvPr/>
        </p:nvSpPr>
        <p:spPr>
          <a:xfrm>
            <a:off x="685800" y="4389120"/>
            <a:ext cx="1508760" cy="731520"/>
          </a:xfrm>
          <a:prstGeom prst="roundRect">
            <a:avLst>
              <a:gd name="adj" fmla="val 8000"/>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389120"/>
            <a:ext cx="1508760" cy="731520"/>
          </a:xfrm>
          <a:prstGeom prst="rect">
            <a:avLst/>
          </a:prstGeom>
          <a:noFill/>
        </p:spPr>
        <p:txBody>
          <a:bodyPr wrap="square" lIns="45720" rIns="45720" tIns="27432" bIns="27432" anchor="ctr">
            <a:spAutoFit/>
          </a:bodyPr>
          <a:lstStyle/>
          <a:p>
            <a:pPr algn="ctr"/>
            <a:r>
              <a:rPr sz="1300" b="1" i="0">
                <a:solidFill>
                  <a:srgbClr val="447A5A"/>
                </a:solidFill>
                <a:latin typeface="Arial"/>
              </a:rPr>
              <a:t>Equivalencia</a:t>
            </a:r>
          </a:p>
        </p:txBody>
      </p:sp>
      <p:sp>
        <p:nvSpPr>
          <p:cNvPr id="16" name="TextBox 15"/>
          <p:cNvSpPr txBox="1"/>
          <p:nvPr/>
        </p:nvSpPr>
        <p:spPr>
          <a:xfrm>
            <a:off x="2331720" y="4389120"/>
            <a:ext cx="3383280" cy="731520"/>
          </a:xfrm>
          <a:prstGeom prst="rect">
            <a:avLst/>
          </a:prstGeom>
          <a:noFill/>
        </p:spPr>
        <p:txBody>
          <a:bodyPr wrap="square" lIns="45720" rIns="45720" tIns="27432" bIns="27432" anchor="ctr">
            <a:spAutoFit/>
          </a:bodyPr>
          <a:lstStyle/>
          <a:p>
            <a:pPr algn="l"/>
            <a:r>
              <a:rPr sz="1300" b="0" i="0">
                <a:solidFill>
                  <a:srgbClr val="17212B"/>
                </a:solidFill>
                <a:latin typeface="Arial"/>
              </a:rPr>
              <a:t>assert_frame_equal: las salidas de F3 son iguales a las de F2.</a:t>
            </a:r>
          </a:p>
        </p:txBody>
      </p:sp>
      <p:graphicFrame>
        <p:nvGraphicFramePr>
          <p:cNvPr id="17" name="Table 16"/>
          <p:cNvGraphicFramePr>
            <a:graphicFrameLocks noGrp="1"/>
          </p:cNvGraphicFramePr>
          <p:nvPr/>
        </p:nvGraphicFramePr>
        <p:xfrm>
          <a:off x="6263640" y="1508760"/>
          <a:ext cx="5257798" cy="1920240"/>
        </p:xfrm>
        <a:graphic>
          <a:graphicData uri="http://schemas.openxmlformats.org/drawingml/2006/table">
            <a:tbl>
              <a:tblPr firstRow="1" bandRow="0">
                <a:tableStyleId>{5C22544A-7EE6-4342-B048-85BDC9FD1C3A}</a:tableStyleId>
              </a:tblPr>
              <a:tblGrid>
                <a:gridCol w="1508760"/>
                <a:gridCol w="1874519"/>
                <a:gridCol w="1874519"/>
              </a:tblGrid>
              <a:tr h="384048">
                <a:tc>
                  <a:txBody>
                    <a:bodyPr/>
                    <a:lstStyle/>
                    <a:p>
                      <a:pPr algn="ctr"/>
                      <a:r>
                        <a:rPr sz="1300" b="1">
                          <a:solidFill>
                            <a:srgbClr val="17212B"/>
                          </a:solidFill>
                          <a:latin typeface="Arial"/>
                        </a:rPr>
                        <a:t>Filas</a:t>
                      </a:r>
                    </a:p>
                  </a:txBody>
                  <a:tcPr>
                    <a:solidFill>
                      <a:srgbClr val="EAF2F8"/>
                    </a:solidFill>
                  </a:tcPr>
                </a:tc>
                <a:tc>
                  <a:txBody>
                    <a:bodyPr/>
                    <a:lstStyle/>
                    <a:p>
                      <a:pPr algn="ctr"/>
                      <a:r>
                        <a:rPr sz="1300" b="1">
                          <a:solidFill>
                            <a:srgbClr val="17212B"/>
                          </a:solidFill>
                          <a:latin typeface="Arial"/>
                        </a:rPr>
                        <a:t>Funcional (ms)</a:t>
                      </a:r>
                    </a:p>
                  </a:txBody>
                  <a:tcPr>
                    <a:solidFill>
                      <a:srgbClr val="EAF2F8"/>
                    </a:solidFill>
                  </a:tcPr>
                </a:tc>
                <a:tc>
                  <a:txBody>
                    <a:bodyPr/>
                    <a:lstStyle/>
                    <a:p>
                      <a:pPr algn="ctr"/>
                      <a:r>
                        <a:rPr sz="1300" b="1">
                          <a:solidFill>
                            <a:srgbClr val="17212B"/>
                          </a:solidFill>
                          <a:latin typeface="Arial"/>
                        </a:rPr>
                        <a:t>POO (ms)</a:t>
                      </a:r>
                    </a:p>
                  </a:txBody>
                  <a:tcPr>
                    <a:solidFill>
                      <a:srgbClr val="EAF2F8"/>
                    </a:solidFill>
                  </a:tcPr>
                </a:tc>
              </a:tr>
              <a:tr h="384048">
                <a:tc>
                  <a:txBody>
                    <a:bodyPr/>
                    <a:lstStyle/>
                    <a:p>
                      <a:pPr algn="ctr"/>
                      <a:r>
                        <a:rPr sz="1300" b="0">
                          <a:solidFill>
                            <a:srgbClr val="17212B"/>
                          </a:solidFill>
                          <a:latin typeface="Arial"/>
                        </a:rPr>
                        <a:t>1.000</a:t>
                      </a:r>
                    </a:p>
                  </a:txBody>
                  <a:tcPr>
                    <a:solidFill>
                      <a:srgbClr val="FFFFFF"/>
                    </a:solidFill>
                  </a:tcPr>
                </a:tc>
                <a:tc>
                  <a:txBody>
                    <a:bodyPr/>
                    <a:lstStyle/>
                    <a:p>
                      <a:pPr algn="ctr"/>
                      <a:r>
                        <a:rPr sz="1300" b="0">
                          <a:solidFill>
                            <a:srgbClr val="17212B"/>
                          </a:solidFill>
                          <a:latin typeface="Arial"/>
                        </a:rPr>
                        <a:t>3,16</a:t>
                      </a:r>
                    </a:p>
                  </a:txBody>
                  <a:tcPr>
                    <a:solidFill>
                      <a:srgbClr val="FFFFFF"/>
                    </a:solidFill>
                  </a:tcPr>
                </a:tc>
                <a:tc>
                  <a:txBody>
                    <a:bodyPr/>
                    <a:lstStyle/>
                    <a:p>
                      <a:pPr algn="ctr"/>
                      <a:r>
                        <a:rPr sz="1300" b="0">
                          <a:solidFill>
                            <a:srgbClr val="17212B"/>
                          </a:solidFill>
                          <a:latin typeface="Arial"/>
                        </a:rPr>
                        <a:t>9,42</a:t>
                      </a:r>
                    </a:p>
                  </a:txBody>
                  <a:tcPr>
                    <a:solidFill>
                      <a:srgbClr val="FFFFFF"/>
                    </a:solidFill>
                  </a:tcPr>
                </a:tc>
              </a:tr>
              <a:tr h="384048">
                <a:tc>
                  <a:txBody>
                    <a:bodyPr/>
                    <a:lstStyle/>
                    <a:p>
                      <a:pPr algn="ctr"/>
                      <a:r>
                        <a:rPr sz="1300" b="0">
                          <a:solidFill>
                            <a:srgbClr val="17212B"/>
                          </a:solidFill>
                          <a:latin typeface="Arial"/>
                        </a:rPr>
                        <a:t>5.000</a:t>
                      </a:r>
                    </a:p>
                  </a:txBody>
                  <a:tcPr>
                    <a:solidFill>
                      <a:srgbClr val="FFFFFF"/>
                    </a:solidFill>
                  </a:tcPr>
                </a:tc>
                <a:tc>
                  <a:txBody>
                    <a:bodyPr/>
                    <a:lstStyle/>
                    <a:p>
                      <a:pPr algn="ctr"/>
                      <a:r>
                        <a:rPr sz="1300" b="0">
                          <a:solidFill>
                            <a:srgbClr val="17212B"/>
                          </a:solidFill>
                          <a:latin typeface="Arial"/>
                        </a:rPr>
                        <a:t>4,46</a:t>
                      </a:r>
                    </a:p>
                  </a:txBody>
                  <a:tcPr>
                    <a:solidFill>
                      <a:srgbClr val="FFFFFF"/>
                    </a:solidFill>
                  </a:tcPr>
                </a:tc>
                <a:tc>
                  <a:txBody>
                    <a:bodyPr/>
                    <a:lstStyle/>
                    <a:p>
                      <a:pPr algn="ctr"/>
                      <a:r>
                        <a:rPr sz="1300" b="0">
                          <a:solidFill>
                            <a:srgbClr val="17212B"/>
                          </a:solidFill>
                          <a:latin typeface="Arial"/>
                        </a:rPr>
                        <a:t>18,31</a:t>
                      </a:r>
                    </a:p>
                  </a:txBody>
                  <a:tcPr>
                    <a:solidFill>
                      <a:srgbClr val="FFFFFF"/>
                    </a:solidFill>
                  </a:tcPr>
                </a:tc>
              </a:tr>
              <a:tr h="384048">
                <a:tc>
                  <a:txBody>
                    <a:bodyPr/>
                    <a:lstStyle/>
                    <a:p>
                      <a:pPr algn="ctr"/>
                      <a:r>
                        <a:rPr sz="1300" b="0">
                          <a:solidFill>
                            <a:srgbClr val="17212B"/>
                          </a:solidFill>
                          <a:latin typeface="Arial"/>
                        </a:rPr>
                        <a:t>10.000</a:t>
                      </a:r>
                    </a:p>
                  </a:txBody>
                  <a:tcPr>
                    <a:solidFill>
                      <a:srgbClr val="FFFFFF"/>
                    </a:solidFill>
                  </a:tcPr>
                </a:tc>
                <a:tc>
                  <a:txBody>
                    <a:bodyPr/>
                    <a:lstStyle/>
                    <a:p>
                      <a:pPr algn="ctr"/>
                      <a:r>
                        <a:rPr sz="1300" b="0">
                          <a:solidFill>
                            <a:srgbClr val="17212B"/>
                          </a:solidFill>
                          <a:latin typeface="Arial"/>
                        </a:rPr>
                        <a:t>4,65</a:t>
                      </a:r>
                    </a:p>
                  </a:txBody>
                  <a:tcPr>
                    <a:solidFill>
                      <a:srgbClr val="FFFFFF"/>
                    </a:solidFill>
                  </a:tcPr>
                </a:tc>
                <a:tc>
                  <a:txBody>
                    <a:bodyPr/>
                    <a:lstStyle/>
                    <a:p>
                      <a:pPr algn="ctr"/>
                      <a:r>
                        <a:rPr sz="1300" b="0">
                          <a:solidFill>
                            <a:srgbClr val="17212B"/>
                          </a:solidFill>
                          <a:latin typeface="Arial"/>
                        </a:rPr>
                        <a:t>12,75</a:t>
                      </a:r>
                    </a:p>
                  </a:txBody>
                  <a:tcPr>
                    <a:solidFill>
                      <a:srgbClr val="FFFFFF"/>
                    </a:solidFill>
                  </a:tcPr>
                </a:tc>
              </a:tr>
              <a:tr h="384048">
                <a:tc>
                  <a:txBody>
                    <a:bodyPr/>
                    <a:lstStyle/>
                    <a:p>
                      <a:pPr algn="ctr"/>
                      <a:r>
                        <a:rPr sz="1300" b="0">
                          <a:solidFill>
                            <a:srgbClr val="17212B"/>
                          </a:solidFill>
                          <a:latin typeface="Arial"/>
                        </a:rPr>
                        <a:t>20.000</a:t>
                      </a:r>
                    </a:p>
                  </a:txBody>
                  <a:tcPr>
                    <a:solidFill>
                      <a:srgbClr val="FFFFFF"/>
                    </a:solidFill>
                  </a:tcPr>
                </a:tc>
                <a:tc>
                  <a:txBody>
                    <a:bodyPr/>
                    <a:lstStyle/>
                    <a:p>
                      <a:pPr algn="ctr"/>
                      <a:r>
                        <a:rPr sz="1300" b="0">
                          <a:solidFill>
                            <a:srgbClr val="17212B"/>
                          </a:solidFill>
                          <a:latin typeface="Arial"/>
                        </a:rPr>
                        <a:t>6,89</a:t>
                      </a:r>
                    </a:p>
                  </a:txBody>
                  <a:tcPr>
                    <a:solidFill>
                      <a:srgbClr val="FFFFFF"/>
                    </a:solidFill>
                  </a:tcPr>
                </a:tc>
                <a:tc>
                  <a:txBody>
                    <a:bodyPr/>
                    <a:lstStyle/>
                    <a:p>
                      <a:pPr algn="ctr"/>
                      <a:r>
                        <a:rPr sz="1300" b="0">
                          <a:solidFill>
                            <a:srgbClr val="17212B"/>
                          </a:solidFill>
                          <a:latin typeface="Arial"/>
                        </a:rPr>
                        <a:t>14,60</a:t>
                      </a:r>
                    </a:p>
                  </a:txBody>
                  <a:tcPr>
                    <a:solidFill>
                      <a:srgbClr val="FFFFFF"/>
                    </a:solidFill>
                  </a:tcPr>
                </a:tc>
              </a:tr>
            </a:tbl>
          </a:graphicData>
        </a:graphic>
      </p:graphicFrame>
      <p:sp>
        <p:nvSpPr>
          <p:cNvPr id="18" name="TextBox 17"/>
          <p:cNvSpPr txBox="1"/>
          <p:nvPr/>
        </p:nvSpPr>
        <p:spPr>
          <a:xfrm>
            <a:off x="6263640" y="3520440"/>
            <a:ext cx="5257800" cy="274320"/>
          </a:xfrm>
          <a:prstGeom prst="rect">
            <a:avLst/>
          </a:prstGeom>
          <a:noFill/>
        </p:spPr>
        <p:txBody>
          <a:bodyPr wrap="square" lIns="45720" rIns="45720" tIns="27432" bIns="27432" anchor="t">
            <a:spAutoFit/>
          </a:bodyPr>
          <a:lstStyle/>
          <a:p>
            <a:pPr algn="ctr"/>
            <a:r>
              <a:rPr sz="1050" b="0" i="0">
                <a:solidFill>
                  <a:srgbClr val="5B6570"/>
                </a:solidFill>
                <a:latin typeface="Arial"/>
              </a:rPr>
              <a:t>Menor tiempo entre repeticiones medido con timeit</a:t>
            </a:r>
          </a:p>
        </p:txBody>
      </p:sp>
      <p:sp>
        <p:nvSpPr>
          <p:cNvPr id="19" name="TextBox 18"/>
          <p:cNvSpPr txBox="1"/>
          <p:nvPr/>
        </p:nvSpPr>
        <p:spPr>
          <a:xfrm>
            <a:off x="6263640" y="3931920"/>
            <a:ext cx="5257800" cy="1554480"/>
          </a:xfrm>
          <a:prstGeom prst="rect">
            <a:avLst/>
          </a:prstGeom>
          <a:noFill/>
        </p:spPr>
        <p:txBody>
          <a:bodyPr wrap="square" lIns="45720" rIns="45720" tIns="27432" bIns="27432" anchor="t">
            <a:spAutoFit/>
          </a:bodyPr>
          <a:lstStyle/>
          <a:p>
            <a:pPr algn="l">
              <a:spcAft>
                <a:spcPts val="800"/>
              </a:spcAft>
            </a:pPr>
            <a:r>
              <a:rPr sz="1300" b="1" i="0">
                <a:solidFill>
                  <a:srgbClr val="17212B"/>
                </a:solidFill>
                <a:latin typeface="Courier New"/>
              </a:rPr>
              <a:t>tracemalloc</a:t>
            </a:r>
            <a:r>
              <a:rPr sz="1300" b="0" i="0">
                <a:solidFill>
                  <a:srgbClr val="17212B"/>
                </a:solidFill>
                <a:latin typeface="Arial"/>
              </a:rPr>
              <a:t> midió la memoria máxima: 0,663 MiB funcional y 1,239 MiB POO.</a:t>
            </a:r>
          </a:p>
          <a:p>
            <a:pPr algn="l">
              <a:spcAft>
                <a:spcPts val="800"/>
              </a:spcAft>
            </a:pPr>
            <a:r>
              <a:rPr sz="1300" b="1" i="0">
                <a:solidFill>
                  <a:srgbClr val="17212B"/>
                </a:solidFill>
                <a:latin typeface="Arial"/>
              </a:rPr>
              <a:t>Decisión: </a:t>
            </a:r>
            <a:r>
              <a:rPr sz="1300" b="0" i="0">
                <a:solidFill>
                  <a:srgbClr val="17212B"/>
                </a:solidFill>
                <a:latin typeface="Arial"/>
              </a:rPr>
              <a:t>la versión funcional fue más rápida, pero se conservó la POO por ser más fácil de probar y extender. Ambas crecen de forma lineal, O(n).</a:t>
            </a:r>
          </a:p>
        </p:txBody>
      </p:sp>
      <p:sp>
        <p:nvSpPr>
          <p:cNvPr id="20" name="TextBox 19"/>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Fase 4: volver a valores que una persona pueda leer</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Los datos de F3 sirven al código, pero están escalados y Type aparece repartido en tres columnas.</a:t>
            </a:r>
          </a:p>
        </p:txBody>
      </p:sp>
      <p:sp>
        <p:nvSpPr>
          <p:cNvPr id="5" name="Rounded Rectangle 4"/>
          <p:cNvSpPr/>
          <p:nvPr/>
        </p:nvSpPr>
        <p:spPr>
          <a:xfrm>
            <a:off x="685800" y="1691640"/>
            <a:ext cx="3108960" cy="9144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3108960" cy="914400"/>
          </a:xfrm>
          <a:prstGeom prst="rect">
            <a:avLst/>
          </a:prstGeom>
          <a:noFill/>
        </p:spPr>
        <p:txBody>
          <a:bodyPr wrap="square" lIns="45720" rIns="45720" tIns="27432" bIns="27432" anchor="ctr">
            <a:spAutoFit/>
          </a:bodyPr>
          <a:lstStyle/>
          <a:p>
            <a:pPr algn="ctr"/>
            <a:r>
              <a:rPr sz="1400" b="1" i="0">
                <a:solidFill>
                  <a:srgbClr val="17212B"/>
                </a:solidFill>
                <a:latin typeface="Arial"/>
              </a:rPr>
              <a:t>Valor escalado</a:t>
            </a:r>
          </a:p>
        </p:txBody>
      </p:sp>
      <p:sp>
        <p:nvSpPr>
          <p:cNvPr id="7" name="Right Arrow 6"/>
          <p:cNvSpPr/>
          <p:nvPr/>
        </p:nvSpPr>
        <p:spPr>
          <a:xfrm>
            <a:off x="3977639" y="2029968"/>
            <a:ext cx="365760" cy="237744"/>
          </a:xfrm>
          <a:prstGeom prst="rightArrow">
            <a:avLst/>
          </a:prstGeom>
          <a:solidFill>
            <a:srgbClr val="5B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26280" y="1691640"/>
            <a:ext cx="2743200" cy="914400"/>
          </a:xfrm>
          <a:prstGeom prst="roundRect">
            <a:avLst>
              <a:gd name="adj" fmla="val 8000"/>
            </a:avLst>
          </a:prstGeom>
          <a:solidFill>
            <a:srgbClr val="EAF2F8"/>
          </a:solidFill>
          <a:ln w="9525">
            <a:solidFill>
              <a:srgbClr val="5B8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691640"/>
            <a:ext cx="2743200" cy="914400"/>
          </a:xfrm>
          <a:prstGeom prst="rect">
            <a:avLst/>
          </a:prstGeom>
          <a:noFill/>
        </p:spPr>
        <p:txBody>
          <a:bodyPr wrap="square" lIns="45720" rIns="45720" tIns="27432" bIns="27432" anchor="ctr">
            <a:spAutoFit/>
          </a:bodyPr>
          <a:lstStyle/>
          <a:p>
            <a:pPr algn="ctr"/>
            <a:r>
              <a:rPr sz="1400" b="1" i="0">
                <a:solidFill>
                  <a:srgbClr val="356A96"/>
                </a:solidFill>
                <a:latin typeface="Courier New"/>
              </a:rPr>
              <a:t>× IQR + mediana</a:t>
            </a:r>
          </a:p>
        </p:txBody>
      </p:sp>
      <p:sp>
        <p:nvSpPr>
          <p:cNvPr id="10" name="Right Arrow 9"/>
          <p:cNvSpPr/>
          <p:nvPr/>
        </p:nvSpPr>
        <p:spPr>
          <a:xfrm>
            <a:off x="7452360" y="2029968"/>
            <a:ext cx="365760" cy="237744"/>
          </a:xfrm>
          <a:prstGeom prst="rightArrow">
            <a:avLst/>
          </a:prstGeom>
          <a:solidFill>
            <a:srgbClr val="5B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0" y="1691640"/>
            <a:ext cx="3474720" cy="914400"/>
          </a:xfrm>
          <a:prstGeom prst="roundRect">
            <a:avLst>
              <a:gd name="adj" fmla="val 8000"/>
            </a:avLst>
          </a:prstGeom>
          <a:solidFill>
            <a:srgbClr val="F9EAEA"/>
          </a:solidFill>
          <a:ln w="9525">
            <a:solidFill>
              <a:srgbClr val="C94C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691640"/>
            <a:ext cx="3474720" cy="914400"/>
          </a:xfrm>
          <a:prstGeom prst="rect">
            <a:avLst/>
          </a:prstGeom>
          <a:noFill/>
        </p:spPr>
        <p:txBody>
          <a:bodyPr wrap="square" lIns="45720" rIns="45720" tIns="27432" bIns="27432" anchor="ctr">
            <a:spAutoFit/>
          </a:bodyPr>
          <a:lstStyle/>
          <a:p>
            <a:pPr algn="ctr"/>
            <a:r>
              <a:rPr sz="1600" b="1" i="0">
                <a:solidFill>
                  <a:srgbClr val="C94C4C"/>
                </a:solidFill>
                <a:latin typeface="Arial"/>
              </a:rPr>
              <a:t>rpm · Nm · min · K</a:t>
            </a:r>
          </a:p>
        </p:txBody>
      </p:sp>
      <p:sp>
        <p:nvSpPr>
          <p:cNvPr id="13" name="Rounded Rectangle 12"/>
          <p:cNvSpPr/>
          <p:nvPr/>
        </p:nvSpPr>
        <p:spPr>
          <a:xfrm>
            <a:off x="685800" y="3017520"/>
            <a:ext cx="3108960" cy="9144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017520"/>
            <a:ext cx="3108960" cy="914400"/>
          </a:xfrm>
          <a:prstGeom prst="rect">
            <a:avLst/>
          </a:prstGeom>
          <a:noFill/>
        </p:spPr>
        <p:txBody>
          <a:bodyPr wrap="square" lIns="45720" rIns="45720" tIns="27432" bIns="27432" anchor="ctr">
            <a:spAutoFit/>
          </a:bodyPr>
          <a:lstStyle/>
          <a:p>
            <a:pPr algn="ctr"/>
            <a:r>
              <a:rPr sz="1400" b="1" i="0">
                <a:solidFill>
                  <a:srgbClr val="17212B"/>
                </a:solidFill>
                <a:latin typeface="Arial"/>
              </a:rPr>
              <a:t>Type_H 0 · Type_L 1 · Type_M 0</a:t>
            </a:r>
          </a:p>
        </p:txBody>
      </p:sp>
      <p:sp>
        <p:nvSpPr>
          <p:cNvPr id="15" name="Right Arrow 14"/>
          <p:cNvSpPr/>
          <p:nvPr/>
        </p:nvSpPr>
        <p:spPr>
          <a:xfrm>
            <a:off x="3977639" y="3355848"/>
            <a:ext cx="365760" cy="237744"/>
          </a:xfrm>
          <a:prstGeom prst="rightArrow">
            <a:avLst/>
          </a:prstGeom>
          <a:solidFill>
            <a:srgbClr val="5B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26280" y="3017520"/>
            <a:ext cx="2743200" cy="914400"/>
          </a:xfrm>
          <a:prstGeom prst="roundRect">
            <a:avLst>
              <a:gd name="adj" fmla="val 8000"/>
            </a:avLst>
          </a:prstGeom>
          <a:solidFill>
            <a:srgbClr val="EAF2F8"/>
          </a:solidFill>
          <a:ln w="9525">
            <a:solidFill>
              <a:srgbClr val="5B8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017520"/>
            <a:ext cx="2743200" cy="914400"/>
          </a:xfrm>
          <a:prstGeom prst="rect">
            <a:avLst/>
          </a:prstGeom>
          <a:noFill/>
        </p:spPr>
        <p:txBody>
          <a:bodyPr wrap="square" lIns="45720" rIns="45720" tIns="27432" bIns="27432" anchor="ctr">
            <a:spAutoFit/>
          </a:bodyPr>
          <a:lstStyle/>
          <a:p>
            <a:pPr algn="ctr"/>
            <a:r>
              <a:rPr sz="1400" b="1" i="0">
                <a:solidFill>
                  <a:srgbClr val="356A96"/>
                </a:solidFill>
                <a:latin typeface="Arial"/>
              </a:rPr>
              <a:t>columna activa</a:t>
            </a:r>
          </a:p>
        </p:txBody>
      </p:sp>
      <p:sp>
        <p:nvSpPr>
          <p:cNvPr id="18" name="Right Arrow 17"/>
          <p:cNvSpPr/>
          <p:nvPr/>
        </p:nvSpPr>
        <p:spPr>
          <a:xfrm>
            <a:off x="7452360" y="3355848"/>
            <a:ext cx="365760" cy="237744"/>
          </a:xfrm>
          <a:prstGeom prst="rightArrow">
            <a:avLst/>
          </a:prstGeom>
          <a:solidFill>
            <a:srgbClr val="5B6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01000" y="3017520"/>
            <a:ext cx="3474720" cy="914400"/>
          </a:xfrm>
          <a:prstGeom prst="roundRect">
            <a:avLst>
              <a:gd name="adj" fmla="val 8000"/>
            </a:avLst>
          </a:prstGeom>
          <a:solidFill>
            <a:srgbClr val="F9EAEA"/>
          </a:solidFill>
          <a:ln w="9525">
            <a:solidFill>
              <a:srgbClr val="C94C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3017520"/>
            <a:ext cx="3474720" cy="914400"/>
          </a:xfrm>
          <a:prstGeom prst="rect">
            <a:avLst/>
          </a:prstGeom>
          <a:noFill/>
        </p:spPr>
        <p:txBody>
          <a:bodyPr wrap="square" lIns="45720" rIns="45720" tIns="27432" bIns="27432" anchor="ctr">
            <a:spAutoFit/>
          </a:bodyPr>
          <a:lstStyle/>
          <a:p>
            <a:pPr algn="ctr"/>
            <a:r>
              <a:rPr sz="1600" b="1" i="0">
                <a:solidFill>
                  <a:srgbClr val="C94C4C"/>
                </a:solidFill>
                <a:latin typeface="Arial"/>
              </a:rPr>
              <a:t>L</a:t>
            </a:r>
          </a:p>
        </p:txBody>
      </p:sp>
      <p:sp>
        <p:nvSpPr>
          <p:cNvPr id="21" name="TextBox 20"/>
          <p:cNvSpPr txBox="1"/>
          <p:nvPr/>
        </p:nvSpPr>
        <p:spPr>
          <a:xfrm>
            <a:off x="685800" y="4526280"/>
            <a:ext cx="10789920" cy="1097280"/>
          </a:xfrm>
          <a:prstGeom prst="rect">
            <a:avLst/>
          </a:prstGeom>
          <a:noFill/>
        </p:spPr>
        <p:txBody>
          <a:bodyPr wrap="square" lIns="45720" rIns="45720" tIns="27432" bIns="27432" anchor="t">
            <a:spAutoFit/>
          </a:bodyPr>
          <a:lstStyle/>
          <a:p>
            <a:pPr algn="l">
              <a:spcAft>
                <a:spcPts val="800"/>
              </a:spcAft>
            </a:pPr>
            <a:r>
              <a:rPr sz="1500" b="1" i="0">
                <a:solidFill>
                  <a:srgbClr val="17212B"/>
                </a:solidFill>
                <a:latin typeface="Arial"/>
              </a:rPr>
              <a:t>Comprobación: </a:t>
            </a:r>
            <a:r>
              <a:rPr sz="1500" b="0" i="0">
                <a:solidFill>
                  <a:srgbClr val="17212B"/>
                </a:solidFill>
                <a:latin typeface="Arial"/>
              </a:rPr>
              <a:t>las 10.000 filas reconstruidas coinciden con el archivo original de F1.</a:t>
            </a:r>
          </a:p>
          <a:p>
            <a:pPr algn="l">
              <a:spcAft>
                <a:spcPts val="800"/>
              </a:spcAft>
            </a:pPr>
            <a:r>
              <a:rPr sz="1500" b="1" i="0">
                <a:solidFill>
                  <a:srgbClr val="17212B"/>
                </a:solidFill>
                <a:latin typeface="Arial"/>
              </a:rPr>
              <a:t>Aprendizaje: </a:t>
            </a:r>
            <a:r>
              <a:rPr sz="1500" b="0" i="0">
                <a:solidFill>
                  <a:srgbClr val="17212B"/>
                </a:solidFill>
                <a:latin typeface="Arial"/>
              </a:rPr>
              <a:t>los datos para el código no son los mismos que se usan para graficar.</a:t>
            </a:r>
          </a:p>
        </p:txBody>
      </p:sp>
      <p:sp>
        <p:nvSpPr>
          <p:cNvPr id="22" name="TextBox 21"/>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1450" cy="6858000"/>
          </a:xfrm>
          <a:prstGeom prst="rect">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297" y="342900"/>
            <a:ext cx="10570464" cy="493776"/>
          </a:xfrm>
          <a:prstGeom prst="rect">
            <a:avLst/>
          </a:prstGeom>
          <a:noFill/>
        </p:spPr>
        <p:txBody>
          <a:bodyPr wrap="square" lIns="45720" rIns="45720" tIns="27432" bIns="27432" anchor="t">
            <a:spAutoFit/>
          </a:bodyPr>
          <a:lstStyle/>
          <a:p>
            <a:pPr algn="l"/>
            <a:r>
              <a:rPr sz="2550" b="1" i="0">
                <a:solidFill>
                  <a:srgbClr val="17212B"/>
                </a:solidFill>
                <a:latin typeface="Arial"/>
              </a:rPr>
              <a:t>Lo que dejó el proceso</a:t>
            </a:r>
          </a:p>
        </p:txBody>
      </p:sp>
      <p:sp>
        <p:nvSpPr>
          <p:cNvPr id="4" name="TextBox 3"/>
          <p:cNvSpPr txBox="1"/>
          <p:nvPr/>
        </p:nvSpPr>
        <p:spPr>
          <a:xfrm>
            <a:off x="571500" y="838504"/>
            <a:ext cx="10287000" cy="283464"/>
          </a:xfrm>
          <a:prstGeom prst="rect">
            <a:avLst/>
          </a:prstGeom>
          <a:noFill/>
        </p:spPr>
        <p:txBody>
          <a:bodyPr wrap="square" lIns="45720" rIns="45720" tIns="27432" bIns="27432" anchor="t">
            <a:spAutoFit/>
          </a:bodyPr>
          <a:lstStyle/>
          <a:p>
            <a:pPr algn="l"/>
            <a:r>
              <a:rPr sz="1275" b="0" i="0">
                <a:solidFill>
                  <a:srgbClr val="5B6570"/>
                </a:solidFill>
                <a:latin typeface="Arial"/>
              </a:rPr>
              <a:t>Aprendizajes técnicos que van más allá del resultado final.</a:t>
            </a:r>
          </a:p>
        </p:txBody>
      </p:sp>
      <p:sp>
        <p:nvSpPr>
          <p:cNvPr id="5" name="Rounded Rectangle 4"/>
          <p:cNvSpPr/>
          <p:nvPr/>
        </p:nvSpPr>
        <p:spPr>
          <a:xfrm>
            <a:off x="621792" y="146304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166420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1</a:t>
            </a:r>
          </a:p>
        </p:txBody>
      </p:sp>
      <p:sp>
        <p:nvSpPr>
          <p:cNvPr id="7" name="TextBox 6"/>
          <p:cNvSpPr txBox="1"/>
          <p:nvPr/>
        </p:nvSpPr>
        <p:spPr>
          <a:xfrm>
            <a:off x="822960" y="214884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Dividir antes de transformar</a:t>
            </a:r>
          </a:p>
        </p:txBody>
      </p:sp>
      <p:sp>
        <p:nvSpPr>
          <p:cNvPr id="8" name="TextBox 7"/>
          <p:cNvSpPr txBox="1"/>
          <p:nvPr/>
        </p:nvSpPr>
        <p:spPr>
          <a:xfrm>
            <a:off x="822960" y="265176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Evita que la prueba influya en medianas, IQR o categorías.</a:t>
            </a:r>
          </a:p>
        </p:txBody>
      </p:sp>
      <p:sp>
        <p:nvSpPr>
          <p:cNvPr id="9" name="Rounded Rectangle 8"/>
          <p:cNvSpPr/>
          <p:nvPr/>
        </p:nvSpPr>
        <p:spPr>
          <a:xfrm>
            <a:off x="4325112" y="146304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26279" y="1664208"/>
            <a:ext cx="384048" cy="384048"/>
          </a:xfrm>
          <a:prstGeom prst="ellipse">
            <a:avLst/>
          </a:prstGeom>
          <a:solidFill>
            <a:srgbClr val="C94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2</a:t>
            </a:r>
          </a:p>
        </p:txBody>
      </p:sp>
      <p:sp>
        <p:nvSpPr>
          <p:cNvPr id="11" name="TextBox 10"/>
          <p:cNvSpPr txBox="1"/>
          <p:nvPr/>
        </p:nvSpPr>
        <p:spPr>
          <a:xfrm>
            <a:off x="4526279" y="214884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Un conjunto limpio también es un hallazgo</a:t>
            </a:r>
          </a:p>
        </p:txBody>
      </p:sp>
      <p:sp>
        <p:nvSpPr>
          <p:cNvPr id="12" name="TextBox 11"/>
          <p:cNvSpPr txBox="1"/>
          <p:nvPr/>
        </p:nvSpPr>
        <p:spPr>
          <a:xfrm>
            <a:off x="4526279" y="265176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Se documentó la revisión en lugar de inventar errores.</a:t>
            </a:r>
          </a:p>
        </p:txBody>
      </p:sp>
      <p:sp>
        <p:nvSpPr>
          <p:cNvPr id="13" name="Rounded Rectangle 12"/>
          <p:cNvSpPr/>
          <p:nvPr/>
        </p:nvSpPr>
        <p:spPr>
          <a:xfrm>
            <a:off x="8028431" y="146304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229600" y="166420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3</a:t>
            </a:r>
          </a:p>
        </p:txBody>
      </p:sp>
      <p:sp>
        <p:nvSpPr>
          <p:cNvPr id="15" name="TextBox 14"/>
          <p:cNvSpPr txBox="1"/>
          <p:nvPr/>
        </p:nvSpPr>
        <p:spPr>
          <a:xfrm>
            <a:off x="8229600" y="214884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La exactitud engaña con pocas fallas</a:t>
            </a:r>
          </a:p>
        </p:txBody>
      </p:sp>
      <p:sp>
        <p:nvSpPr>
          <p:cNvPr id="16" name="TextBox 15"/>
          <p:cNvSpPr txBox="1"/>
          <p:nvPr/>
        </p:nvSpPr>
        <p:spPr>
          <a:xfrm>
            <a:off x="8229600" y="265176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96,61 % sin detectar ninguna falla real.</a:t>
            </a:r>
          </a:p>
        </p:txBody>
      </p:sp>
      <p:sp>
        <p:nvSpPr>
          <p:cNvPr id="17" name="Rounded Rectangle 16"/>
          <p:cNvSpPr/>
          <p:nvPr/>
        </p:nvSpPr>
        <p:spPr>
          <a:xfrm>
            <a:off x="621792" y="356616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767328"/>
            <a:ext cx="384048" cy="384048"/>
          </a:xfrm>
          <a:prstGeom prst="ellipse">
            <a:avLst/>
          </a:prstGeom>
          <a:solidFill>
            <a:srgbClr val="C94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4</a:t>
            </a:r>
          </a:p>
        </p:txBody>
      </p:sp>
      <p:sp>
        <p:nvSpPr>
          <p:cNvPr id="19" name="TextBox 18"/>
          <p:cNvSpPr txBox="1"/>
          <p:nvPr/>
        </p:nvSpPr>
        <p:spPr>
          <a:xfrm>
            <a:off x="822960" y="425196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Probar la equivalencia</a:t>
            </a:r>
          </a:p>
        </p:txBody>
      </p:sp>
      <p:sp>
        <p:nvSpPr>
          <p:cNvPr id="20" name="TextBox 19"/>
          <p:cNvSpPr txBox="1"/>
          <p:nvPr/>
        </p:nvSpPr>
        <p:spPr>
          <a:xfrm>
            <a:off x="822960" y="475488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assert_frame_equal mostró que el rediseño no cambió los datos.</a:t>
            </a:r>
          </a:p>
        </p:txBody>
      </p:sp>
      <p:sp>
        <p:nvSpPr>
          <p:cNvPr id="21" name="Rounded Rectangle 20"/>
          <p:cNvSpPr/>
          <p:nvPr/>
        </p:nvSpPr>
        <p:spPr>
          <a:xfrm>
            <a:off x="4325112" y="356616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6279" y="3767328"/>
            <a:ext cx="384048" cy="384048"/>
          </a:xfrm>
          <a:prstGeom prst="ellipse">
            <a:avLst/>
          </a:prstGeom>
          <a:solidFill>
            <a:srgbClr val="5B8D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5</a:t>
            </a:r>
          </a:p>
        </p:txBody>
      </p:sp>
      <p:sp>
        <p:nvSpPr>
          <p:cNvPr id="23" name="TextBox 22"/>
          <p:cNvSpPr txBox="1"/>
          <p:nvPr/>
        </p:nvSpPr>
        <p:spPr>
          <a:xfrm>
            <a:off x="4526279" y="425196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Lo más rápido no siempre conviene</a:t>
            </a:r>
          </a:p>
        </p:txBody>
      </p:sp>
      <p:sp>
        <p:nvSpPr>
          <p:cNvPr id="24" name="TextBox 23"/>
          <p:cNvSpPr txBox="1"/>
          <p:nvPr/>
        </p:nvSpPr>
        <p:spPr>
          <a:xfrm>
            <a:off x="4526279" y="475488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La POO tardó más, pero se mantiene y extiende mejor.</a:t>
            </a:r>
          </a:p>
        </p:txBody>
      </p:sp>
      <p:sp>
        <p:nvSpPr>
          <p:cNvPr id="25" name="Rounded Rectangle 24"/>
          <p:cNvSpPr/>
          <p:nvPr/>
        </p:nvSpPr>
        <p:spPr>
          <a:xfrm>
            <a:off x="8028431" y="3566160"/>
            <a:ext cx="3429000" cy="1828800"/>
          </a:xfrm>
          <a:prstGeom prst="roundRect">
            <a:avLst>
              <a:gd name="adj" fmla="val 8000"/>
            </a:avLst>
          </a:prstGeom>
          <a:solidFill>
            <a:srgbClr val="F5F7F8"/>
          </a:solidFill>
          <a:ln w="9525">
            <a:solidFill>
              <a:srgbClr val="D7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29600" y="3767328"/>
            <a:ext cx="384048" cy="384048"/>
          </a:xfrm>
          <a:prstGeom prst="ellipse">
            <a:avLst/>
          </a:prstGeom>
          <a:solidFill>
            <a:srgbClr val="C94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400" b="1" i="0">
                <a:solidFill>
                  <a:srgbClr val="FFFFFF"/>
                </a:solidFill>
                <a:latin typeface="Arial"/>
              </a:rPr>
              <a:t>6</a:t>
            </a:r>
          </a:p>
        </p:txBody>
      </p:sp>
      <p:sp>
        <p:nvSpPr>
          <p:cNvPr id="27" name="TextBox 26"/>
          <p:cNvSpPr txBox="1"/>
          <p:nvPr/>
        </p:nvSpPr>
        <p:spPr>
          <a:xfrm>
            <a:off x="8229600" y="4251960"/>
            <a:ext cx="3026664" cy="502920"/>
          </a:xfrm>
          <a:prstGeom prst="rect">
            <a:avLst/>
          </a:prstGeom>
          <a:noFill/>
        </p:spPr>
        <p:txBody>
          <a:bodyPr wrap="square" lIns="45720" rIns="45720" tIns="27432" bIns="27432" anchor="t">
            <a:spAutoFit/>
          </a:bodyPr>
          <a:lstStyle/>
          <a:p>
            <a:pPr algn="l"/>
            <a:r>
              <a:rPr sz="1450" b="1" i="0">
                <a:solidFill>
                  <a:srgbClr val="17212B"/>
                </a:solidFill>
                <a:latin typeface="Arial"/>
              </a:rPr>
              <a:t>Interpretar exige unidades reales</a:t>
            </a:r>
          </a:p>
        </p:txBody>
      </p:sp>
      <p:sp>
        <p:nvSpPr>
          <p:cNvPr id="28" name="TextBox 27"/>
          <p:cNvSpPr txBox="1"/>
          <p:nvPr/>
        </p:nvSpPr>
        <p:spPr>
          <a:xfrm>
            <a:off x="8229600" y="4754880"/>
            <a:ext cx="3026664" cy="594360"/>
          </a:xfrm>
          <a:prstGeom prst="rect">
            <a:avLst/>
          </a:prstGeom>
          <a:noFill/>
        </p:spPr>
        <p:txBody>
          <a:bodyPr wrap="square" lIns="45720" rIns="45720" tIns="27432" bIns="27432" anchor="t">
            <a:spAutoFit/>
          </a:bodyPr>
          <a:lstStyle/>
          <a:p>
            <a:pPr algn="l"/>
            <a:r>
              <a:rPr sz="1250" b="0" i="0">
                <a:solidFill>
                  <a:srgbClr val="5B6570"/>
                </a:solidFill>
                <a:latin typeface="Arial"/>
              </a:rPr>
              <a:t>Los gráficos solo se entienden con rpm, Nm y minutos.</a:t>
            </a:r>
          </a:p>
        </p:txBody>
      </p:sp>
      <p:sp>
        <p:nvSpPr>
          <p:cNvPr id="29" name="TextBox 28"/>
          <p:cNvSpPr txBox="1"/>
          <p:nvPr/>
        </p:nvSpPr>
        <p:spPr>
          <a:xfrm>
            <a:off x="11334902" y="6305702"/>
            <a:ext cx="400050" cy="228600"/>
          </a:xfrm>
          <a:prstGeom prst="rect">
            <a:avLst/>
          </a:prstGeom>
          <a:noFill/>
        </p:spPr>
        <p:txBody>
          <a:bodyPr wrap="square" lIns="45720" rIns="45720" tIns="27432" bIns="27432" anchor="t">
            <a:spAutoFit/>
          </a:bodyPr>
          <a:lstStyle/>
          <a:p>
            <a:pPr algn="r"/>
            <a:r>
              <a:rPr sz="1050" b="0" i="0">
                <a:solidFill>
                  <a:srgbClr val="5B6570"/>
                </a:solidFill>
                <a:latin typeface="Arial"/>
              </a:rPr>
              <a:t>12</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2026-10-04T23:00:41.1990000Z</dcterms:created>
  <dcterms:modified xsi:type="dcterms:W3CDTF">2026-10-04T23:00:41.1990000Z</dcterms:modified>
</coreProperties>
</file>